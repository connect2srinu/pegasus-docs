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010755fdded41aa" /><Relationship Type="http://schemas.openxmlformats.org/officeDocument/2006/relationships/extended-properties" Target="/docProps/app.xml" Id="Rb4a201fd7cf84a0a" /><Relationship Type="http://schemas.openxmlformats.org/officeDocument/2006/relationships/officeDocument" Target="/ppt/presentation.xml" Id="R2a532110699c4072" /></Relationships>
</file>

<file path=ppt/presentation.xml><?xml version="1.0" encoding="utf-8"?>
<p:presentation xmlns:p="http://schemas.openxmlformats.org/presentationml/2006/main">
  <p:sldMasterIdLst>
    <p:sldMasterId xmlns:r="http://schemas.openxmlformats.org/officeDocument/2006/relationships" id="2147483648" r:id="R3669cdcc4df74ddd"/>
  </p:sldMasterIdLst>
  <p:notesMasterIdLst>
    <p:notesMasterId xmlns:r="http://schemas.openxmlformats.org/officeDocument/2006/relationships" r:id="R064a436bfa134e5f"/>
  </p:notesMasterIdLst>
  <p:sldIdLst>
    <p:sldId xmlns:r="http://schemas.openxmlformats.org/officeDocument/2006/relationships" id="256" r:id="R002638c3b5784392"/>
    <p:sldId xmlns:r="http://schemas.openxmlformats.org/officeDocument/2006/relationships" id="257" r:id="R5d6eabe6d1664a4c"/>
    <p:sldId xmlns:r="http://schemas.openxmlformats.org/officeDocument/2006/relationships" id="258" r:id="Rff6dfe29f8be44d0"/>
    <p:sldId xmlns:r="http://schemas.openxmlformats.org/officeDocument/2006/relationships" id="259" r:id="R8200a5b71d2d4dd9"/>
    <p:sldId xmlns:r="http://schemas.openxmlformats.org/officeDocument/2006/relationships" id="260" r:id="Re413fb14b7f54dcb"/>
    <p:sldId xmlns:r="http://schemas.openxmlformats.org/officeDocument/2006/relationships" id="261" r:id="R39a10f5756db4792"/>
    <p:sldId xmlns:r="http://schemas.openxmlformats.org/officeDocument/2006/relationships" id="262" r:id="Rd356fefe78894aaa"/>
    <p:sldId xmlns:r="http://schemas.openxmlformats.org/officeDocument/2006/relationships" id="263" r:id="R09b0a955e0954714"/>
    <p:sldId xmlns:r="http://schemas.openxmlformats.org/officeDocument/2006/relationships" id="264" r:id="R86575d7396d74324"/>
    <p:sldId xmlns:r="http://schemas.openxmlformats.org/officeDocument/2006/relationships" id="265" r:id="R22f86cc5fe1a48a0"/>
    <p:sldId xmlns:r="http://schemas.openxmlformats.org/officeDocument/2006/relationships" id="266" r:id="Rb172ba374ea9400d"/>
    <p:sldId xmlns:r="http://schemas.openxmlformats.org/officeDocument/2006/relationships" id="267" r:id="R804b44352b5c4805"/>
    <p:sldId xmlns:r="http://schemas.openxmlformats.org/officeDocument/2006/relationships" id="268" r:id="Re1336faa30294fb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37121d24c14943" /><Relationship Type="http://schemas.openxmlformats.org/officeDocument/2006/relationships/slideMaster" Target="/ppt/slideMasters/slideMaster1.xml" Id="R3669cdcc4df74ddd" /><Relationship Type="http://schemas.openxmlformats.org/officeDocument/2006/relationships/notesMaster" Target="/ppt/notesMasters/notesMaster1.xml" Id="R064a436bfa134e5f" /><Relationship Type="http://schemas.openxmlformats.org/officeDocument/2006/relationships/presProps" Target="/ppt/presProps.xml" Id="R46d4d26b017d4707" /><Relationship Type="http://schemas.openxmlformats.org/officeDocument/2006/relationships/tableStyles" Target="/ppt/tableStyles.xml" Id="R4a53451c6af24613" /><Relationship Type="http://schemas.openxmlformats.org/officeDocument/2006/relationships/slide" Target="/ppt/slides/slide1.xml" Id="R002638c3b5784392" /><Relationship Type="http://schemas.openxmlformats.org/officeDocument/2006/relationships/slide" Target="/ppt/slides/slide2.xml" Id="R5d6eabe6d1664a4c" /><Relationship Type="http://schemas.openxmlformats.org/officeDocument/2006/relationships/slide" Target="/ppt/slides/slide3.xml" Id="Rff6dfe29f8be44d0" /><Relationship Type="http://schemas.openxmlformats.org/officeDocument/2006/relationships/slide" Target="/ppt/slides/slide4.xml" Id="R8200a5b71d2d4dd9" /><Relationship Type="http://schemas.openxmlformats.org/officeDocument/2006/relationships/slide" Target="/ppt/slides/slide5.xml" Id="Re413fb14b7f54dcb" /><Relationship Type="http://schemas.openxmlformats.org/officeDocument/2006/relationships/slide" Target="/ppt/slides/slide6.xml" Id="R39a10f5756db4792" /><Relationship Type="http://schemas.openxmlformats.org/officeDocument/2006/relationships/slide" Target="/ppt/slides/slide7.xml" Id="Rd356fefe78894aaa" /><Relationship Type="http://schemas.openxmlformats.org/officeDocument/2006/relationships/slide" Target="/ppt/slides/slide8.xml" Id="R09b0a955e0954714" /><Relationship Type="http://schemas.openxmlformats.org/officeDocument/2006/relationships/slide" Target="/ppt/slides/slide9.xml" Id="R86575d7396d74324" /><Relationship Type="http://schemas.openxmlformats.org/officeDocument/2006/relationships/slide" Target="/ppt/slides/slide10.xml" Id="R22f86cc5fe1a48a0" /><Relationship Type="http://schemas.openxmlformats.org/officeDocument/2006/relationships/slide" Target="/ppt/slides/slide11.xml" Id="Rb172ba374ea9400d" /><Relationship Type="http://schemas.openxmlformats.org/officeDocument/2006/relationships/slide" Target="/ppt/slides/slide12.xml" Id="R804b44352b5c4805" /><Relationship Type="http://schemas.openxmlformats.org/officeDocument/2006/relationships/slide" Target="/ppt/slides/slide13.xml" Id="Re1336faa30294f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206f3f5d0348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870832a2cf4bab" /><Relationship Type="http://schemas.openxmlformats.org/officeDocument/2006/relationships/notesMaster" Target="/ppt/notesMasters/notesMaster1.xml" Id="R9ad94b3b33384a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77446fcf6c4abe" /><Relationship Type="http://schemas.openxmlformats.org/officeDocument/2006/relationships/notesMaster" Target="/ppt/notesMasters/notesMaster1.xml" Id="R6d47438c788841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b8257a98f44c3a" /><Relationship Type="http://schemas.openxmlformats.org/officeDocument/2006/relationships/notesMaster" Target="/ppt/notesMasters/notesMaster1.xml" Id="Re3dc6e308f7743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b51816633a41fa" /><Relationship Type="http://schemas.openxmlformats.org/officeDocument/2006/relationships/notesMaster" Target="/ppt/notesMasters/notesMaster1.xml" Id="Rfda262d06d934d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454cd38c9dc43ab" /><Relationship Type="http://schemas.openxmlformats.org/officeDocument/2006/relationships/notesMaster" Target="/ppt/notesMasters/notesMaster1.xml" Id="R95d4cf450f3340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5f9fe9aa164a20" /><Relationship Type="http://schemas.openxmlformats.org/officeDocument/2006/relationships/notesMaster" Target="/ppt/notesMasters/notesMaster1.xml" Id="R025ef0d17404431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3064b101b9644d0" /><Relationship Type="http://schemas.openxmlformats.org/officeDocument/2006/relationships/notesMaster" Target="/ppt/notesMasters/notesMaster1.xml" Id="R7304ada400b143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9ee3bc7a2f14027" /><Relationship Type="http://schemas.openxmlformats.org/officeDocument/2006/relationships/notesMaster" Target="/ppt/notesMasters/notesMaster1.xml" Id="Rd2d7a8b4f0f048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c0a16cb55737464d" /><Relationship Type="http://schemas.openxmlformats.org/officeDocument/2006/relationships/notesMaster" Target="/ppt/notesMasters/notesMaster1.xml" Id="Reb5cbc97da3f40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57c94d7b78411e" /><Relationship Type="http://schemas.openxmlformats.org/officeDocument/2006/relationships/notesMaster" Target="/ppt/notesMasters/notesMaster1.xml" Id="R3a2dfdf537c34c0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1e3b3793b464952" /><Relationship Type="http://schemas.openxmlformats.org/officeDocument/2006/relationships/notesMaster" Target="/ppt/notesMasters/notesMaster1.xml" Id="Rca7acd381b9e40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eb29e10fd064958" /><Relationship Type="http://schemas.openxmlformats.org/officeDocument/2006/relationships/notesMaster" Target="/ppt/notesMasters/notesMaster1.xml" Id="Rd620551729c54e4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c77969154d34430" /><Relationship Type="http://schemas.openxmlformats.org/officeDocument/2006/relationships/notesMaster" Target="/ppt/notesMasters/notesMaster1.xml" Id="R592e6429edd240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Guardian AI provides a shared enterprise platform for agent development and operations. The Control Plane coordinates governance and lifecycle management across teams and AWS execution environments. Today we will walk through the operating model and an agent journey.</a:t>
            </a:r>
          </a:p>
          <a:p xmlns:a="http://schemas.openxmlformats.org/drawingml/2006/main">
            <a:r>
              <a:t/>
            </a:r>
          </a:p>
          <a:p xmlns:a="http://schemas.openxmlformats.org/drawingml/2006/main">
            <a:r>
              <a:t>Source: User-supplied Guardian presentation and application screenshots.</a:t>
            </a:r>
          </a:p>
          <a:p xmlns:a="http://schemas.openxmlformats.org/drawingml/2006/main">
            <a:r>
              <a:t>Delivery status is not independently verified. Present platform design as design, and roadmap capabilities as planned.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target as approximately two to three days for a standard agent deployment through the platform. This is a user-provided planning estimate, not a measured SLA. Timing depends on use-case readiness, integration work, access, evaluation and approvals. It does not promise that a new enterprise integration can be built in that period.</a:t>
            </a:r>
          </a:p>
          <a:p xmlns:a="http://schemas.openxmlformats.org/drawingml/2006/main">
            <a:r>
              <a:t/>
            </a:r>
          </a:p>
          <a:p xmlns:a="http://schemas.openxmlformats.org/drawingml/2006/main">
            <a:r>
              <a:t>Source: User-provided two-to-three-day estimate and supplied platform materials.</a:t>
            </a:r>
          </a:p>
          <a:p xmlns:a="http://schemas.openxmlformats.org/drawingml/2006/main">
            <a:r>
              <a:t>Delivery status is not independently verified. Present platform design as design, and roadmap capabilities as planned.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platform through people and responsibilities. The application groups the experience into organization governance, project delivery, and runtime. This model supports enterprise reuse while keeping ownership clear.</a:t>
            </a:r>
          </a:p>
          <a:p xmlns:a="http://schemas.openxmlformats.org/drawingml/2006/main">
            <a:r>
              <a:t/>
            </a:r>
          </a:p>
          <a:p xmlns:a="http://schemas.openxmlformats.org/drawingml/2006/main">
            <a:r>
              <a:t>Source: User-supplied Guardian presentation and application screenshots.</a:t>
            </a:r>
          </a:p>
          <a:p xmlns:a="http://schemas.openxmlformats.org/drawingml/2006/main">
            <a:r>
              <a:t>Delivery status is not independently verified. Present platform design as design, and roadmap capabilities as planned.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organization represents a business unit or team. It owns connected accounts, projects and the shared tool catalog. Projects are application or AI initiative workspaces. Tool grants establish which catalog tools project agents can use. This is the operating model described in the application.</a:t>
            </a:r>
          </a:p>
          <a:p xmlns:a="http://schemas.openxmlformats.org/drawingml/2006/main">
            <a:r>
              <a:t/>
            </a:r>
          </a:p>
          <a:p xmlns:a="http://schemas.openxmlformats.org/drawingml/2006/main">
            <a:r>
              <a:t>Source: User-supplied Guardian presentation and application screenshots.</a:t>
            </a:r>
          </a:p>
          <a:p xmlns:a="http://schemas.openxmlformats.org/drawingml/2006/main">
            <a:r>
              <a:t>Delivery status is not independently verified. Present platform design as design, and roadmap capabilities as planned.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discovered resources as candidate tools, not automatically approved tools. Organization review and project grants are distinct decisions. The app describes gateway target reuse and secret references as part of its design. Do not imply every possible AWS service is automatically discoverable.</a:t>
            </a:r>
          </a:p>
          <a:p xmlns:a="http://schemas.openxmlformats.org/drawingml/2006/main">
            <a:r>
              <a:t/>
            </a:r>
          </a:p>
          <a:p xmlns:a="http://schemas.openxmlformats.org/drawingml/2006/main">
            <a:r>
              <a:t>Source: User-supplied Guardian presentation and application screenshots.</a:t>
            </a:r>
          </a:p>
          <a:p xmlns:a="http://schemas.openxmlformats.org/drawingml/2006/main">
            <a:r>
              <a:t>Delivery status is not independently verified. Present platform design as design, and roadmap capabilities as planned.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intended lifecycle. The draft describes immutable versions and validation/evaluation gates. Confirm their implementation status before presenting them as enforced today. A version connects the submitted configuration to its review and deployment evidence.</a:t>
            </a:r>
          </a:p>
          <a:p xmlns:a="http://schemas.openxmlformats.org/drawingml/2006/main">
            <a:r>
              <a:t/>
            </a:r>
          </a:p>
          <a:p xmlns:a="http://schemas.openxmlformats.org/drawingml/2006/main">
            <a:r>
              <a:t>Source: User-supplied Guardian presentation and application screenshots.</a:t>
            </a:r>
          </a:p>
          <a:p xmlns:a="http://schemas.openxmlformats.org/drawingml/2006/main">
            <a:r>
              <a:t>Delivery status is not independently verified. Present platform design as design, and roadmap capabilities as planned.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control plane manages configuration and coordinates enterprise integrations. It integrates with enterprise identity rather than replacing it. The agent harness is application execution software, distinct from the service hosting it. This architecture separates governance administration from runtime execution. The arrow represents management requests, not a requirement for a synchronous control-plane call on every invocation. Runtime evidence returns to the operational view through integrations.</a:t>
            </a:r>
          </a:p>
          <a:p xmlns:a="http://schemas.openxmlformats.org/drawingml/2006/main">
            <a:r>
              <a:t/>
            </a:r>
          </a:p>
          <a:p xmlns:a="http://schemas.openxmlformats.org/drawingml/2006/main">
            <a:r>
              <a:t>Source: User-supplied Guardian presentation and application screenshots.</a:t>
            </a:r>
          </a:p>
          <a:p xmlns:a="http://schemas.openxmlformats.org/drawingml/2006/main">
            <a:r>
              <a:t>Delivery status is not independently verified. Present platform design as design, and roadmap capabilities as planned.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this slide as control objectives. The application specifies business-owner and platform-admin approval. Runtime tool authorization must be configured at the enforcement point. Claims such as fail-closed authorization or universal gateway routing require implementation evidence. Avoid claiming that API calls inherently lack security if they are not through this platform.</a:t>
            </a:r>
          </a:p>
          <a:p xmlns:a="http://schemas.openxmlformats.org/drawingml/2006/main">
            <a:r>
              <a:t/>
            </a:r>
          </a:p>
          <a:p xmlns:a="http://schemas.openxmlformats.org/drawingml/2006/main">
            <a:r>
              <a:t>Source: User-supplied Guardian presentation and application screenshots.</a:t>
            </a:r>
          </a:p>
          <a:p xmlns:a="http://schemas.openxmlformats.org/drawingml/2006/main">
            <a:r>
              <a:t>Delivery status is not independently verified. Present platform design as design, and roadmap capabilities as planned.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one prepared internal knowledge assistant example with an approved tool. Show the corresponding application pages during a live demonstration where available. The embedded image is a supplied application overview, not evidence of a completed deployment. Do not present invented run data. Explain organization, project, approval and runtime transitions as you navigate.</a:t>
            </a:r>
          </a:p>
          <a:p xmlns:a="http://schemas.openxmlformats.org/drawingml/2006/main">
            <a:r>
              <a:t/>
            </a:r>
          </a:p>
          <a:p xmlns:a="http://schemas.openxmlformats.org/drawingml/2006/main">
            <a:r>
              <a:t>Source: User-supplied Guardian presentation and application screenshots.</a:t>
            </a:r>
          </a:p>
          <a:p xmlns:a="http://schemas.openxmlformats.org/drawingml/2006/main">
            <a:r>
              <a:t>Delivery status is not independently verified. Present platform design as design, and roadmap capabilities as planned.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deployment metadata, runtime observability, and financial attribution. The draft proposes these capabilities but supplied screenshots do not show completed reports. Cost allocation requires agreed attribution rules. Show actual evidence if available and otherwise describe this as target reporting scope.</a:t>
            </a:r>
          </a:p>
          <a:p xmlns:a="http://schemas.openxmlformats.org/drawingml/2006/main">
            <a:r>
              <a:t/>
            </a:r>
          </a:p>
          <a:p xmlns:a="http://schemas.openxmlformats.org/drawingml/2006/main">
            <a:r>
              <a:t>Source: User-supplied Guardian presentation and application screenshots.</a:t>
            </a:r>
          </a:p>
          <a:p xmlns:a="http://schemas.openxmlformats.org/drawingml/2006/main">
            <a:r>
              <a:t>Delivery status is not independently verified. Present platform design as design, and roadmap capabilities as planned.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roadmap capabilities, not a claim of completed implementation. Lifecycle management continues after the first successful deployment. Explain promotion, operations and retirement at a high level without committing to dates or implementation details.</a:t>
            </a:r>
          </a:p>
          <a:p xmlns:a="http://schemas.openxmlformats.org/drawingml/2006/main">
            <a:r>
              <a:t/>
            </a:r>
          </a:p>
          <a:p xmlns:a="http://schemas.openxmlformats.org/drawingml/2006/main">
            <a:r>
              <a:t>Source: User-supplied Guardian presentation and application screenshots.</a:t>
            </a:r>
          </a:p>
          <a:p xmlns:a="http://schemas.openxmlformats.org/drawingml/2006/main">
            <a:r>
              <a:t>Delivery status is not independently verified. Present platform design as design, and roadmap capabilities as planned.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milestones come from the supplied phase-one plan. No milestone completion status or delivery date has been supplied, so this slide presents a plan rather than an achieved progress report. The two-to-three-day figure is a target for ready standard agent use cases, subject to access, dependencies and approvals. Establish a consistent measurement start and end point in the pilot.</a:t>
            </a:r>
          </a:p>
          <a:p xmlns:a="http://schemas.openxmlformats.org/drawingml/2006/main">
            <a:r>
              <a:t/>
            </a:r>
          </a:p>
          <a:p xmlns:a="http://schemas.openxmlformats.org/drawingml/2006/main">
            <a:r>
              <a:t>Source: User-supplied Guardian presentation and application screenshots.</a:t>
            </a:r>
          </a:p>
          <a:p xmlns:a="http://schemas.openxmlformats.org/drawingml/2006/main">
            <a:r>
              <a:t>Delivery status is not independently verified. Present platform design as design, and roadmap capabilities as planned.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inviting pilot use cases and feedback. Ask participants what would make onboarding easier and what evidence they need before production. Reinforce the platform goal of shared enterprise capabilities and a repeatable governed deployment path.</a:t>
            </a:r>
          </a:p>
          <a:p xmlns:a="http://schemas.openxmlformats.org/drawingml/2006/main">
            <a:r>
              <a:t/>
            </a:r>
          </a:p>
          <a:p xmlns:a="http://schemas.openxmlformats.org/drawingml/2006/main">
            <a:r>
              <a:t>Source: User-supplied Guardian presentation and application screenshots.</a:t>
            </a:r>
          </a:p>
          <a:p xmlns:a="http://schemas.openxmlformats.org/drawingml/2006/main">
            <a:r>
              <a:t>Delivery status is not independently verified. Present platform design as design, and roadmap capabilities as planned.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f46fcff9644d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7946674d3045f4" /><Relationship Type="http://schemas.openxmlformats.org/officeDocument/2006/relationships/slideLayout" Target="/ppt/slideLayouts/slideLayout1.xml" Id="R71a2dae10b774f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a2dae10b774f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7d56b3658e94fca" /><Relationship Type="http://schemas.openxmlformats.org/officeDocument/2006/relationships/image" Target="/ppt/media/image.png" Id="R433c866285f44c68" /><Relationship Type="http://schemas.openxmlformats.org/officeDocument/2006/relationships/notesSlide" Target="/ppt/notesSlides/notesSlide1.xml" Id="Rfa16ce1026574a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99ae1fb110d48b4" /><Relationship Type="http://schemas.openxmlformats.org/officeDocument/2006/relationships/notesSlide" Target="/ppt/notesSlides/notesSlide2.xml" Id="Rc440d231a08f48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951e2861b643d2" /><Relationship Type="http://schemas.openxmlformats.org/officeDocument/2006/relationships/notesSlide" Target="/ppt/notesSlides/notesSlide3.xml" Id="R3b214a6eb91e41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6231458fc28483d" /><Relationship Type="http://schemas.openxmlformats.org/officeDocument/2006/relationships/notesSlide" Target="/ppt/notesSlides/notesSlide4.xml" Id="R34e47967d7dc41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ee8cc64b3d431a" /><Relationship Type="http://schemas.openxmlformats.org/officeDocument/2006/relationships/notesSlide" Target="/ppt/notesSlides/notesSlide5.xml" Id="Reeb324a6e8dc42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def8b125b944bb4" /><Relationship Type="http://schemas.openxmlformats.org/officeDocument/2006/relationships/notesSlide" Target="/ppt/notesSlides/notesSlide6.xml" Id="R606522dbf12b4f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dec782c27744e14" /><Relationship Type="http://schemas.openxmlformats.org/officeDocument/2006/relationships/notesSlide" Target="/ppt/notesSlides/notesSlide7.xml" Id="R0ac99ab6dd7746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7a25b5f9e78498a" /><Relationship Type="http://schemas.openxmlformats.org/officeDocument/2006/relationships/notesSlide" Target="/ppt/notesSlides/notesSlide8.xml" Id="Re2a9cfa0cf6b43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a119e15b54349e5" /><Relationship Type="http://schemas.openxmlformats.org/officeDocument/2006/relationships/image" Target="/ppt/media/image2.png" Id="R3d92066355fa419a" /><Relationship Type="http://schemas.openxmlformats.org/officeDocument/2006/relationships/notesSlide" Target="/ppt/notesSlides/notesSlide9.xml" Id="Rf91ce2b0f074491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8f23acee4944dda" /><Relationship Type="http://schemas.openxmlformats.org/officeDocument/2006/relationships/notesSlide" Target="/ppt/notesSlides/notesSlide10.xml" Id="Rd8307bdedb2d4e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7bca7bdc4bd4971" /><Relationship Type="http://schemas.openxmlformats.org/officeDocument/2006/relationships/notesSlide" Target="/ppt/notesSlides/notesSlide11.xml" Id="R202b7dac1a8a464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1641bd29119407a" /><Relationship Type="http://schemas.openxmlformats.org/officeDocument/2006/relationships/notesSlide" Target="/ppt/notesSlides/notesSlide12.xml" Id="R0746dd7e92f2418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04a952e050f4402" /><Relationship Type="http://schemas.openxmlformats.org/officeDocument/2006/relationships/image" Target="/ppt/media/image3.png" Id="Re564dedd7d2442e0" /><Relationship Type="http://schemas.openxmlformats.org/officeDocument/2006/relationships/notesSlide" Target="/ppt/notesSlides/notesSlide13.xml" Id="R26f8ed40c36248b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0E095C-424C-441C-AED6-8DD6A0E8FC76}"/>
              </a:ext>
            </a:extLst>
          </p:cNvPr>
          <p:cNvSpPr>
            <a:spLocks xmlns:a="http://schemas.openxmlformats.org/drawingml/2006/main" noGrp="1"/>
          </p:cNvSpPr>
          <p:nvPr/>
        </p:nvSpPr>
        <p:spPr>
          <a:xfrm xmlns:a="http://schemas.openxmlformats.org/drawingml/2006/main">
            <a:off x="609600" y="63627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8343B"/>
                </a:solidFill>
                <a:latin typeface="Nimbus Sans"/>
                <a:ea typeface="Nimbus Sans"/>
                <a:cs typeface="Nimbus Sans"/>
              </a:defRPr>
            </a:pPr>
            <a:r>
              <a:rPr sz="1275" b="1">
                <a:solidFill>
                  <a:srgbClr val="28343B"/>
                </a:solidFill>
                <a:latin typeface="Nimbus Sans"/>
                <a:ea typeface="Nimbus Sans"/>
                <a:cs typeface="Nimbus Sans"/>
              </a:rPr>
              <a:t>Guardian AI</a:t>
            </a:r>
          </a:p>
        </p:txBody>
      </p:sp>
      <p:sp>
        <p:nvSpPr>
          <p:cNvPr id="2" name="">
            <a:extLst xmlns:a="http://schemas.openxmlformats.org/drawingml/2006/main">
              <a:ext uri="{FF2B5EF4-FFF2-40B4-BE49-F238E27FC236}">
                <a16:creationId xmlns:a16="http://schemas.microsoft.com/office/drawing/2014/main" id="{4BA60CF9-5A79-48EC-835F-0337A2374C40}"/>
              </a:ext>
            </a:extLst>
          </p:cNvPr>
          <p:cNvSpPr>
            <a:spLocks xmlns:a="http://schemas.openxmlformats.org/drawingml/2006/main" noGrp="1"/>
          </p:cNvSpPr>
          <p:nvPr/>
        </p:nvSpPr>
        <p:spPr>
          <a:xfrm xmlns:a="http://schemas.openxmlformats.org/drawingml/2006/main">
            <a:off x="11049000" y="63627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8343B"/>
                </a:solidFill>
                <a:latin typeface="Nimbus Sans"/>
                <a:ea typeface="Nimbus Sans"/>
                <a:cs typeface="Nimbus Sans"/>
              </a:defRPr>
            </a:pPr>
            <a:r>
              <a:rPr sz="1275" b="0">
                <a:solidFill>
                  <a:srgbClr val="28343B"/>
                </a:solidFill>
                <a:latin typeface="Nimbus Sans"/>
                <a:ea typeface="Nimbus Sans"/>
                <a:cs typeface="Nimbus Sans"/>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33c866285f44c68"/>
          <a:stretch xmlns:a="http://schemas.openxmlformats.org/drawingml/2006/main"/>
        </p:blipFill>
        <p:spPr>
          <a:xfrm xmlns:a="http://schemas.openxmlformats.org/drawingml/2006/main">
            <a:off x="609600" y="470943"/>
            <a:ext cx="2171700" cy="49638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D8328C1-E48D-4F4A-9B49-7174795C1C95}"/>
              </a:ext>
            </a:extLst>
          </p:cNvPr>
          <p:cNvSpPr>
            <a:spLocks xmlns:a="http://schemas.openxmlformats.org/drawingml/2006/main" noGrp="1"/>
          </p:cNvSpPr>
          <p:nvPr/>
        </p:nvSpPr>
        <p:spPr>
          <a:xfrm xmlns:a="http://schemas.openxmlformats.org/drawingml/2006/main">
            <a:off x="609600" y="2266950"/>
            <a:ext cx="10763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343B"/>
                </a:solidFill>
                <a:latin typeface="Nimbus Sans"/>
                <a:ea typeface="Nimbus Sans"/>
                <a:cs typeface="Nimbus Sans"/>
              </a:defRPr>
            </a:pPr>
            <a:r>
              <a:rPr sz="4950" b="1">
                <a:solidFill>
                  <a:srgbClr val="28343B"/>
                </a:solidFill>
                <a:latin typeface="Nimbus Sans"/>
                <a:ea typeface="Nimbus Sans"/>
                <a:cs typeface="Nimbus Sans"/>
              </a:rPr>
              <a:t>Guardian AI Control Plane</a:t>
            </a:r>
          </a:p>
        </p:txBody>
      </p:sp>
      <p:sp>
        <p:nvSpPr>
          <p:cNvPr id="5" name="">
            <a:extLst xmlns:a="http://schemas.openxmlformats.org/drawingml/2006/main">
              <a:ext uri="{FF2B5EF4-FFF2-40B4-BE49-F238E27FC236}">
                <a16:creationId xmlns:a16="http://schemas.microsoft.com/office/drawing/2014/main" id="{6E53D8E0-2761-48D5-9A1C-C7123FB2645C}"/>
              </a:ext>
            </a:extLst>
          </p:cNvPr>
          <p:cNvSpPr>
            <a:spLocks xmlns:a="http://schemas.openxmlformats.org/drawingml/2006/main" noGrp="1"/>
          </p:cNvSpPr>
          <p:nvPr/>
        </p:nvSpPr>
        <p:spPr>
          <a:xfrm xmlns:a="http://schemas.openxmlformats.org/drawingml/2006/main">
            <a:off x="609600" y="3886200"/>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28343B"/>
                </a:solidFill>
                <a:latin typeface="Nimbus Sans"/>
                <a:ea typeface="Nimbus Sans"/>
                <a:cs typeface="Nimbus Sans"/>
              </a:defRPr>
            </a:pPr>
            <a:r>
              <a:rPr sz="2850" b="0">
                <a:solidFill>
                  <a:srgbClr val="28343B"/>
                </a:solidFill>
                <a:latin typeface="Nimbus Sans"/>
                <a:ea typeface="Nimbus Sans"/>
                <a:cs typeface="Nimbus Sans"/>
              </a:rPr>
              <a:t>Enterprise AI Governance</a:t>
            </a:r>
          </a:p>
          <a:p xmlns:a="http://schemas.openxmlformats.org/drawingml/2006/main">
            <a:pPr>
              <a:defRPr sz="2850" b="0">
                <a:solidFill>
                  <a:srgbClr val="28343B"/>
                </a:solidFill>
                <a:latin typeface="Nimbus Sans"/>
                <a:ea typeface="Nimbus Sans"/>
                <a:cs typeface="Nimbus Sans"/>
              </a:defRPr>
            </a:pPr>
            <a:r>
              <a:rPr sz="2850" b="0">
                <a:solidFill>
                  <a:srgbClr val="28343B"/>
                </a:solidFill>
                <a:latin typeface="Nimbus Sans"/>
                <a:ea typeface="Nimbus Sans"/>
                <a:cs typeface="Nimbus Sans"/>
              </a:rPr>
              <a:t>and Lifecycle Management</a:t>
            </a:r>
          </a:p>
        </p:txBody>
      </p:sp>
      <p:sp>
        <p:nvSpPr>
          <p:cNvPr id="6" name="">
            <a:extLst xmlns:a="http://schemas.openxmlformats.org/drawingml/2006/main">
              <a:ext uri="{FF2B5EF4-FFF2-40B4-BE49-F238E27FC236}">
                <a16:creationId xmlns:a16="http://schemas.microsoft.com/office/drawing/2014/main" id="{5F9FC89D-5BB5-478E-AA8C-9E6D6148146D}"/>
              </a:ext>
            </a:extLst>
          </p:cNvPr>
          <p:cNvSpPr>
            <a:spLocks xmlns:a="http://schemas.openxmlformats.org/drawingml/2006/main" noGrp="1"/>
          </p:cNvSpPr>
          <p:nvPr/>
        </p:nvSpPr>
        <p:spPr>
          <a:xfrm xmlns:a="http://schemas.openxmlformats.org/drawingml/2006/main">
            <a:off x="609600" y="541020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35343"/>
                </a:solidFill>
                <a:latin typeface="Nimbus Sans"/>
                <a:ea typeface="Nimbus Sans"/>
                <a:cs typeface="Nimbus Sans"/>
              </a:defRPr>
            </a:pPr>
            <a:r>
              <a:rPr sz="1950" b="0">
                <a:solidFill>
                  <a:srgbClr val="B35343"/>
                </a:solidFill>
                <a:latin typeface="Nimbus Sans"/>
                <a:ea typeface="Nimbus Sans"/>
                <a:cs typeface="Nimbus Sans"/>
              </a:rPr>
              <a:t>Convergence 2026</a:t>
            </a:r>
          </a:p>
        </p:txBody>
      </p:sp>
    </p:spTree>
    <p:extLst>
      <p:ext uri="{BB962C8B-B14F-4D97-AF65-F5344CB8AC3E}">
        <p14:creationId xmlns:p14="http://schemas.microsoft.com/office/powerpoint/2010/main" val="158668955"/>
      </p:ext>
    </p:extLst>
  </p:cSld>
</p:sld>
</file>

<file path=ppt/slides/slide2.xml><?xml version="1.0" encoding="utf-8"?>
<p:sld xmlns:p="http://schemas.openxmlformats.org/presentationml/2006/main">
  <p:cSld>
    <p:bg>
      <p:bgPr>
        <a:solidFill xmlns:a="http://schemas.openxmlformats.org/drawingml/2006/main">
          <a:srgbClr val="28343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FD01AAF-4DC7-4E15-9F06-9D6FDB8BFB55}"/>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Nimbus Sans"/>
                <a:ea typeface="Nimbus Sans"/>
                <a:cs typeface="Nimbus Sans"/>
              </a:defRPr>
            </a:pPr>
            <a:r>
              <a:rPr sz="3150" b="1">
                <a:solidFill>
                  <a:srgbClr val="FFFFFF"/>
                </a:solidFill>
                <a:latin typeface="Nimbus Sans"/>
                <a:ea typeface="Nimbus Sans"/>
                <a:cs typeface="Nimbus Sans"/>
              </a:rPr>
              <a:t>The enterprise AI challenge</a:t>
            </a:r>
          </a:p>
        </p:txBody>
      </p:sp>
      <p:sp>
        <p:nvSpPr>
          <p:cNvPr id="2" name="">
            <a:extLst xmlns:a="http://schemas.openxmlformats.org/drawingml/2006/main">
              <a:ext uri="{FF2B5EF4-FFF2-40B4-BE49-F238E27FC236}">
                <a16:creationId xmlns:a16="http://schemas.microsoft.com/office/drawing/2014/main" id="{40BDEDAB-DA2B-4E05-853B-B7D5E8F73C28}"/>
              </a:ext>
            </a:extLst>
          </p:cNvPr>
          <p:cNvSpPr>
            <a:spLocks xmlns:a="http://schemas.openxmlformats.org/drawingml/2006/main" noGrp="1"/>
          </p:cNvSpPr>
          <p:nvPr/>
        </p:nvSpPr>
        <p:spPr>
          <a:xfrm xmlns:a="http://schemas.openxmlformats.org/drawingml/2006/main">
            <a:off x="609600" y="11811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E67B69"/>
                </a:solidFill>
                <a:latin typeface="Nimbus Sans"/>
                <a:ea typeface="Nimbus Sans"/>
                <a:cs typeface="Nimbus Sans"/>
              </a:defRPr>
            </a:pPr>
            <a:r>
              <a:rPr sz="1725" b="0">
                <a:solidFill>
                  <a:srgbClr val="E67B69"/>
                </a:solidFill>
                <a:latin typeface="Nimbus Sans"/>
                <a:ea typeface="Nimbus Sans"/>
                <a:cs typeface="Nimbus Sans"/>
              </a:rPr>
              <a:t>A repeatable path from an agent use case to a governed deployment</a:t>
            </a:r>
          </a:p>
        </p:txBody>
      </p:sp>
      <p:sp>
        <p:nvSpPr>
          <p:cNvPr id="3" name="">
            <a:extLst xmlns:a="http://schemas.openxmlformats.org/drawingml/2006/main">
              <a:ext uri="{FF2B5EF4-FFF2-40B4-BE49-F238E27FC236}">
                <a16:creationId xmlns:a16="http://schemas.microsoft.com/office/drawing/2014/main" id="{473F9856-8301-4238-BAFE-0B52E0770E0F}"/>
              </a:ext>
            </a:extLst>
          </p:cNvPr>
          <p:cNvSpPr>
            <a:spLocks xmlns:a="http://schemas.openxmlformats.org/drawingml/2006/main" noGrp="1"/>
          </p:cNvSpPr>
          <p:nvPr/>
        </p:nvSpPr>
        <p:spPr>
          <a:xfrm xmlns:a="http://schemas.openxmlformats.org/drawingml/2006/main">
            <a:off x="609600" y="63627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Guardian AI</a:t>
            </a:r>
          </a:p>
        </p:txBody>
      </p:sp>
      <p:sp>
        <p:nvSpPr>
          <p:cNvPr id="4" name="">
            <a:extLst xmlns:a="http://schemas.openxmlformats.org/drawingml/2006/main">
              <a:ext uri="{FF2B5EF4-FFF2-40B4-BE49-F238E27FC236}">
                <a16:creationId xmlns:a16="http://schemas.microsoft.com/office/drawing/2014/main" id="{080C57E6-7226-40F8-BCED-C8E27BE67244}"/>
              </a:ext>
            </a:extLst>
          </p:cNvPr>
          <p:cNvSpPr>
            <a:spLocks xmlns:a="http://schemas.openxmlformats.org/drawingml/2006/main" noGrp="1"/>
          </p:cNvSpPr>
          <p:nvPr/>
        </p:nvSpPr>
        <p:spPr>
          <a:xfrm xmlns:a="http://schemas.openxmlformats.org/drawingml/2006/main">
            <a:off x="11049000" y="63627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CD5DA"/>
                </a:solidFill>
                <a:latin typeface="Nimbus Sans"/>
                <a:ea typeface="Nimbus Sans"/>
                <a:cs typeface="Nimbus Sans"/>
              </a:defRPr>
            </a:pPr>
            <a:r>
              <a:rPr sz="1275" b="0">
                <a:solidFill>
                  <a:srgbClr val="CCD5DA"/>
                </a:solidFill>
                <a:latin typeface="Nimbus Sans"/>
                <a:ea typeface="Nimbus Sans"/>
                <a:cs typeface="Nimbus Sans"/>
              </a:rPr>
              <a:t>02</a:t>
            </a:r>
          </a:p>
        </p:txBody>
      </p:sp>
      <p:sp>
        <p:nvSpPr>
          <p:cNvPr id="5" name="">
            <a:extLst xmlns:a="http://schemas.openxmlformats.org/drawingml/2006/main">
              <a:ext uri="{FF2B5EF4-FFF2-40B4-BE49-F238E27FC236}">
                <a16:creationId xmlns:a16="http://schemas.microsoft.com/office/drawing/2014/main" id="{D16BED8D-CB84-4D09-9D2C-82E163A9D071}"/>
              </a:ext>
            </a:extLst>
          </p:cNvPr>
          <p:cNvSpPr>
            <a:spLocks xmlns:a="http://schemas.openxmlformats.org/drawingml/2006/main" noGrp="1"/>
          </p:cNvSpPr>
          <p:nvPr/>
        </p:nvSpPr>
        <p:spPr>
          <a:xfrm xmlns:a="http://schemas.openxmlformats.org/drawingml/2006/main">
            <a:off x="609600" y="2019300"/>
            <a:ext cx="561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73BCC8"/>
                </a:solidFill>
                <a:latin typeface="Nimbus Sans"/>
                <a:ea typeface="Nimbus Sans"/>
                <a:cs typeface="Nimbus Sans"/>
              </a:defRPr>
            </a:pPr>
            <a:r>
              <a:rPr sz="2325" b="1">
                <a:solidFill>
                  <a:srgbClr val="73BCC8"/>
                </a:solidFill>
                <a:latin typeface="Nimbus Sans"/>
                <a:ea typeface="Nimbus Sans"/>
                <a:cs typeface="Nimbus Sans"/>
              </a:rPr>
              <a:t>Teams need</a:t>
            </a:r>
          </a:p>
        </p:txBody>
      </p:sp>
      <p:sp>
        <p:nvSpPr>
          <p:cNvPr id="6" name="">
            <a:extLst xmlns:a="http://schemas.openxmlformats.org/drawingml/2006/main">
              <a:ext uri="{FF2B5EF4-FFF2-40B4-BE49-F238E27FC236}">
                <a16:creationId xmlns:a16="http://schemas.microsoft.com/office/drawing/2014/main" id="{49F77A31-35B6-43FC-8923-47573AD97F34}"/>
              </a:ext>
            </a:extLst>
          </p:cNvPr>
          <p:cNvSpPr>
            <a:spLocks xmlns:a="http://schemas.openxmlformats.org/drawingml/2006/main" noGrp="1"/>
          </p:cNvSpPr>
          <p:nvPr/>
        </p:nvSpPr>
        <p:spPr>
          <a:xfrm xmlns:a="http://schemas.openxmlformats.org/drawingml/2006/main">
            <a:off x="609600" y="2705100"/>
            <a:ext cx="595312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Approved enterprise tools</a:t>
            </a:r>
          </a:p>
          <a:p xmlns:a="http://schemas.openxmlformats.org/drawingml/2006/main">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Clear ownership and access</a:t>
            </a:r>
          </a:p>
          <a:p xmlns:a="http://schemas.openxmlformats.org/drawingml/2006/main">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A consistent deployment workflow</a:t>
            </a:r>
          </a:p>
          <a:p xmlns:a="http://schemas.openxmlformats.org/drawingml/2006/main">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Visibility after deployment</a:t>
            </a:r>
          </a:p>
        </p:txBody>
      </p:sp>
      <p:sp>
        <p:nvSpPr>
          <p:cNvPr id="7" name="">
            <a:extLst xmlns:a="http://schemas.openxmlformats.org/drawingml/2006/main">
              <a:ext uri="{FF2B5EF4-FFF2-40B4-BE49-F238E27FC236}">
                <a16:creationId xmlns:a16="http://schemas.microsoft.com/office/drawing/2014/main" id="{3373EE50-89D7-4317-8274-3CCAAAEDDA48}"/>
              </a:ext>
            </a:extLst>
          </p:cNvPr>
          <p:cNvSpPr>
            <a:spLocks xmlns:a="http://schemas.openxmlformats.org/drawingml/2006/main" noGrp="1"/>
          </p:cNvSpPr>
          <p:nvPr/>
        </p:nvSpPr>
        <p:spPr>
          <a:xfrm xmlns:a="http://schemas.openxmlformats.org/drawingml/2006/main">
            <a:off x="7524750" y="2162175"/>
            <a:ext cx="4000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FFFFF"/>
                </a:solidFill>
                <a:latin typeface="Nimbus Sans"/>
                <a:ea typeface="Nimbus Sans"/>
                <a:cs typeface="Nimbus Sans"/>
              </a:defRPr>
            </a:pPr>
            <a:r>
              <a:rPr sz="5700" b="1">
                <a:solidFill>
                  <a:srgbClr val="FFFFFF"/>
                </a:solidFill>
                <a:latin typeface="Nimbus Sans"/>
                <a:ea typeface="Nimbus Sans"/>
                <a:cs typeface="Nimbus Sans"/>
              </a:rPr>
              <a:t>2–3 days</a:t>
            </a:r>
          </a:p>
        </p:txBody>
      </p:sp>
      <p:sp>
        <p:nvSpPr>
          <p:cNvPr id="8" name="">
            <a:extLst xmlns:a="http://schemas.openxmlformats.org/drawingml/2006/main">
              <a:ext uri="{FF2B5EF4-FFF2-40B4-BE49-F238E27FC236}">
                <a16:creationId xmlns:a16="http://schemas.microsoft.com/office/drawing/2014/main" id="{073E2C3C-DFA2-4E4C-83F9-05C73D4D8E4A}"/>
              </a:ext>
            </a:extLst>
          </p:cNvPr>
          <p:cNvSpPr>
            <a:spLocks xmlns:a="http://schemas.openxmlformats.org/drawingml/2006/main" noGrp="1"/>
          </p:cNvSpPr>
          <p:nvPr/>
        </p:nvSpPr>
        <p:spPr>
          <a:xfrm xmlns:a="http://schemas.openxmlformats.org/drawingml/2006/main">
            <a:off x="7524750" y="3276600"/>
            <a:ext cx="3810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73BCC8"/>
                </a:solidFill>
                <a:latin typeface="Nimbus Sans"/>
                <a:ea typeface="Nimbus Sans"/>
                <a:cs typeface="Nimbus Sans"/>
              </a:defRPr>
            </a:pPr>
            <a:r>
              <a:rPr sz="2250" b="1">
                <a:solidFill>
                  <a:srgbClr val="73BCC8"/>
                </a:solidFill>
                <a:latin typeface="Nimbus Sans"/>
                <a:ea typeface="Nimbus Sans"/>
                <a:cs typeface="Nimbus Sans"/>
              </a:rPr>
              <a:t>Target time to agent deployment</a:t>
            </a:r>
          </a:p>
        </p:txBody>
      </p:sp>
      <p:sp>
        <p:nvSpPr>
          <p:cNvPr id="9" name="">
            <a:extLst xmlns:a="http://schemas.openxmlformats.org/drawingml/2006/main">
              <a:ext uri="{FF2B5EF4-FFF2-40B4-BE49-F238E27FC236}">
                <a16:creationId xmlns:a16="http://schemas.microsoft.com/office/drawing/2014/main" id="{B634502A-3B11-4C80-8195-3A3E0C4BFEFD}"/>
              </a:ext>
            </a:extLst>
          </p:cNvPr>
          <p:cNvSpPr>
            <a:spLocks xmlns:a="http://schemas.openxmlformats.org/drawingml/2006/main" noGrp="1"/>
          </p:cNvSpPr>
          <p:nvPr/>
        </p:nvSpPr>
        <p:spPr>
          <a:xfrm xmlns:a="http://schemas.openxmlformats.org/drawingml/2006/main">
            <a:off x="7524750" y="4343400"/>
            <a:ext cx="381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CCD5DA"/>
                </a:solidFill>
                <a:latin typeface="Nimbus Sans"/>
                <a:ea typeface="Nimbus Sans"/>
                <a:cs typeface="Nimbus Sans"/>
              </a:defRPr>
            </a:pPr>
            <a:r>
              <a:rPr sz="1800" b="0">
                <a:solidFill>
                  <a:srgbClr val="CCD5DA"/>
                </a:solidFill>
                <a:latin typeface="Nimbus Sans"/>
                <a:ea typeface="Nimbus Sans"/>
                <a:cs typeface="Nimbus Sans"/>
              </a:rPr>
              <a:t>For a standard agent with ready access, dependencies, and timely approvals.</a:t>
            </a:r>
          </a:p>
        </p:txBody>
      </p:sp>
    </p:spTree>
    <p:extLst>
      <p:ext uri="{BB962C8B-B14F-4D97-AF65-F5344CB8AC3E}">
        <p14:creationId xmlns:p14="http://schemas.microsoft.com/office/powerpoint/2010/main" val="121532474"/>
      </p:ext>
    </p:extLst>
  </p:cSld>
</p:sld>
</file>

<file path=ppt/slides/slide3.xml><?xml version="1.0" encoding="utf-8"?>
<p:sld xmlns:p="http://schemas.openxmlformats.org/presentationml/2006/main">
  <p:cSld>
    <p:bg>
      <p:bgPr>
        <a:solidFill xmlns:a="http://schemas.openxmlformats.org/drawingml/2006/main">
          <a:srgbClr val="28343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59B7708-402A-4DC8-A409-C707CBA9CE16}"/>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Nimbus Sans"/>
                <a:ea typeface="Nimbus Sans"/>
                <a:cs typeface="Nimbus Sans"/>
              </a:defRPr>
            </a:pPr>
            <a:r>
              <a:rPr sz="3150" b="1">
                <a:solidFill>
                  <a:srgbClr val="FFFFFF"/>
                </a:solidFill>
                <a:latin typeface="Nimbus Sans"/>
                <a:ea typeface="Nimbus Sans"/>
                <a:cs typeface="Nimbus Sans"/>
              </a:rPr>
              <a:t>Guardian AI platform overview</a:t>
            </a:r>
          </a:p>
        </p:txBody>
      </p:sp>
      <p:sp>
        <p:nvSpPr>
          <p:cNvPr id="2" name="">
            <a:extLst xmlns:a="http://schemas.openxmlformats.org/drawingml/2006/main">
              <a:ext uri="{FF2B5EF4-FFF2-40B4-BE49-F238E27FC236}">
                <a16:creationId xmlns:a16="http://schemas.microsoft.com/office/drawing/2014/main" id="{657B39E8-7017-4998-B347-D7EF213CEB18}"/>
              </a:ext>
            </a:extLst>
          </p:cNvPr>
          <p:cNvSpPr>
            <a:spLocks xmlns:a="http://schemas.openxmlformats.org/drawingml/2006/main" noGrp="1"/>
          </p:cNvSpPr>
          <p:nvPr/>
        </p:nvSpPr>
        <p:spPr>
          <a:xfrm xmlns:a="http://schemas.openxmlformats.org/drawingml/2006/main">
            <a:off x="609600" y="11811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E67B69"/>
                </a:solidFill>
                <a:latin typeface="Nimbus Sans"/>
                <a:ea typeface="Nimbus Sans"/>
                <a:cs typeface="Nimbus Sans"/>
              </a:defRPr>
            </a:pPr>
            <a:r>
              <a:rPr sz="1725" b="0">
                <a:solidFill>
                  <a:srgbClr val="E67B69"/>
                </a:solidFill>
                <a:latin typeface="Nimbus Sans"/>
                <a:ea typeface="Nimbus Sans"/>
                <a:cs typeface="Nimbus Sans"/>
              </a:rPr>
              <a:t>One enterprise experience for shared resources, agent delivery, and operations</a:t>
            </a:r>
          </a:p>
        </p:txBody>
      </p:sp>
      <p:sp>
        <p:nvSpPr>
          <p:cNvPr id="3" name="">
            <a:extLst xmlns:a="http://schemas.openxmlformats.org/drawingml/2006/main">
              <a:ext uri="{FF2B5EF4-FFF2-40B4-BE49-F238E27FC236}">
                <a16:creationId xmlns:a16="http://schemas.microsoft.com/office/drawing/2014/main" id="{913882A4-B3B6-47DB-B634-26A431688FC4}"/>
              </a:ext>
            </a:extLst>
          </p:cNvPr>
          <p:cNvSpPr>
            <a:spLocks xmlns:a="http://schemas.openxmlformats.org/drawingml/2006/main" noGrp="1"/>
          </p:cNvSpPr>
          <p:nvPr/>
        </p:nvSpPr>
        <p:spPr>
          <a:xfrm xmlns:a="http://schemas.openxmlformats.org/drawingml/2006/main">
            <a:off x="609600" y="63627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Guardian AI</a:t>
            </a:r>
          </a:p>
        </p:txBody>
      </p:sp>
      <p:sp>
        <p:nvSpPr>
          <p:cNvPr id="4" name="">
            <a:extLst xmlns:a="http://schemas.openxmlformats.org/drawingml/2006/main">
              <a:ext uri="{FF2B5EF4-FFF2-40B4-BE49-F238E27FC236}">
                <a16:creationId xmlns:a16="http://schemas.microsoft.com/office/drawing/2014/main" id="{57912A83-1821-4B85-8E46-EB421A87A3C2}"/>
              </a:ext>
            </a:extLst>
          </p:cNvPr>
          <p:cNvSpPr>
            <a:spLocks xmlns:a="http://schemas.openxmlformats.org/drawingml/2006/main" noGrp="1"/>
          </p:cNvSpPr>
          <p:nvPr/>
        </p:nvSpPr>
        <p:spPr>
          <a:xfrm xmlns:a="http://schemas.openxmlformats.org/drawingml/2006/main">
            <a:off x="11049000" y="63627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CD5DA"/>
                </a:solidFill>
                <a:latin typeface="Nimbus Sans"/>
                <a:ea typeface="Nimbus Sans"/>
                <a:cs typeface="Nimbus Sans"/>
              </a:defRPr>
            </a:pPr>
            <a:r>
              <a:rPr sz="1275" b="0">
                <a:solidFill>
                  <a:srgbClr val="CCD5DA"/>
                </a:solidFill>
                <a:latin typeface="Nimbus Sans"/>
                <a:ea typeface="Nimbus Sans"/>
                <a:cs typeface="Nimbus Sans"/>
              </a:rPr>
              <a:t>03</a:t>
            </a:r>
          </a:p>
        </p:txBody>
      </p:sp>
      <p:sp>
        <p:nvSpPr>
          <p:cNvPr id="5" name="">
            <a:extLst xmlns:a="http://schemas.openxmlformats.org/drawingml/2006/main">
              <a:ext uri="{FF2B5EF4-FFF2-40B4-BE49-F238E27FC236}">
                <a16:creationId xmlns:a16="http://schemas.microsoft.com/office/drawing/2014/main" id="{32FAA628-17CB-4ADF-B882-393381C21E28}"/>
              </a:ext>
            </a:extLst>
          </p:cNvPr>
          <p:cNvSpPr>
            <a:spLocks xmlns:a="http://schemas.openxmlformats.org/drawingml/2006/main" noGrp="1"/>
          </p:cNvSpPr>
          <p:nvPr/>
        </p:nvSpPr>
        <p:spPr>
          <a:xfrm xmlns:a="http://schemas.openxmlformats.org/drawingml/2006/main">
            <a:off x="609600" y="2133600"/>
            <a:ext cx="347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3BCC8"/>
                </a:solidFill>
                <a:latin typeface="Nimbus Sans"/>
                <a:ea typeface="Nimbus Sans"/>
                <a:cs typeface="Nimbus Sans"/>
              </a:defRPr>
            </a:pPr>
            <a:r>
              <a:rPr sz="2175" b="1">
                <a:solidFill>
                  <a:srgbClr val="73BCC8"/>
                </a:solidFill>
                <a:latin typeface="Nimbus Sans"/>
                <a:ea typeface="Nimbus Sans"/>
                <a:cs typeface="Nimbus Sans"/>
              </a:rPr>
              <a:t>Organization administrators</a:t>
            </a:r>
          </a:p>
        </p:txBody>
      </p:sp>
      <p:sp>
        <p:nvSpPr>
          <p:cNvPr id="6" name="">
            <a:extLst xmlns:a="http://schemas.openxmlformats.org/drawingml/2006/main">
              <a:ext uri="{FF2B5EF4-FFF2-40B4-BE49-F238E27FC236}">
                <a16:creationId xmlns:a16="http://schemas.microsoft.com/office/drawing/2014/main" id="{72CED570-6DCB-4FBF-AD1E-01256EF0D972}"/>
              </a:ext>
            </a:extLst>
          </p:cNvPr>
          <p:cNvSpPr>
            <a:spLocks xmlns:a="http://schemas.openxmlformats.org/drawingml/2006/main" noGrp="1"/>
          </p:cNvSpPr>
          <p:nvPr/>
        </p:nvSpPr>
        <p:spPr>
          <a:xfrm xmlns:a="http://schemas.openxmlformats.org/drawingml/2006/main">
            <a:off x="609600" y="2876550"/>
            <a:ext cx="347980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Connect AWS accounts.</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Discover resources.</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Curate approved tools.</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Grant project access.</a:t>
            </a:r>
          </a:p>
        </p:txBody>
      </p:sp>
      <p:sp>
        <p:nvSpPr>
          <p:cNvPr id="7" name="">
            <a:extLst xmlns:a="http://schemas.openxmlformats.org/drawingml/2006/main">
              <a:ext uri="{FF2B5EF4-FFF2-40B4-BE49-F238E27FC236}">
                <a16:creationId xmlns:a16="http://schemas.microsoft.com/office/drawing/2014/main" id="{DCA1EB7E-CC0A-458C-BE56-D3F865C0650F}"/>
              </a:ext>
            </a:extLst>
          </p:cNvPr>
          <p:cNvSpPr>
            <a:spLocks xmlns:a="http://schemas.openxmlformats.org/drawingml/2006/main" noGrp="1"/>
          </p:cNvSpPr>
          <p:nvPr/>
        </p:nvSpPr>
        <p:spPr>
          <a:xfrm xmlns:a="http://schemas.openxmlformats.org/drawingml/2006/main">
            <a:off x="4267200" y="2133600"/>
            <a:ext cx="347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3BCC8"/>
                </a:solidFill>
                <a:latin typeface="Nimbus Sans"/>
                <a:ea typeface="Nimbus Sans"/>
                <a:cs typeface="Nimbus Sans"/>
              </a:defRPr>
            </a:pPr>
            <a:r>
              <a:rPr sz="2175" b="1">
                <a:solidFill>
                  <a:srgbClr val="73BCC8"/>
                </a:solidFill>
                <a:latin typeface="Nimbus Sans"/>
                <a:ea typeface="Nimbus Sans"/>
                <a:cs typeface="Nimbus Sans"/>
              </a:rPr>
              <a:t>Project teams</a:t>
            </a:r>
          </a:p>
        </p:txBody>
      </p:sp>
      <p:sp>
        <p:nvSpPr>
          <p:cNvPr id="8" name="">
            <a:extLst xmlns:a="http://schemas.openxmlformats.org/drawingml/2006/main">
              <a:ext uri="{FF2B5EF4-FFF2-40B4-BE49-F238E27FC236}">
                <a16:creationId xmlns:a16="http://schemas.microsoft.com/office/drawing/2014/main" id="{7A9214BC-8F12-4AF5-B86A-E3403CD104E5}"/>
              </a:ext>
            </a:extLst>
          </p:cNvPr>
          <p:cNvSpPr>
            <a:spLocks xmlns:a="http://schemas.openxmlformats.org/drawingml/2006/main" noGrp="1"/>
          </p:cNvSpPr>
          <p:nvPr/>
        </p:nvSpPr>
        <p:spPr>
          <a:xfrm xmlns:a="http://schemas.openxmlformats.org/drawingml/2006/main">
            <a:off x="4267200" y="2876550"/>
            <a:ext cx="347980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Configure agents.</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Select granted tools.</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Submit for approval.</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Deploy and test.</a:t>
            </a:r>
          </a:p>
        </p:txBody>
      </p:sp>
      <p:sp>
        <p:nvSpPr>
          <p:cNvPr id="9" name="">
            <a:extLst xmlns:a="http://schemas.openxmlformats.org/drawingml/2006/main">
              <a:ext uri="{FF2B5EF4-FFF2-40B4-BE49-F238E27FC236}">
                <a16:creationId xmlns:a16="http://schemas.microsoft.com/office/drawing/2014/main" id="{BE9E818A-65C4-43A9-AA56-DC9BCF5735EC}"/>
              </a:ext>
            </a:extLst>
          </p:cNvPr>
          <p:cNvSpPr>
            <a:spLocks xmlns:a="http://schemas.openxmlformats.org/drawingml/2006/main" noGrp="1"/>
          </p:cNvSpPr>
          <p:nvPr/>
        </p:nvSpPr>
        <p:spPr>
          <a:xfrm xmlns:a="http://schemas.openxmlformats.org/drawingml/2006/main">
            <a:off x="7924800" y="2133600"/>
            <a:ext cx="347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3BCC8"/>
                </a:solidFill>
                <a:latin typeface="Nimbus Sans"/>
                <a:ea typeface="Nimbus Sans"/>
                <a:cs typeface="Nimbus Sans"/>
              </a:defRPr>
            </a:pPr>
            <a:r>
              <a:rPr sz="2175" b="1">
                <a:solidFill>
                  <a:srgbClr val="73BCC8"/>
                </a:solidFill>
                <a:latin typeface="Nimbus Sans"/>
                <a:ea typeface="Nimbus Sans"/>
                <a:cs typeface="Nimbus Sans"/>
              </a:rPr>
              <a:t>Business and platform owners</a:t>
            </a:r>
          </a:p>
        </p:txBody>
      </p:sp>
      <p:sp>
        <p:nvSpPr>
          <p:cNvPr id="10" name="">
            <a:extLst xmlns:a="http://schemas.openxmlformats.org/drawingml/2006/main">
              <a:ext uri="{FF2B5EF4-FFF2-40B4-BE49-F238E27FC236}">
                <a16:creationId xmlns:a16="http://schemas.microsoft.com/office/drawing/2014/main" id="{F6A46DD3-A813-4F8A-BB9F-2D375160CD3B}"/>
              </a:ext>
            </a:extLst>
          </p:cNvPr>
          <p:cNvSpPr>
            <a:spLocks xmlns:a="http://schemas.openxmlformats.org/drawingml/2006/main" noGrp="1"/>
          </p:cNvSpPr>
          <p:nvPr/>
        </p:nvSpPr>
        <p:spPr>
          <a:xfrm xmlns:a="http://schemas.openxmlformats.org/drawingml/2006/main">
            <a:off x="7924800" y="2876550"/>
            <a:ext cx="347980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Review deployment requests.</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Establish accountability.</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Oversee runtime activity.</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Guide adoption.</a:t>
            </a:r>
          </a:p>
        </p:txBody>
      </p:sp>
    </p:spTree>
    <p:extLst>
      <p:ext uri="{BB962C8B-B14F-4D97-AF65-F5344CB8AC3E}">
        <p14:creationId xmlns:p14="http://schemas.microsoft.com/office/powerpoint/2010/main" val="1417138099"/>
      </p:ext>
    </p:extLst>
  </p:cSld>
</p:sld>
</file>

<file path=ppt/slides/slide4.xml><?xml version="1.0" encoding="utf-8"?>
<p:sld xmlns:p="http://schemas.openxmlformats.org/presentationml/2006/main">
  <p:cSld>
    <p:bg>
      <p:bgPr>
        <a:solidFill xmlns:a="http://schemas.openxmlformats.org/drawingml/2006/main">
          <a:srgbClr val="28343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D3BBE2E-8D65-4B9F-9222-15A24F7FC33C}"/>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Nimbus Sans"/>
                <a:ea typeface="Nimbus Sans"/>
                <a:cs typeface="Nimbus Sans"/>
              </a:defRPr>
            </a:pPr>
            <a:r>
              <a:rPr sz="3150" b="1">
                <a:solidFill>
                  <a:srgbClr val="FFFFFF"/>
                </a:solidFill>
                <a:latin typeface="Nimbus Sans"/>
                <a:ea typeface="Nimbus Sans"/>
                <a:cs typeface="Nimbus Sans"/>
              </a:rPr>
              <a:t>Organization and project operating model</a:t>
            </a:r>
          </a:p>
        </p:txBody>
      </p:sp>
      <p:sp>
        <p:nvSpPr>
          <p:cNvPr id="2" name="">
            <a:extLst xmlns:a="http://schemas.openxmlformats.org/drawingml/2006/main">
              <a:ext uri="{FF2B5EF4-FFF2-40B4-BE49-F238E27FC236}">
                <a16:creationId xmlns:a16="http://schemas.microsoft.com/office/drawing/2014/main" id="{7B611B43-E464-44BB-93C8-349FF4F7184A}"/>
              </a:ext>
            </a:extLst>
          </p:cNvPr>
          <p:cNvSpPr>
            <a:spLocks xmlns:a="http://schemas.openxmlformats.org/drawingml/2006/main" noGrp="1"/>
          </p:cNvSpPr>
          <p:nvPr/>
        </p:nvSpPr>
        <p:spPr>
          <a:xfrm xmlns:a="http://schemas.openxmlformats.org/drawingml/2006/main">
            <a:off x="609600" y="11811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E67B69"/>
                </a:solidFill>
                <a:latin typeface="Nimbus Sans"/>
                <a:ea typeface="Nimbus Sans"/>
                <a:cs typeface="Nimbus Sans"/>
              </a:defRPr>
            </a:pPr>
            <a:r>
              <a:rPr sz="1725" b="0">
                <a:solidFill>
                  <a:srgbClr val="E67B69"/>
                </a:solidFill>
                <a:latin typeface="Nimbus Sans"/>
                <a:ea typeface="Nimbus Sans"/>
                <a:cs typeface="Nimbus Sans"/>
              </a:rPr>
              <a:t>Shared resources with explicit access boundaries</a:t>
            </a:r>
          </a:p>
        </p:txBody>
      </p:sp>
      <p:sp>
        <p:nvSpPr>
          <p:cNvPr id="3" name="">
            <a:extLst xmlns:a="http://schemas.openxmlformats.org/drawingml/2006/main">
              <a:ext uri="{FF2B5EF4-FFF2-40B4-BE49-F238E27FC236}">
                <a16:creationId xmlns:a16="http://schemas.microsoft.com/office/drawing/2014/main" id="{B572A8C2-9688-429E-88B2-0287A64498BD}"/>
              </a:ext>
            </a:extLst>
          </p:cNvPr>
          <p:cNvSpPr>
            <a:spLocks xmlns:a="http://schemas.openxmlformats.org/drawingml/2006/main" noGrp="1"/>
          </p:cNvSpPr>
          <p:nvPr/>
        </p:nvSpPr>
        <p:spPr>
          <a:xfrm xmlns:a="http://schemas.openxmlformats.org/drawingml/2006/main">
            <a:off x="609600" y="63627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Guardian AI</a:t>
            </a:r>
          </a:p>
        </p:txBody>
      </p:sp>
      <p:sp>
        <p:nvSpPr>
          <p:cNvPr id="4" name="">
            <a:extLst xmlns:a="http://schemas.openxmlformats.org/drawingml/2006/main">
              <a:ext uri="{FF2B5EF4-FFF2-40B4-BE49-F238E27FC236}">
                <a16:creationId xmlns:a16="http://schemas.microsoft.com/office/drawing/2014/main" id="{CA605471-A92F-497E-A80D-0F3CF0D17D01}"/>
              </a:ext>
            </a:extLst>
          </p:cNvPr>
          <p:cNvSpPr>
            <a:spLocks xmlns:a="http://schemas.openxmlformats.org/drawingml/2006/main" noGrp="1"/>
          </p:cNvSpPr>
          <p:nvPr/>
        </p:nvSpPr>
        <p:spPr>
          <a:xfrm xmlns:a="http://schemas.openxmlformats.org/drawingml/2006/main">
            <a:off x="11049000" y="63627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CD5DA"/>
                </a:solidFill>
                <a:latin typeface="Nimbus Sans"/>
                <a:ea typeface="Nimbus Sans"/>
                <a:cs typeface="Nimbus Sans"/>
              </a:defRPr>
            </a:pPr>
            <a:r>
              <a:rPr sz="1275" b="0">
                <a:solidFill>
                  <a:srgbClr val="CCD5DA"/>
                </a:solidFill>
                <a:latin typeface="Nimbus Sans"/>
                <a:ea typeface="Nimbus Sans"/>
                <a:cs typeface="Nimbus Sans"/>
              </a:rPr>
              <a:t>04</a:t>
            </a:r>
          </a:p>
        </p:txBody>
      </p:sp>
      <p:sp>
        <p:nvSpPr>
          <p:cNvPr id="5" name="">
            <a:extLst xmlns:a="http://schemas.openxmlformats.org/drawingml/2006/main">
              <a:ext uri="{FF2B5EF4-FFF2-40B4-BE49-F238E27FC236}">
                <a16:creationId xmlns:a16="http://schemas.microsoft.com/office/drawing/2014/main" id="{2B3553BF-02CA-4B28-8F60-58EC65F85615}"/>
              </a:ext>
            </a:extLst>
          </p:cNvPr>
          <p:cNvSpPr>
            <a:spLocks xmlns:a="http://schemas.openxmlformats.org/drawingml/2006/main" noGrp="1"/>
          </p:cNvSpPr>
          <p:nvPr/>
        </p:nvSpPr>
        <p:spPr>
          <a:xfrm xmlns:a="http://schemas.openxmlformats.org/drawingml/2006/main">
            <a:off x="4000500" y="2000250"/>
            <a:ext cx="4191000" cy="990600"/>
          </a:xfrm>
          <a:prstGeom xmlns:a="http://schemas.openxmlformats.org/drawingml/2006/main" prst="rect">
            <a:avLst/>
          </a:prstGeom>
          <a:noFill xmlns:a="http://schemas.openxmlformats.org/drawingml/2006/main"/>
          <a:ln xmlns:a="http://schemas.openxmlformats.org/drawingml/2006/main" w="19050">
            <a:solidFill>
              <a:srgbClr val="73BCC8"/>
            </a:solidFill>
          </a:ln>
        </p:spPr>
      </p:sp>
      <p:sp>
        <p:nvSpPr>
          <p:cNvPr id="6" name="">
            <a:extLst xmlns:a="http://schemas.openxmlformats.org/drawingml/2006/main">
              <a:ext uri="{FF2B5EF4-FFF2-40B4-BE49-F238E27FC236}">
                <a16:creationId xmlns:a16="http://schemas.microsoft.com/office/drawing/2014/main" id="{354A6F53-FCC3-4193-B990-DBECA4661619}"/>
              </a:ext>
            </a:extLst>
          </p:cNvPr>
          <p:cNvSpPr>
            <a:spLocks xmlns:a="http://schemas.openxmlformats.org/drawingml/2006/main" noGrp="1"/>
          </p:cNvSpPr>
          <p:nvPr/>
        </p:nvSpPr>
        <p:spPr>
          <a:xfrm xmlns:a="http://schemas.openxmlformats.org/drawingml/2006/main">
            <a:off x="4152900" y="2143125"/>
            <a:ext cx="3886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Nimbus Sans"/>
                <a:ea typeface="Nimbus Sans"/>
                <a:cs typeface="Nimbus Sans"/>
              </a:defRPr>
            </a:pPr>
            <a:r>
              <a:rPr sz="1875" b="1">
                <a:solidFill>
                  <a:srgbClr val="FFFFFF"/>
                </a:solidFill>
                <a:latin typeface="Nimbus Sans"/>
                <a:ea typeface="Nimbus Sans"/>
                <a:cs typeface="Nimbus Sans"/>
              </a:rPr>
              <a:t>Organization</a:t>
            </a:r>
          </a:p>
          <a:p xmlns:a="http://schemas.openxmlformats.org/drawingml/2006/main">
            <a:pPr>
              <a:defRPr sz="1875" b="1">
                <a:solidFill>
                  <a:srgbClr val="FFFFFF"/>
                </a:solidFill>
                <a:latin typeface="Nimbus Sans"/>
                <a:ea typeface="Nimbus Sans"/>
                <a:cs typeface="Nimbus Sans"/>
              </a:defRPr>
            </a:pPr>
            <a:r>
              <a:rPr sz="1875" b="1">
                <a:solidFill>
                  <a:srgbClr val="FFFFFF"/>
                </a:solidFill>
                <a:latin typeface="Nimbus Sans"/>
                <a:ea typeface="Nimbus Sans"/>
                <a:cs typeface="Nimbus Sans"/>
              </a:rPr>
              <a:t>Ownership and administration</a:t>
            </a:r>
          </a:p>
        </p:txBody>
      </p:sp>
      <p:sp>
        <p:nvSpPr>
          <p:cNvPr id="7" name="">
            <a:extLst xmlns:a="http://schemas.openxmlformats.org/drawingml/2006/main">
              <a:ext uri="{FF2B5EF4-FFF2-40B4-BE49-F238E27FC236}">
                <a16:creationId xmlns:a16="http://schemas.microsoft.com/office/drawing/2014/main" id="{F43441B9-F5CA-467B-A800-2C857DF611DA}"/>
              </a:ext>
            </a:extLst>
          </p:cNvPr>
          <p:cNvSpPr>
            <a:spLocks xmlns:a="http://schemas.openxmlformats.org/drawingml/2006/main" noGrp="1"/>
          </p:cNvSpPr>
          <p:nvPr/>
        </p:nvSpPr>
        <p:spPr>
          <a:xfrm xmlns:a="http://schemas.openxmlformats.org/drawingml/2006/main">
            <a:off x="609600" y="3848100"/>
            <a:ext cx="3314700" cy="1181100"/>
          </a:xfrm>
          <a:prstGeom xmlns:a="http://schemas.openxmlformats.org/drawingml/2006/main" prst="rect">
            <a:avLst/>
          </a:prstGeom>
          <a:noFill xmlns:a="http://schemas.openxmlformats.org/drawingml/2006/main"/>
          <a:ln xmlns:a="http://schemas.openxmlformats.org/drawingml/2006/main" w="19050">
            <a:solidFill>
              <a:srgbClr val="73BCC8"/>
            </a:solidFill>
          </a:ln>
        </p:spPr>
      </p:sp>
      <p:sp>
        <p:nvSpPr>
          <p:cNvPr id="8" name="">
            <a:extLst xmlns:a="http://schemas.openxmlformats.org/drawingml/2006/main">
              <a:ext uri="{FF2B5EF4-FFF2-40B4-BE49-F238E27FC236}">
                <a16:creationId xmlns:a16="http://schemas.microsoft.com/office/drawing/2014/main" id="{A4C1590C-87B0-4F4E-BAB2-5A6479FF3460}"/>
              </a:ext>
            </a:extLst>
          </p:cNvPr>
          <p:cNvSpPr>
            <a:spLocks xmlns:a="http://schemas.openxmlformats.org/drawingml/2006/main" noGrp="1"/>
          </p:cNvSpPr>
          <p:nvPr/>
        </p:nvSpPr>
        <p:spPr>
          <a:xfrm xmlns:a="http://schemas.openxmlformats.org/drawingml/2006/main">
            <a:off x="762000" y="3990975"/>
            <a:ext cx="3009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Nimbus Sans"/>
                <a:ea typeface="Nimbus Sans"/>
                <a:cs typeface="Nimbus Sans"/>
              </a:defRPr>
            </a:pPr>
            <a:r>
              <a:rPr sz="1875" b="1">
                <a:solidFill>
                  <a:srgbClr val="FFFFFF"/>
                </a:solidFill>
                <a:latin typeface="Nimbus Sans"/>
                <a:ea typeface="Nimbus Sans"/>
                <a:cs typeface="Nimbus Sans"/>
              </a:rPr>
              <a:t>Connected AWS accounts</a:t>
            </a:r>
          </a:p>
          <a:p xmlns:a="http://schemas.openxmlformats.org/drawingml/2006/main">
            <a:pPr>
              <a:defRPr sz="1875" b="1">
                <a:solidFill>
                  <a:srgbClr val="FFFFFF"/>
                </a:solidFill>
                <a:latin typeface="Nimbus Sans"/>
                <a:ea typeface="Nimbus Sans"/>
                <a:cs typeface="Nimbus Sans"/>
              </a:defRPr>
            </a:pPr>
            <a:r>
              <a:rPr sz="1875" b="1">
                <a:solidFill>
                  <a:srgbClr val="FFFFFF"/>
                </a:solidFill>
                <a:latin typeface="Nimbus Sans"/>
                <a:ea typeface="Nimbus Sans"/>
                <a:cs typeface="Nimbus Sans"/>
              </a:rPr>
              <a:t>Resource discovery</a:t>
            </a:r>
          </a:p>
        </p:txBody>
      </p:sp>
      <p:sp>
        <p:nvSpPr>
          <p:cNvPr id="9" name="">
            <a:extLst xmlns:a="http://schemas.openxmlformats.org/drawingml/2006/main">
              <a:ext uri="{FF2B5EF4-FFF2-40B4-BE49-F238E27FC236}">
                <a16:creationId xmlns:a16="http://schemas.microsoft.com/office/drawing/2014/main" id="{D32A14CB-965E-4220-BFAA-5A00C21FA435}"/>
              </a:ext>
            </a:extLst>
          </p:cNvPr>
          <p:cNvSpPr>
            <a:spLocks xmlns:a="http://schemas.openxmlformats.org/drawingml/2006/main" noGrp="1"/>
          </p:cNvSpPr>
          <p:nvPr/>
        </p:nvSpPr>
        <p:spPr>
          <a:xfrm xmlns:a="http://schemas.openxmlformats.org/drawingml/2006/main">
            <a:off x="4438650" y="3848100"/>
            <a:ext cx="3314700" cy="1181100"/>
          </a:xfrm>
          <a:prstGeom xmlns:a="http://schemas.openxmlformats.org/drawingml/2006/main" prst="rect">
            <a:avLst/>
          </a:prstGeom>
          <a:noFill xmlns:a="http://schemas.openxmlformats.org/drawingml/2006/main"/>
          <a:ln xmlns:a="http://schemas.openxmlformats.org/drawingml/2006/main" w="19050">
            <a:solidFill>
              <a:srgbClr val="73BCC8"/>
            </a:solidFill>
          </a:ln>
        </p:spPr>
      </p:sp>
      <p:sp>
        <p:nvSpPr>
          <p:cNvPr id="10" name="">
            <a:extLst xmlns:a="http://schemas.openxmlformats.org/drawingml/2006/main">
              <a:ext uri="{FF2B5EF4-FFF2-40B4-BE49-F238E27FC236}">
                <a16:creationId xmlns:a16="http://schemas.microsoft.com/office/drawing/2014/main" id="{8BFCCE15-680C-42EF-BF52-15776433383A}"/>
              </a:ext>
            </a:extLst>
          </p:cNvPr>
          <p:cNvSpPr>
            <a:spLocks xmlns:a="http://schemas.openxmlformats.org/drawingml/2006/main" noGrp="1"/>
          </p:cNvSpPr>
          <p:nvPr/>
        </p:nvSpPr>
        <p:spPr>
          <a:xfrm xmlns:a="http://schemas.openxmlformats.org/drawingml/2006/main">
            <a:off x="4591050" y="3990975"/>
            <a:ext cx="3009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Nimbus Sans"/>
                <a:ea typeface="Nimbus Sans"/>
                <a:cs typeface="Nimbus Sans"/>
              </a:defRPr>
            </a:pPr>
            <a:r>
              <a:rPr sz="1875" b="1">
                <a:solidFill>
                  <a:srgbClr val="FFFFFF"/>
                </a:solidFill>
                <a:latin typeface="Nimbus Sans"/>
                <a:ea typeface="Nimbus Sans"/>
                <a:cs typeface="Nimbus Sans"/>
              </a:rPr>
              <a:t>Approved tool catalog</a:t>
            </a:r>
          </a:p>
          <a:p xmlns:a="http://schemas.openxmlformats.org/drawingml/2006/main">
            <a:pPr>
              <a:defRPr sz="1875" b="1">
                <a:solidFill>
                  <a:srgbClr val="FFFFFF"/>
                </a:solidFill>
                <a:latin typeface="Nimbus Sans"/>
                <a:ea typeface="Nimbus Sans"/>
                <a:cs typeface="Nimbus Sans"/>
              </a:defRPr>
            </a:pPr>
            <a:r>
              <a:rPr sz="1875" b="1">
                <a:solidFill>
                  <a:srgbClr val="FFFFFF"/>
                </a:solidFill>
                <a:latin typeface="Nimbus Sans"/>
                <a:ea typeface="Nimbus Sans"/>
                <a:cs typeface="Nimbus Sans"/>
              </a:rPr>
              <a:t>Review and registration</a:t>
            </a:r>
          </a:p>
        </p:txBody>
      </p:sp>
      <p:sp>
        <p:nvSpPr>
          <p:cNvPr id="11" name="">
            <a:extLst xmlns:a="http://schemas.openxmlformats.org/drawingml/2006/main">
              <a:ext uri="{FF2B5EF4-FFF2-40B4-BE49-F238E27FC236}">
                <a16:creationId xmlns:a16="http://schemas.microsoft.com/office/drawing/2014/main" id="{B1F48FC5-F140-4C33-830A-51BBB1E2E044}"/>
              </a:ext>
            </a:extLst>
          </p:cNvPr>
          <p:cNvSpPr>
            <a:spLocks xmlns:a="http://schemas.openxmlformats.org/drawingml/2006/main" noGrp="1"/>
          </p:cNvSpPr>
          <p:nvPr/>
        </p:nvSpPr>
        <p:spPr>
          <a:xfrm xmlns:a="http://schemas.openxmlformats.org/drawingml/2006/main">
            <a:off x="8267700" y="3848100"/>
            <a:ext cx="3314700" cy="1181100"/>
          </a:xfrm>
          <a:prstGeom xmlns:a="http://schemas.openxmlformats.org/drawingml/2006/main" prst="rect">
            <a:avLst/>
          </a:prstGeom>
          <a:noFill xmlns:a="http://schemas.openxmlformats.org/drawingml/2006/main"/>
          <a:ln xmlns:a="http://schemas.openxmlformats.org/drawingml/2006/main" w="19050">
            <a:solidFill>
              <a:srgbClr val="73BCC8"/>
            </a:solidFill>
          </a:ln>
        </p:spPr>
      </p:sp>
      <p:sp>
        <p:nvSpPr>
          <p:cNvPr id="12" name="">
            <a:extLst xmlns:a="http://schemas.openxmlformats.org/drawingml/2006/main">
              <a:ext uri="{FF2B5EF4-FFF2-40B4-BE49-F238E27FC236}">
                <a16:creationId xmlns:a16="http://schemas.microsoft.com/office/drawing/2014/main" id="{3AEF20C0-864E-4207-B25A-3B8CC590BFA8}"/>
              </a:ext>
            </a:extLst>
          </p:cNvPr>
          <p:cNvSpPr>
            <a:spLocks xmlns:a="http://schemas.openxmlformats.org/drawingml/2006/main" noGrp="1"/>
          </p:cNvSpPr>
          <p:nvPr/>
        </p:nvSpPr>
        <p:spPr>
          <a:xfrm xmlns:a="http://schemas.openxmlformats.org/drawingml/2006/main">
            <a:off x="8420100" y="3990975"/>
            <a:ext cx="3009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Nimbus Sans"/>
                <a:ea typeface="Nimbus Sans"/>
                <a:cs typeface="Nimbus Sans"/>
              </a:defRPr>
            </a:pPr>
            <a:r>
              <a:rPr sz="1875" b="1">
                <a:solidFill>
                  <a:srgbClr val="FFFFFF"/>
                </a:solidFill>
                <a:latin typeface="Nimbus Sans"/>
                <a:ea typeface="Nimbus Sans"/>
                <a:cs typeface="Nimbus Sans"/>
              </a:rPr>
              <a:t>Project workspaces</a:t>
            </a:r>
          </a:p>
          <a:p xmlns:a="http://schemas.openxmlformats.org/drawingml/2006/main">
            <a:pPr>
              <a:defRPr sz="1875" b="1">
                <a:solidFill>
                  <a:srgbClr val="FFFFFF"/>
                </a:solidFill>
                <a:latin typeface="Nimbus Sans"/>
                <a:ea typeface="Nimbus Sans"/>
                <a:cs typeface="Nimbus Sans"/>
              </a:defRPr>
            </a:pPr>
            <a:r>
              <a:rPr sz="1875" b="1">
                <a:solidFill>
                  <a:srgbClr val="FFFFFF"/>
                </a:solidFill>
                <a:latin typeface="Nimbus Sans"/>
                <a:ea typeface="Nimbus Sans"/>
                <a:cs typeface="Nimbus Sans"/>
              </a:rPr>
              <a:t>Agents and deployments</a:t>
            </a:r>
          </a:p>
        </p:txBody>
      </p:sp>
      <p:cxnSp>
        <p:nvCxnSpPr>
          <p:cNvPr id="29" name=""/>
          <p:cNvCxnSpPr>
            <a:stCxn xmlns:a="http://schemas.openxmlformats.org/drawingml/2006/main" id="5" idx="2"/>
            <a:endCxn xmlns:a="http://schemas.openxmlformats.org/drawingml/2006/main" id="7" idx="0"/>
          </p:cNvCxnSpPr>
          <p:nvPr/>
        </p:nvCxnSpPr>
        <p:spPr>
          <a:xfrm xmlns:a="http://schemas.openxmlformats.org/drawingml/2006/main" flipH="1">
            <a:off x="2266950" y="2990850"/>
            <a:ext cx="3829050" cy="857250"/>
          </a:xfrm>
          <a:prstGeom xmlns:a="http://schemas.openxmlformats.org/drawingml/2006/main" prst="straightConnector1">
            <a:avLst/>
          </a:prstGeom>
          <a:ln xmlns:a="http://schemas.openxmlformats.org/drawingml/2006/main" w="19050">
            <a:solidFill>
              <a:srgbClr val="73BCC8"/>
            </a:solidFill>
            <a:tailEnd type="triangle" w="sm" len="sm"/>
          </a:ln>
        </p:spPr>
      </p:cxnSp>
      <p:cxnSp>
        <p:nvCxnSpPr>
          <p:cNvPr id="30" name=""/>
          <p:cNvCxnSpPr>
            <a:stCxn xmlns:a="http://schemas.openxmlformats.org/drawingml/2006/main" id="5" idx="2"/>
            <a:endCxn xmlns:a="http://schemas.openxmlformats.org/drawingml/2006/main" id="9" idx="0"/>
          </p:cNvCxnSpPr>
          <p:nvPr/>
        </p:nvCxnSpPr>
        <p:spPr>
          <a:xfrm xmlns:a="http://schemas.openxmlformats.org/drawingml/2006/main">
            <a:off x="6096000" y="2990850"/>
            <a:ext cx="0" cy="857250"/>
          </a:xfrm>
          <a:prstGeom xmlns:a="http://schemas.openxmlformats.org/drawingml/2006/main" prst="straightConnector1">
            <a:avLst/>
          </a:prstGeom>
          <a:ln xmlns:a="http://schemas.openxmlformats.org/drawingml/2006/main" w="19050">
            <a:solidFill>
              <a:srgbClr val="73BCC8"/>
            </a:solidFill>
            <a:tailEnd type="triangle" w="sm" len="sm"/>
          </a:ln>
        </p:spPr>
      </p:cxnSp>
      <p:cxnSp>
        <p:nvCxnSpPr>
          <p:cNvPr id="31" name=""/>
          <p:cNvCxnSpPr>
            <a:stCxn xmlns:a="http://schemas.openxmlformats.org/drawingml/2006/main" id="5" idx="2"/>
            <a:endCxn xmlns:a="http://schemas.openxmlformats.org/drawingml/2006/main" id="11" idx="0"/>
          </p:cNvCxnSpPr>
          <p:nvPr/>
        </p:nvCxnSpPr>
        <p:spPr>
          <a:xfrm xmlns:a="http://schemas.openxmlformats.org/drawingml/2006/main">
            <a:off x="6096000" y="2990850"/>
            <a:ext cx="3829050" cy="857250"/>
          </a:xfrm>
          <a:prstGeom xmlns:a="http://schemas.openxmlformats.org/drawingml/2006/main" prst="straightConnector1">
            <a:avLst/>
          </a:prstGeom>
          <a:ln xmlns:a="http://schemas.openxmlformats.org/drawingml/2006/main" w="19050">
            <a:solidFill>
              <a:srgbClr val="73BCC8"/>
            </a:solidFill>
            <a:tailEnd type="triangle" w="sm" len="sm"/>
          </a:ln>
        </p:spPr>
      </p:cxnSp>
      <p:sp>
        <p:nvSpPr>
          <p:cNvPr id="16" name="">
            <a:extLst xmlns:a="http://schemas.openxmlformats.org/drawingml/2006/main">
              <a:ext uri="{FF2B5EF4-FFF2-40B4-BE49-F238E27FC236}">
                <a16:creationId xmlns:a16="http://schemas.microsoft.com/office/drawing/2014/main" id="{E41D1598-7D85-4C06-866E-83B72F7E4747}"/>
              </a:ext>
            </a:extLst>
          </p:cNvPr>
          <p:cNvSpPr>
            <a:spLocks xmlns:a="http://schemas.openxmlformats.org/drawingml/2006/main" noGrp="1"/>
          </p:cNvSpPr>
          <p:nvPr/>
        </p:nvSpPr>
        <p:spPr>
          <a:xfrm xmlns:a="http://schemas.openxmlformats.org/drawingml/2006/main">
            <a:off x="609600" y="55149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CCD5DA"/>
                </a:solidFill>
                <a:latin typeface="Nimbus Sans"/>
                <a:ea typeface="Nimbus Sans"/>
                <a:cs typeface="Nimbus Sans"/>
              </a:defRPr>
            </a:pPr>
            <a:r>
              <a:rPr sz="2100" b="0">
                <a:solidFill>
                  <a:srgbClr val="CCD5DA"/>
                </a:solidFill>
                <a:latin typeface="Nimbus Sans"/>
                <a:ea typeface="Nimbus Sans"/>
                <a:cs typeface="Nimbus Sans"/>
              </a:rPr>
              <a:t>Projects receive selected tools from the organization catalog.</a:t>
            </a:r>
          </a:p>
        </p:txBody>
      </p:sp>
    </p:spTree>
    <p:extLst>
      <p:ext uri="{BB962C8B-B14F-4D97-AF65-F5344CB8AC3E}">
        <p14:creationId xmlns:p14="http://schemas.microsoft.com/office/powerpoint/2010/main" val="535561625"/>
      </p:ext>
    </p:extLst>
  </p:cSld>
</p:sld>
</file>

<file path=ppt/slides/slide5.xml><?xml version="1.0" encoding="utf-8"?>
<p:sld xmlns:p="http://schemas.openxmlformats.org/presentationml/2006/main">
  <p:cSld>
    <p:bg>
      <p:bgPr>
        <a:solidFill xmlns:a="http://schemas.openxmlformats.org/drawingml/2006/main">
          <a:srgbClr val="28343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DA10DF0-6E98-4E30-A379-F5463553A569}"/>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Nimbus Sans"/>
                <a:ea typeface="Nimbus Sans"/>
                <a:cs typeface="Nimbus Sans"/>
              </a:defRPr>
            </a:pPr>
            <a:r>
              <a:rPr sz="3150" b="1">
                <a:solidFill>
                  <a:srgbClr val="FFFFFF"/>
                </a:solidFill>
                <a:latin typeface="Nimbus Sans"/>
                <a:ea typeface="Nimbus Sans"/>
                <a:cs typeface="Nimbus Sans"/>
              </a:rPr>
              <a:t>Enterprise resources become reusable agent tools</a:t>
            </a:r>
          </a:p>
        </p:txBody>
      </p:sp>
      <p:sp>
        <p:nvSpPr>
          <p:cNvPr id="2" name="">
            <a:extLst xmlns:a="http://schemas.openxmlformats.org/drawingml/2006/main">
              <a:ext uri="{FF2B5EF4-FFF2-40B4-BE49-F238E27FC236}">
                <a16:creationId xmlns:a16="http://schemas.microsoft.com/office/drawing/2014/main" id="{292B441B-B1DB-4F77-8B23-8B109799A2A3}"/>
              </a:ext>
            </a:extLst>
          </p:cNvPr>
          <p:cNvSpPr>
            <a:spLocks xmlns:a="http://schemas.openxmlformats.org/drawingml/2006/main" noGrp="1"/>
          </p:cNvSpPr>
          <p:nvPr/>
        </p:nvSpPr>
        <p:spPr>
          <a:xfrm xmlns:a="http://schemas.openxmlformats.org/drawingml/2006/main">
            <a:off x="609600" y="11811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E67B69"/>
                </a:solidFill>
                <a:latin typeface="Nimbus Sans"/>
                <a:ea typeface="Nimbus Sans"/>
                <a:cs typeface="Nimbus Sans"/>
              </a:defRPr>
            </a:pPr>
            <a:r>
              <a:rPr sz="1725" b="0">
                <a:solidFill>
                  <a:srgbClr val="E67B69"/>
                </a:solidFill>
                <a:latin typeface="Nimbus Sans"/>
                <a:ea typeface="Nimbus Sans"/>
                <a:cs typeface="Nimbus Sans"/>
              </a:rPr>
              <a:t>Discover once, review centrally, and grant access where needed</a:t>
            </a:r>
          </a:p>
        </p:txBody>
      </p:sp>
      <p:sp>
        <p:nvSpPr>
          <p:cNvPr id="3" name="">
            <a:extLst xmlns:a="http://schemas.openxmlformats.org/drawingml/2006/main">
              <a:ext uri="{FF2B5EF4-FFF2-40B4-BE49-F238E27FC236}">
                <a16:creationId xmlns:a16="http://schemas.microsoft.com/office/drawing/2014/main" id="{30597EFB-B8C3-4F3C-928B-FE56A677106E}"/>
              </a:ext>
            </a:extLst>
          </p:cNvPr>
          <p:cNvSpPr>
            <a:spLocks xmlns:a="http://schemas.openxmlformats.org/drawingml/2006/main" noGrp="1"/>
          </p:cNvSpPr>
          <p:nvPr/>
        </p:nvSpPr>
        <p:spPr>
          <a:xfrm xmlns:a="http://schemas.openxmlformats.org/drawingml/2006/main">
            <a:off x="609600" y="63627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Guardian AI</a:t>
            </a:r>
          </a:p>
        </p:txBody>
      </p:sp>
      <p:sp>
        <p:nvSpPr>
          <p:cNvPr id="4" name="">
            <a:extLst xmlns:a="http://schemas.openxmlformats.org/drawingml/2006/main">
              <a:ext uri="{FF2B5EF4-FFF2-40B4-BE49-F238E27FC236}">
                <a16:creationId xmlns:a16="http://schemas.microsoft.com/office/drawing/2014/main" id="{4E07948D-BB5F-4729-AA4A-39AE7DBDF736}"/>
              </a:ext>
            </a:extLst>
          </p:cNvPr>
          <p:cNvSpPr>
            <a:spLocks xmlns:a="http://schemas.openxmlformats.org/drawingml/2006/main" noGrp="1"/>
          </p:cNvSpPr>
          <p:nvPr/>
        </p:nvSpPr>
        <p:spPr>
          <a:xfrm xmlns:a="http://schemas.openxmlformats.org/drawingml/2006/main">
            <a:off x="11049000" y="63627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CD5DA"/>
                </a:solidFill>
                <a:latin typeface="Nimbus Sans"/>
                <a:ea typeface="Nimbus Sans"/>
                <a:cs typeface="Nimbus Sans"/>
              </a:defRPr>
            </a:pPr>
            <a:r>
              <a:rPr sz="1275" b="0">
                <a:solidFill>
                  <a:srgbClr val="CCD5DA"/>
                </a:solidFill>
                <a:latin typeface="Nimbus Sans"/>
                <a:ea typeface="Nimbus Sans"/>
                <a:cs typeface="Nimbus Sans"/>
              </a:rPr>
              <a:t>05</a:t>
            </a:r>
          </a:p>
        </p:txBody>
      </p:sp>
      <p:sp>
        <p:nvSpPr>
          <p:cNvPr id="5" name="">
            <a:extLst xmlns:a="http://schemas.openxmlformats.org/drawingml/2006/main">
              <a:ext uri="{FF2B5EF4-FFF2-40B4-BE49-F238E27FC236}">
                <a16:creationId xmlns:a16="http://schemas.microsoft.com/office/drawing/2014/main" id="{7C0064FF-5807-4B5C-9BBE-EE100A55CD44}"/>
              </a:ext>
            </a:extLst>
          </p:cNvPr>
          <p:cNvSpPr>
            <a:spLocks xmlns:a="http://schemas.openxmlformats.org/drawingml/2006/main" noGrp="1"/>
          </p:cNvSpPr>
          <p:nvPr/>
        </p:nvSpPr>
        <p:spPr>
          <a:xfrm xmlns:a="http://schemas.openxmlformats.org/drawingml/2006/main">
            <a:off x="609600" y="2286000"/>
            <a:ext cx="2400300" cy="666750"/>
          </a:xfrm>
          <a:prstGeom xmlns:a="http://schemas.openxmlformats.org/drawingml/2006/main" prst="rect">
            <a:avLst/>
          </a:prstGeom>
          <a:noFill xmlns:a="http://schemas.openxmlformats.org/drawingml/2006/main"/>
          <a:ln xmlns:a="http://schemas.openxmlformats.org/drawingml/2006/main" w="19050">
            <a:solidFill>
              <a:srgbClr val="73BCC8"/>
            </a:solidFill>
          </a:ln>
        </p:spPr>
      </p:sp>
      <p:sp>
        <p:nvSpPr>
          <p:cNvPr id="6" name="">
            <a:extLst xmlns:a="http://schemas.openxmlformats.org/drawingml/2006/main">
              <a:ext uri="{FF2B5EF4-FFF2-40B4-BE49-F238E27FC236}">
                <a16:creationId xmlns:a16="http://schemas.microsoft.com/office/drawing/2014/main" id="{171AC529-C745-423F-BF0B-B85F796274D6}"/>
              </a:ext>
            </a:extLst>
          </p:cNvPr>
          <p:cNvSpPr>
            <a:spLocks xmlns:a="http://schemas.openxmlformats.org/drawingml/2006/main" noGrp="1"/>
          </p:cNvSpPr>
          <p:nvPr/>
        </p:nvSpPr>
        <p:spPr>
          <a:xfrm xmlns:a="http://schemas.openxmlformats.org/drawingml/2006/main">
            <a:off x="762000" y="2428875"/>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Nimbus Sans"/>
                <a:ea typeface="Nimbus Sans"/>
                <a:cs typeface="Nimbus Sans"/>
              </a:defRPr>
            </a:pPr>
            <a:r>
              <a:rPr sz="1875" b="1">
                <a:solidFill>
                  <a:srgbClr val="FFFFFF"/>
                </a:solidFill>
                <a:latin typeface="Nimbus Sans"/>
                <a:ea typeface="Nimbus Sans"/>
                <a:cs typeface="Nimbus Sans"/>
              </a:rPr>
              <a:t>1  Connect</a:t>
            </a:r>
          </a:p>
        </p:txBody>
      </p:sp>
      <p:sp>
        <p:nvSpPr>
          <p:cNvPr id="7" name="">
            <a:extLst xmlns:a="http://schemas.openxmlformats.org/drawingml/2006/main">
              <a:ext uri="{FF2B5EF4-FFF2-40B4-BE49-F238E27FC236}">
                <a16:creationId xmlns:a16="http://schemas.microsoft.com/office/drawing/2014/main" id="{F474035F-945D-4738-B644-EE14500FE9B8}"/>
              </a:ext>
            </a:extLst>
          </p:cNvPr>
          <p:cNvSpPr>
            <a:spLocks xmlns:a="http://schemas.openxmlformats.org/drawingml/2006/main" noGrp="1"/>
          </p:cNvSpPr>
          <p:nvPr/>
        </p:nvSpPr>
        <p:spPr>
          <a:xfrm xmlns:a="http://schemas.openxmlformats.org/drawingml/2006/main">
            <a:off x="609600" y="3267075"/>
            <a:ext cx="24003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AWS account and</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deployment role</a:t>
            </a:r>
          </a:p>
        </p:txBody>
      </p:sp>
      <p:sp>
        <p:nvSpPr>
          <p:cNvPr id="8" name="">
            <a:extLst xmlns:a="http://schemas.openxmlformats.org/drawingml/2006/main">
              <a:ext uri="{FF2B5EF4-FFF2-40B4-BE49-F238E27FC236}">
                <a16:creationId xmlns:a16="http://schemas.microsoft.com/office/drawing/2014/main" id="{2D9773B2-E880-47D8-A9B4-786A29E3AA37}"/>
              </a:ext>
            </a:extLst>
          </p:cNvPr>
          <p:cNvSpPr>
            <a:spLocks xmlns:a="http://schemas.openxmlformats.org/drawingml/2006/main" noGrp="1"/>
          </p:cNvSpPr>
          <p:nvPr/>
        </p:nvSpPr>
        <p:spPr>
          <a:xfrm xmlns:a="http://schemas.openxmlformats.org/drawingml/2006/main">
            <a:off x="3390900" y="2286000"/>
            <a:ext cx="2400300" cy="666750"/>
          </a:xfrm>
          <a:prstGeom xmlns:a="http://schemas.openxmlformats.org/drawingml/2006/main" prst="rect">
            <a:avLst/>
          </a:prstGeom>
          <a:noFill xmlns:a="http://schemas.openxmlformats.org/drawingml/2006/main"/>
          <a:ln xmlns:a="http://schemas.openxmlformats.org/drawingml/2006/main" w="19050">
            <a:solidFill>
              <a:srgbClr val="73BCC8"/>
            </a:solidFill>
          </a:ln>
        </p:spPr>
      </p:sp>
      <p:sp>
        <p:nvSpPr>
          <p:cNvPr id="9" name="">
            <a:extLst xmlns:a="http://schemas.openxmlformats.org/drawingml/2006/main">
              <a:ext uri="{FF2B5EF4-FFF2-40B4-BE49-F238E27FC236}">
                <a16:creationId xmlns:a16="http://schemas.microsoft.com/office/drawing/2014/main" id="{B25DF6DC-E967-41B7-84A8-F1799BAC7D19}"/>
              </a:ext>
            </a:extLst>
          </p:cNvPr>
          <p:cNvSpPr>
            <a:spLocks xmlns:a="http://schemas.openxmlformats.org/drawingml/2006/main" noGrp="1"/>
          </p:cNvSpPr>
          <p:nvPr/>
        </p:nvSpPr>
        <p:spPr>
          <a:xfrm xmlns:a="http://schemas.openxmlformats.org/drawingml/2006/main">
            <a:off x="3543300" y="2428875"/>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Nimbus Sans"/>
                <a:ea typeface="Nimbus Sans"/>
                <a:cs typeface="Nimbus Sans"/>
              </a:defRPr>
            </a:pPr>
            <a:r>
              <a:rPr sz="1875" b="1">
                <a:solidFill>
                  <a:srgbClr val="FFFFFF"/>
                </a:solidFill>
                <a:latin typeface="Nimbus Sans"/>
                <a:ea typeface="Nimbus Sans"/>
                <a:cs typeface="Nimbus Sans"/>
              </a:rPr>
              <a:t>2  Discover</a:t>
            </a:r>
          </a:p>
        </p:txBody>
      </p:sp>
      <p:cxnSp>
        <p:nvCxnSpPr>
          <p:cNvPr id="31" name=""/>
          <p:cNvCxnSpPr>
            <a:stCxn xmlns:a="http://schemas.openxmlformats.org/drawingml/2006/main" id="5" idx="3"/>
            <a:endCxn xmlns:a="http://schemas.openxmlformats.org/drawingml/2006/main" id="8" idx="1"/>
          </p:cNvCxnSpPr>
          <p:nvPr/>
        </p:nvCxnSpPr>
        <p:spPr>
          <a:xfrm xmlns:a="http://schemas.openxmlformats.org/drawingml/2006/main">
            <a:off x="3009900" y="2619375"/>
            <a:ext cx="381000" cy="0"/>
          </a:xfrm>
          <a:prstGeom xmlns:a="http://schemas.openxmlformats.org/drawingml/2006/main" prst="straightConnector1">
            <a:avLst/>
          </a:prstGeom>
          <a:ln xmlns:a="http://schemas.openxmlformats.org/drawingml/2006/main" w="19050">
            <a:solidFill>
              <a:srgbClr val="73BCC8"/>
            </a:solidFill>
            <a:tailEnd type="triangle" w="sm" len="sm"/>
          </a:ln>
        </p:spPr>
      </p:cxnSp>
      <p:sp>
        <p:nvSpPr>
          <p:cNvPr id="11" name="">
            <a:extLst xmlns:a="http://schemas.openxmlformats.org/drawingml/2006/main">
              <a:ext uri="{FF2B5EF4-FFF2-40B4-BE49-F238E27FC236}">
                <a16:creationId xmlns:a16="http://schemas.microsoft.com/office/drawing/2014/main" id="{73362719-2D23-44A3-8010-1017C5574151}"/>
              </a:ext>
            </a:extLst>
          </p:cNvPr>
          <p:cNvSpPr>
            <a:spLocks xmlns:a="http://schemas.openxmlformats.org/drawingml/2006/main" noGrp="1"/>
          </p:cNvSpPr>
          <p:nvPr/>
        </p:nvSpPr>
        <p:spPr>
          <a:xfrm xmlns:a="http://schemas.openxmlformats.org/drawingml/2006/main">
            <a:off x="3390900" y="3267075"/>
            <a:ext cx="24003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Candidate Lambda</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and API resources</a:t>
            </a:r>
          </a:p>
        </p:txBody>
      </p:sp>
      <p:sp>
        <p:nvSpPr>
          <p:cNvPr id="12" name="">
            <a:extLst xmlns:a="http://schemas.openxmlformats.org/drawingml/2006/main">
              <a:ext uri="{FF2B5EF4-FFF2-40B4-BE49-F238E27FC236}">
                <a16:creationId xmlns:a16="http://schemas.microsoft.com/office/drawing/2014/main" id="{D7030448-F6D1-43FA-B4EB-9C5D5E204C40}"/>
              </a:ext>
            </a:extLst>
          </p:cNvPr>
          <p:cNvSpPr>
            <a:spLocks xmlns:a="http://schemas.openxmlformats.org/drawingml/2006/main" noGrp="1"/>
          </p:cNvSpPr>
          <p:nvPr/>
        </p:nvSpPr>
        <p:spPr>
          <a:xfrm xmlns:a="http://schemas.openxmlformats.org/drawingml/2006/main">
            <a:off x="6172200" y="2286000"/>
            <a:ext cx="2400300" cy="666750"/>
          </a:xfrm>
          <a:prstGeom xmlns:a="http://schemas.openxmlformats.org/drawingml/2006/main" prst="rect">
            <a:avLst/>
          </a:prstGeom>
          <a:noFill xmlns:a="http://schemas.openxmlformats.org/drawingml/2006/main"/>
          <a:ln xmlns:a="http://schemas.openxmlformats.org/drawingml/2006/main" w="19050">
            <a:solidFill>
              <a:srgbClr val="73BCC8"/>
            </a:solidFill>
          </a:ln>
        </p:spPr>
      </p:sp>
      <p:sp>
        <p:nvSpPr>
          <p:cNvPr id="13" name="">
            <a:extLst xmlns:a="http://schemas.openxmlformats.org/drawingml/2006/main">
              <a:ext uri="{FF2B5EF4-FFF2-40B4-BE49-F238E27FC236}">
                <a16:creationId xmlns:a16="http://schemas.microsoft.com/office/drawing/2014/main" id="{4F8EB465-602B-4520-895C-C2421FC7DF4C}"/>
              </a:ext>
            </a:extLst>
          </p:cNvPr>
          <p:cNvSpPr>
            <a:spLocks xmlns:a="http://schemas.openxmlformats.org/drawingml/2006/main" noGrp="1"/>
          </p:cNvSpPr>
          <p:nvPr/>
        </p:nvSpPr>
        <p:spPr>
          <a:xfrm xmlns:a="http://schemas.openxmlformats.org/drawingml/2006/main">
            <a:off x="6324600" y="2428875"/>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Nimbus Sans"/>
                <a:ea typeface="Nimbus Sans"/>
                <a:cs typeface="Nimbus Sans"/>
              </a:defRPr>
            </a:pPr>
            <a:r>
              <a:rPr sz="1875" b="1">
                <a:solidFill>
                  <a:srgbClr val="FFFFFF"/>
                </a:solidFill>
                <a:latin typeface="Nimbus Sans"/>
                <a:ea typeface="Nimbus Sans"/>
                <a:cs typeface="Nimbus Sans"/>
              </a:rPr>
              <a:t>3  Approve</a:t>
            </a:r>
          </a:p>
        </p:txBody>
      </p:sp>
      <p:cxnSp>
        <p:nvCxnSpPr>
          <p:cNvPr id="35" name=""/>
          <p:cNvCxnSpPr>
            <a:stCxn xmlns:a="http://schemas.openxmlformats.org/drawingml/2006/main" id="8" idx="3"/>
            <a:endCxn xmlns:a="http://schemas.openxmlformats.org/drawingml/2006/main" id="12" idx="1"/>
          </p:cNvCxnSpPr>
          <p:nvPr/>
        </p:nvCxnSpPr>
        <p:spPr>
          <a:xfrm xmlns:a="http://schemas.openxmlformats.org/drawingml/2006/main">
            <a:off x="5791200" y="2619375"/>
            <a:ext cx="381000" cy="0"/>
          </a:xfrm>
          <a:prstGeom xmlns:a="http://schemas.openxmlformats.org/drawingml/2006/main" prst="straightConnector1">
            <a:avLst/>
          </a:prstGeom>
          <a:ln xmlns:a="http://schemas.openxmlformats.org/drawingml/2006/main" w="19050">
            <a:solidFill>
              <a:srgbClr val="73BCC8"/>
            </a:solidFill>
            <a:tailEnd type="triangle" w="sm" len="sm"/>
          </a:ln>
        </p:spPr>
      </p:cxnSp>
      <p:sp>
        <p:nvSpPr>
          <p:cNvPr id="15" name="">
            <a:extLst xmlns:a="http://schemas.openxmlformats.org/drawingml/2006/main">
              <a:ext uri="{FF2B5EF4-FFF2-40B4-BE49-F238E27FC236}">
                <a16:creationId xmlns:a16="http://schemas.microsoft.com/office/drawing/2014/main" id="{4B490B59-7BE1-4EDC-9E10-9241700583A5}"/>
              </a:ext>
            </a:extLst>
          </p:cNvPr>
          <p:cNvSpPr>
            <a:spLocks xmlns:a="http://schemas.openxmlformats.org/drawingml/2006/main" noGrp="1"/>
          </p:cNvSpPr>
          <p:nvPr/>
        </p:nvSpPr>
        <p:spPr>
          <a:xfrm xmlns:a="http://schemas.openxmlformats.org/drawingml/2006/main">
            <a:off x="6172200" y="3267075"/>
            <a:ext cx="24003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Review and register</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in the tool catalog</a:t>
            </a:r>
          </a:p>
        </p:txBody>
      </p:sp>
      <p:sp>
        <p:nvSpPr>
          <p:cNvPr id="16" name="">
            <a:extLst xmlns:a="http://schemas.openxmlformats.org/drawingml/2006/main">
              <a:ext uri="{FF2B5EF4-FFF2-40B4-BE49-F238E27FC236}">
                <a16:creationId xmlns:a16="http://schemas.microsoft.com/office/drawing/2014/main" id="{201AE3CA-6A43-4F6B-9EC4-41C8E55E4DA5}"/>
              </a:ext>
            </a:extLst>
          </p:cNvPr>
          <p:cNvSpPr>
            <a:spLocks xmlns:a="http://schemas.openxmlformats.org/drawingml/2006/main" noGrp="1"/>
          </p:cNvSpPr>
          <p:nvPr/>
        </p:nvSpPr>
        <p:spPr>
          <a:xfrm xmlns:a="http://schemas.openxmlformats.org/drawingml/2006/main">
            <a:off x="8953500" y="2286000"/>
            <a:ext cx="2400300" cy="666750"/>
          </a:xfrm>
          <a:prstGeom xmlns:a="http://schemas.openxmlformats.org/drawingml/2006/main" prst="rect">
            <a:avLst/>
          </a:prstGeom>
          <a:noFill xmlns:a="http://schemas.openxmlformats.org/drawingml/2006/main"/>
          <a:ln xmlns:a="http://schemas.openxmlformats.org/drawingml/2006/main" w="19050">
            <a:solidFill>
              <a:srgbClr val="73BCC8"/>
            </a:solidFill>
          </a:ln>
        </p:spPr>
      </p:sp>
      <p:sp>
        <p:nvSpPr>
          <p:cNvPr id="17" name="">
            <a:extLst xmlns:a="http://schemas.openxmlformats.org/drawingml/2006/main">
              <a:ext uri="{FF2B5EF4-FFF2-40B4-BE49-F238E27FC236}">
                <a16:creationId xmlns:a16="http://schemas.microsoft.com/office/drawing/2014/main" id="{5C30AF2F-A3F1-44A1-ADBA-FF402156F805}"/>
              </a:ext>
            </a:extLst>
          </p:cNvPr>
          <p:cNvSpPr>
            <a:spLocks xmlns:a="http://schemas.openxmlformats.org/drawingml/2006/main" noGrp="1"/>
          </p:cNvSpPr>
          <p:nvPr/>
        </p:nvSpPr>
        <p:spPr>
          <a:xfrm xmlns:a="http://schemas.openxmlformats.org/drawingml/2006/main">
            <a:off x="9105900" y="2428875"/>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Nimbus Sans"/>
                <a:ea typeface="Nimbus Sans"/>
                <a:cs typeface="Nimbus Sans"/>
              </a:defRPr>
            </a:pPr>
            <a:r>
              <a:rPr sz="1875" b="1">
                <a:solidFill>
                  <a:srgbClr val="FFFFFF"/>
                </a:solidFill>
                <a:latin typeface="Nimbus Sans"/>
                <a:ea typeface="Nimbus Sans"/>
                <a:cs typeface="Nimbus Sans"/>
              </a:rPr>
              <a:t>4  Grant</a:t>
            </a:r>
          </a:p>
        </p:txBody>
      </p:sp>
      <p:cxnSp>
        <p:nvCxnSpPr>
          <p:cNvPr id="39" name=""/>
          <p:cNvCxnSpPr>
            <a:stCxn xmlns:a="http://schemas.openxmlformats.org/drawingml/2006/main" id="12" idx="3"/>
            <a:endCxn xmlns:a="http://schemas.openxmlformats.org/drawingml/2006/main" id="16" idx="1"/>
          </p:cNvCxnSpPr>
          <p:nvPr/>
        </p:nvCxnSpPr>
        <p:spPr>
          <a:xfrm xmlns:a="http://schemas.openxmlformats.org/drawingml/2006/main">
            <a:off x="8572500" y="2619375"/>
            <a:ext cx="381000" cy="0"/>
          </a:xfrm>
          <a:prstGeom xmlns:a="http://schemas.openxmlformats.org/drawingml/2006/main" prst="straightConnector1">
            <a:avLst/>
          </a:prstGeom>
          <a:ln xmlns:a="http://schemas.openxmlformats.org/drawingml/2006/main" w="19050">
            <a:solidFill>
              <a:srgbClr val="73BCC8"/>
            </a:solidFill>
            <a:tailEnd type="triangle" w="sm" len="sm"/>
          </a:ln>
        </p:spPr>
      </p:cxnSp>
      <p:sp>
        <p:nvSpPr>
          <p:cNvPr id="19" name="">
            <a:extLst xmlns:a="http://schemas.openxmlformats.org/drawingml/2006/main">
              <a:ext uri="{FF2B5EF4-FFF2-40B4-BE49-F238E27FC236}">
                <a16:creationId xmlns:a16="http://schemas.microsoft.com/office/drawing/2014/main" id="{93D225AD-7151-4A13-85C1-93ECB8956862}"/>
              </a:ext>
            </a:extLst>
          </p:cNvPr>
          <p:cNvSpPr>
            <a:spLocks xmlns:a="http://schemas.openxmlformats.org/drawingml/2006/main" noGrp="1"/>
          </p:cNvSpPr>
          <p:nvPr/>
        </p:nvSpPr>
        <p:spPr>
          <a:xfrm xmlns:a="http://schemas.openxmlformats.org/drawingml/2006/main">
            <a:off x="8953500" y="3267075"/>
            <a:ext cx="24003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Make selected tools</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available to projects</a:t>
            </a:r>
          </a:p>
        </p:txBody>
      </p:sp>
      <p:sp>
        <p:nvSpPr>
          <p:cNvPr id="20" name="">
            <a:extLst xmlns:a="http://schemas.openxmlformats.org/drawingml/2006/main">
              <a:ext uri="{FF2B5EF4-FFF2-40B4-BE49-F238E27FC236}">
                <a16:creationId xmlns:a16="http://schemas.microsoft.com/office/drawing/2014/main" id="{674851D0-00CE-4754-9D74-A79BB63955B4}"/>
              </a:ext>
            </a:extLst>
          </p:cNvPr>
          <p:cNvSpPr>
            <a:spLocks xmlns:a="http://schemas.openxmlformats.org/drawingml/2006/main" noGrp="1"/>
          </p:cNvSpPr>
          <p:nvPr/>
        </p:nvSpPr>
        <p:spPr>
          <a:xfrm xmlns:a="http://schemas.openxmlformats.org/drawingml/2006/main">
            <a:off x="609600" y="5038725"/>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3BCC8"/>
                </a:solidFill>
                <a:latin typeface="Nimbus Sans"/>
                <a:ea typeface="Nimbus Sans"/>
                <a:cs typeface="Nimbus Sans"/>
              </a:defRPr>
            </a:pPr>
            <a:r>
              <a:rPr sz="2175" b="1">
                <a:solidFill>
                  <a:srgbClr val="73BCC8"/>
                </a:solidFill>
                <a:latin typeface="Nimbus Sans"/>
                <a:ea typeface="Nimbus Sans"/>
                <a:cs typeface="Nimbus Sans"/>
              </a:rPr>
              <a:t>Platform value</a:t>
            </a:r>
          </a:p>
        </p:txBody>
      </p:sp>
      <p:sp>
        <p:nvSpPr>
          <p:cNvPr id="21" name="">
            <a:extLst xmlns:a="http://schemas.openxmlformats.org/drawingml/2006/main">
              <a:ext uri="{FF2B5EF4-FFF2-40B4-BE49-F238E27FC236}">
                <a16:creationId xmlns:a16="http://schemas.microsoft.com/office/drawing/2014/main" id="{332B86DA-466A-4A72-BFE2-4FC95B1B0AEB}"/>
              </a:ext>
            </a:extLst>
          </p:cNvPr>
          <p:cNvSpPr>
            <a:spLocks xmlns:a="http://schemas.openxmlformats.org/drawingml/2006/main" noGrp="1"/>
          </p:cNvSpPr>
          <p:nvPr/>
        </p:nvSpPr>
        <p:spPr>
          <a:xfrm xmlns:a="http://schemas.openxmlformats.org/drawingml/2006/main">
            <a:off x="609600" y="55626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Reusable integrations reduce repeated setup across agent teams.</a:t>
            </a:r>
          </a:p>
        </p:txBody>
      </p:sp>
    </p:spTree>
    <p:extLst>
      <p:ext uri="{BB962C8B-B14F-4D97-AF65-F5344CB8AC3E}">
        <p14:creationId xmlns:p14="http://schemas.microsoft.com/office/powerpoint/2010/main" val="1302553867"/>
      </p:ext>
    </p:extLst>
  </p:cSld>
</p:sld>
</file>

<file path=ppt/slides/slide6.xml><?xml version="1.0" encoding="utf-8"?>
<p:sld xmlns:p="http://schemas.openxmlformats.org/presentationml/2006/main">
  <p:cSld>
    <p:bg>
      <p:bgPr>
        <a:solidFill xmlns:a="http://schemas.openxmlformats.org/drawingml/2006/main">
          <a:srgbClr val="28343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A13319C-1BDA-4ECD-8E78-09DF1A321CDF}"/>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Nimbus Sans"/>
                <a:ea typeface="Nimbus Sans"/>
                <a:cs typeface="Nimbus Sans"/>
              </a:defRPr>
            </a:pPr>
            <a:r>
              <a:rPr sz="3150" b="1">
                <a:solidFill>
                  <a:srgbClr val="FFFFFF"/>
                </a:solidFill>
                <a:latin typeface="Nimbus Sans"/>
                <a:ea typeface="Nimbus Sans"/>
                <a:cs typeface="Nimbus Sans"/>
              </a:rPr>
              <a:t>Agent development and deployment lifecycle</a:t>
            </a:r>
          </a:p>
        </p:txBody>
      </p:sp>
      <p:sp>
        <p:nvSpPr>
          <p:cNvPr id="2" name="">
            <a:extLst xmlns:a="http://schemas.openxmlformats.org/drawingml/2006/main">
              <a:ext uri="{FF2B5EF4-FFF2-40B4-BE49-F238E27FC236}">
                <a16:creationId xmlns:a16="http://schemas.microsoft.com/office/drawing/2014/main" id="{A81D3319-D184-418A-AE12-AEE115EEA497}"/>
              </a:ext>
            </a:extLst>
          </p:cNvPr>
          <p:cNvSpPr>
            <a:spLocks xmlns:a="http://schemas.openxmlformats.org/drawingml/2006/main" noGrp="1"/>
          </p:cNvSpPr>
          <p:nvPr/>
        </p:nvSpPr>
        <p:spPr>
          <a:xfrm xmlns:a="http://schemas.openxmlformats.org/drawingml/2006/main">
            <a:off x="609600" y="11811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E67B69"/>
                </a:solidFill>
                <a:latin typeface="Nimbus Sans"/>
                <a:ea typeface="Nimbus Sans"/>
                <a:cs typeface="Nimbus Sans"/>
              </a:defRPr>
            </a:pPr>
            <a:r>
              <a:rPr sz="1725" b="0">
                <a:solidFill>
                  <a:srgbClr val="E67B69"/>
                </a:solidFill>
                <a:latin typeface="Nimbus Sans"/>
                <a:ea typeface="Nimbus Sans"/>
                <a:cs typeface="Nimbus Sans"/>
              </a:rPr>
              <a:t>A consistent workflow with ownership and version history</a:t>
            </a:r>
          </a:p>
        </p:txBody>
      </p:sp>
      <p:sp>
        <p:nvSpPr>
          <p:cNvPr id="3" name="">
            <a:extLst xmlns:a="http://schemas.openxmlformats.org/drawingml/2006/main">
              <a:ext uri="{FF2B5EF4-FFF2-40B4-BE49-F238E27FC236}">
                <a16:creationId xmlns:a16="http://schemas.microsoft.com/office/drawing/2014/main" id="{A4473B97-A39D-4339-983F-E1A4D07F473D}"/>
              </a:ext>
            </a:extLst>
          </p:cNvPr>
          <p:cNvSpPr>
            <a:spLocks xmlns:a="http://schemas.openxmlformats.org/drawingml/2006/main" noGrp="1"/>
          </p:cNvSpPr>
          <p:nvPr/>
        </p:nvSpPr>
        <p:spPr>
          <a:xfrm xmlns:a="http://schemas.openxmlformats.org/drawingml/2006/main">
            <a:off x="609600" y="63627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Guardian AI</a:t>
            </a:r>
          </a:p>
        </p:txBody>
      </p:sp>
      <p:sp>
        <p:nvSpPr>
          <p:cNvPr id="4" name="">
            <a:extLst xmlns:a="http://schemas.openxmlformats.org/drawingml/2006/main">
              <a:ext uri="{FF2B5EF4-FFF2-40B4-BE49-F238E27FC236}">
                <a16:creationId xmlns:a16="http://schemas.microsoft.com/office/drawing/2014/main" id="{06106F3A-0EE8-47E3-8363-58DD7B733D78}"/>
              </a:ext>
            </a:extLst>
          </p:cNvPr>
          <p:cNvSpPr>
            <a:spLocks xmlns:a="http://schemas.openxmlformats.org/drawingml/2006/main" noGrp="1"/>
          </p:cNvSpPr>
          <p:nvPr/>
        </p:nvSpPr>
        <p:spPr>
          <a:xfrm xmlns:a="http://schemas.openxmlformats.org/drawingml/2006/main">
            <a:off x="11049000" y="63627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CD5DA"/>
                </a:solidFill>
                <a:latin typeface="Nimbus Sans"/>
                <a:ea typeface="Nimbus Sans"/>
                <a:cs typeface="Nimbus Sans"/>
              </a:defRPr>
            </a:pPr>
            <a:r>
              <a:rPr sz="1275" b="0">
                <a:solidFill>
                  <a:srgbClr val="CCD5DA"/>
                </a:solidFill>
                <a:latin typeface="Nimbus Sans"/>
                <a:ea typeface="Nimbus Sans"/>
                <a:cs typeface="Nimbus Sans"/>
              </a:rPr>
              <a:t>06</a:t>
            </a:r>
          </a:p>
        </p:txBody>
      </p:sp>
      <p:sp>
        <p:nvSpPr>
          <p:cNvPr id="5" name="">
            <a:extLst xmlns:a="http://schemas.openxmlformats.org/drawingml/2006/main">
              <a:ext uri="{FF2B5EF4-FFF2-40B4-BE49-F238E27FC236}">
                <a16:creationId xmlns:a16="http://schemas.microsoft.com/office/drawing/2014/main" id="{E20AA03A-A4D6-40BE-801A-5D59486F9941}"/>
              </a:ext>
            </a:extLst>
          </p:cNvPr>
          <p:cNvSpPr>
            <a:spLocks xmlns:a="http://schemas.openxmlformats.org/drawingml/2006/main" noGrp="1"/>
          </p:cNvSpPr>
          <p:nvPr/>
        </p:nvSpPr>
        <p:spPr>
          <a:xfrm xmlns:a="http://schemas.openxmlformats.org/drawingml/2006/main">
            <a:off x="609600" y="2028825"/>
            <a:ext cx="809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E67B69"/>
                </a:solidFill>
                <a:latin typeface="Nimbus Sans"/>
                <a:ea typeface="Nimbus Sans"/>
                <a:cs typeface="Nimbus Sans"/>
              </a:defRPr>
            </a:pPr>
            <a:r>
              <a:rPr sz="2850" b="1">
                <a:solidFill>
                  <a:srgbClr val="E67B69"/>
                </a:solidFill>
                <a:latin typeface="Nimbus Sans"/>
                <a:ea typeface="Nimbus Sans"/>
                <a:cs typeface="Nimbus Sans"/>
              </a:rPr>
              <a:t>01</a:t>
            </a:r>
          </a:p>
        </p:txBody>
      </p:sp>
      <p:sp>
        <p:nvSpPr>
          <p:cNvPr id="6" name="">
            <a:extLst xmlns:a="http://schemas.openxmlformats.org/drawingml/2006/main">
              <a:ext uri="{FF2B5EF4-FFF2-40B4-BE49-F238E27FC236}">
                <a16:creationId xmlns:a16="http://schemas.microsoft.com/office/drawing/2014/main" id="{64B8DF99-4205-4C1D-8EF2-5893380ACF71}"/>
              </a:ext>
            </a:extLst>
          </p:cNvPr>
          <p:cNvSpPr>
            <a:spLocks xmlns:a="http://schemas.openxmlformats.org/drawingml/2006/main" noGrp="1"/>
          </p:cNvSpPr>
          <p:nvPr/>
        </p:nvSpPr>
        <p:spPr>
          <a:xfrm xmlns:a="http://schemas.openxmlformats.org/drawingml/2006/main">
            <a:off x="609600" y="2600325"/>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3BCC8"/>
                </a:solidFill>
                <a:latin typeface="Nimbus Sans"/>
                <a:ea typeface="Nimbus Sans"/>
                <a:cs typeface="Nimbus Sans"/>
              </a:defRPr>
            </a:pPr>
            <a:r>
              <a:rPr sz="2175" b="1">
                <a:solidFill>
                  <a:srgbClr val="73BCC8"/>
                </a:solidFill>
                <a:latin typeface="Nimbus Sans"/>
                <a:ea typeface="Nimbus Sans"/>
                <a:cs typeface="Nimbus Sans"/>
              </a:rPr>
              <a:t>Configure</a:t>
            </a:r>
          </a:p>
        </p:txBody>
      </p:sp>
      <p:sp>
        <p:nvSpPr>
          <p:cNvPr id="7" name="">
            <a:extLst xmlns:a="http://schemas.openxmlformats.org/drawingml/2006/main">
              <a:ext uri="{FF2B5EF4-FFF2-40B4-BE49-F238E27FC236}">
                <a16:creationId xmlns:a16="http://schemas.microsoft.com/office/drawing/2014/main" id="{0ABFB6F3-1A3C-4CE8-8D91-113E47EDD13F}"/>
              </a:ext>
            </a:extLst>
          </p:cNvPr>
          <p:cNvSpPr>
            <a:spLocks xmlns:a="http://schemas.openxmlformats.org/drawingml/2006/main" noGrp="1"/>
          </p:cNvSpPr>
          <p:nvPr/>
        </p:nvSpPr>
        <p:spPr>
          <a:xfrm xmlns:a="http://schemas.openxmlformats.org/drawingml/2006/main">
            <a:off x="609600" y="319087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Nimbus Sans"/>
                <a:ea typeface="Nimbus Sans"/>
                <a:cs typeface="Nimbus Sans"/>
              </a:defRPr>
            </a:pPr>
            <a:r>
              <a:rPr sz="1875" b="0">
                <a:solidFill>
                  <a:srgbClr val="FFFFFF"/>
                </a:solidFill>
                <a:latin typeface="Nimbus Sans"/>
                <a:ea typeface="Nimbus Sans"/>
                <a:cs typeface="Nimbus Sans"/>
              </a:rPr>
              <a:t>Prompt, model, tools</a:t>
            </a:r>
          </a:p>
        </p:txBody>
      </p:sp>
      <p:sp>
        <p:nvSpPr>
          <p:cNvPr id="8" name="">
            <a:extLst xmlns:a="http://schemas.openxmlformats.org/drawingml/2006/main">
              <a:ext uri="{FF2B5EF4-FFF2-40B4-BE49-F238E27FC236}">
                <a16:creationId xmlns:a16="http://schemas.microsoft.com/office/drawing/2014/main" id="{09A7E3BE-32CB-4392-A42A-D83CC64A82DD}"/>
              </a:ext>
            </a:extLst>
          </p:cNvPr>
          <p:cNvSpPr>
            <a:spLocks xmlns:a="http://schemas.openxmlformats.org/drawingml/2006/main" noGrp="1"/>
          </p:cNvSpPr>
          <p:nvPr/>
        </p:nvSpPr>
        <p:spPr>
          <a:xfrm xmlns:a="http://schemas.openxmlformats.org/drawingml/2006/main">
            <a:off x="4371975" y="2028825"/>
            <a:ext cx="809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E67B69"/>
                </a:solidFill>
                <a:latin typeface="Nimbus Sans"/>
                <a:ea typeface="Nimbus Sans"/>
                <a:cs typeface="Nimbus Sans"/>
              </a:defRPr>
            </a:pPr>
            <a:r>
              <a:rPr sz="2850" b="1">
                <a:solidFill>
                  <a:srgbClr val="E67B69"/>
                </a:solidFill>
                <a:latin typeface="Nimbus Sans"/>
                <a:ea typeface="Nimbus Sans"/>
                <a:cs typeface="Nimbus Sans"/>
              </a:rPr>
              <a:t>02</a:t>
            </a:r>
          </a:p>
        </p:txBody>
      </p:sp>
      <p:sp>
        <p:nvSpPr>
          <p:cNvPr id="9" name="">
            <a:extLst xmlns:a="http://schemas.openxmlformats.org/drawingml/2006/main">
              <a:ext uri="{FF2B5EF4-FFF2-40B4-BE49-F238E27FC236}">
                <a16:creationId xmlns:a16="http://schemas.microsoft.com/office/drawing/2014/main" id="{CB5771DB-7DD5-4738-A29B-3508A8F7B170}"/>
              </a:ext>
            </a:extLst>
          </p:cNvPr>
          <p:cNvSpPr>
            <a:spLocks xmlns:a="http://schemas.openxmlformats.org/drawingml/2006/main" noGrp="1"/>
          </p:cNvSpPr>
          <p:nvPr/>
        </p:nvSpPr>
        <p:spPr>
          <a:xfrm xmlns:a="http://schemas.openxmlformats.org/drawingml/2006/main">
            <a:off x="4371975" y="2600325"/>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3BCC8"/>
                </a:solidFill>
                <a:latin typeface="Nimbus Sans"/>
                <a:ea typeface="Nimbus Sans"/>
                <a:cs typeface="Nimbus Sans"/>
              </a:defRPr>
            </a:pPr>
            <a:r>
              <a:rPr sz="2175" b="1">
                <a:solidFill>
                  <a:srgbClr val="73BCC8"/>
                </a:solidFill>
                <a:latin typeface="Nimbus Sans"/>
                <a:ea typeface="Nimbus Sans"/>
                <a:cs typeface="Nimbus Sans"/>
              </a:rPr>
              <a:t>Register</a:t>
            </a:r>
          </a:p>
        </p:txBody>
      </p:sp>
      <p:sp>
        <p:nvSpPr>
          <p:cNvPr id="10" name="">
            <a:extLst xmlns:a="http://schemas.openxmlformats.org/drawingml/2006/main">
              <a:ext uri="{FF2B5EF4-FFF2-40B4-BE49-F238E27FC236}">
                <a16:creationId xmlns:a16="http://schemas.microsoft.com/office/drawing/2014/main" id="{49F11F9E-307F-49B9-A082-7F36DAD8D2B1}"/>
              </a:ext>
            </a:extLst>
          </p:cNvPr>
          <p:cNvSpPr>
            <a:spLocks xmlns:a="http://schemas.openxmlformats.org/drawingml/2006/main" noGrp="1"/>
          </p:cNvSpPr>
          <p:nvPr/>
        </p:nvSpPr>
        <p:spPr>
          <a:xfrm xmlns:a="http://schemas.openxmlformats.org/drawingml/2006/main">
            <a:off x="4371975" y="319087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Nimbus Sans"/>
                <a:ea typeface="Nimbus Sans"/>
                <a:cs typeface="Nimbus Sans"/>
              </a:defRPr>
            </a:pPr>
            <a:r>
              <a:rPr sz="1875" b="0">
                <a:solidFill>
                  <a:srgbClr val="FFFFFF"/>
                </a:solidFill>
                <a:latin typeface="Nimbus Sans"/>
                <a:ea typeface="Nimbus Sans"/>
                <a:cs typeface="Nimbus Sans"/>
              </a:rPr>
              <a:t>Owner and version</a:t>
            </a:r>
          </a:p>
        </p:txBody>
      </p:sp>
      <p:sp>
        <p:nvSpPr>
          <p:cNvPr id="11" name="">
            <a:extLst xmlns:a="http://schemas.openxmlformats.org/drawingml/2006/main">
              <a:ext uri="{FF2B5EF4-FFF2-40B4-BE49-F238E27FC236}">
                <a16:creationId xmlns:a16="http://schemas.microsoft.com/office/drawing/2014/main" id="{CF97FE0F-4DBD-4410-B4D1-362D3D267109}"/>
              </a:ext>
            </a:extLst>
          </p:cNvPr>
          <p:cNvSpPr>
            <a:spLocks xmlns:a="http://schemas.openxmlformats.org/drawingml/2006/main" noGrp="1"/>
          </p:cNvSpPr>
          <p:nvPr/>
        </p:nvSpPr>
        <p:spPr>
          <a:xfrm xmlns:a="http://schemas.openxmlformats.org/drawingml/2006/main">
            <a:off x="8134350" y="2028825"/>
            <a:ext cx="809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E67B69"/>
                </a:solidFill>
                <a:latin typeface="Nimbus Sans"/>
                <a:ea typeface="Nimbus Sans"/>
                <a:cs typeface="Nimbus Sans"/>
              </a:defRPr>
            </a:pPr>
            <a:r>
              <a:rPr sz="2850" b="1">
                <a:solidFill>
                  <a:srgbClr val="E67B69"/>
                </a:solidFill>
                <a:latin typeface="Nimbus Sans"/>
                <a:ea typeface="Nimbus Sans"/>
                <a:cs typeface="Nimbus Sans"/>
              </a:rPr>
              <a:t>03</a:t>
            </a:r>
          </a:p>
        </p:txBody>
      </p:sp>
      <p:sp>
        <p:nvSpPr>
          <p:cNvPr id="12" name="">
            <a:extLst xmlns:a="http://schemas.openxmlformats.org/drawingml/2006/main">
              <a:ext uri="{FF2B5EF4-FFF2-40B4-BE49-F238E27FC236}">
                <a16:creationId xmlns:a16="http://schemas.microsoft.com/office/drawing/2014/main" id="{5E9BE51D-F21C-472A-857C-1478DFB46427}"/>
              </a:ext>
            </a:extLst>
          </p:cNvPr>
          <p:cNvSpPr>
            <a:spLocks xmlns:a="http://schemas.openxmlformats.org/drawingml/2006/main" noGrp="1"/>
          </p:cNvSpPr>
          <p:nvPr/>
        </p:nvSpPr>
        <p:spPr>
          <a:xfrm xmlns:a="http://schemas.openxmlformats.org/drawingml/2006/main">
            <a:off x="8134350" y="2600325"/>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3BCC8"/>
                </a:solidFill>
                <a:latin typeface="Nimbus Sans"/>
                <a:ea typeface="Nimbus Sans"/>
                <a:cs typeface="Nimbus Sans"/>
              </a:defRPr>
            </a:pPr>
            <a:r>
              <a:rPr sz="2175" b="1">
                <a:solidFill>
                  <a:srgbClr val="73BCC8"/>
                </a:solidFill>
                <a:latin typeface="Nimbus Sans"/>
                <a:ea typeface="Nimbus Sans"/>
                <a:cs typeface="Nimbus Sans"/>
              </a:rPr>
              <a:t>Validate and evaluate</a:t>
            </a:r>
          </a:p>
        </p:txBody>
      </p:sp>
      <p:sp>
        <p:nvSpPr>
          <p:cNvPr id="13" name="">
            <a:extLst xmlns:a="http://schemas.openxmlformats.org/drawingml/2006/main">
              <a:ext uri="{FF2B5EF4-FFF2-40B4-BE49-F238E27FC236}">
                <a16:creationId xmlns:a16="http://schemas.microsoft.com/office/drawing/2014/main" id="{79F6FC0D-692E-467E-B03C-74FB6962CADD}"/>
              </a:ext>
            </a:extLst>
          </p:cNvPr>
          <p:cNvSpPr>
            <a:spLocks xmlns:a="http://schemas.openxmlformats.org/drawingml/2006/main" noGrp="1"/>
          </p:cNvSpPr>
          <p:nvPr/>
        </p:nvSpPr>
        <p:spPr>
          <a:xfrm xmlns:a="http://schemas.openxmlformats.org/drawingml/2006/main">
            <a:off x="8134350" y="319087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Nimbus Sans"/>
                <a:ea typeface="Nimbus Sans"/>
                <a:cs typeface="Nimbus Sans"/>
              </a:defRPr>
            </a:pPr>
            <a:r>
              <a:rPr sz="1875" b="0">
                <a:solidFill>
                  <a:srgbClr val="FFFFFF"/>
                </a:solidFill>
                <a:latin typeface="Nimbus Sans"/>
                <a:ea typeface="Nimbus Sans"/>
                <a:cs typeface="Nimbus Sans"/>
              </a:rPr>
              <a:t>Policy and quality checks</a:t>
            </a:r>
          </a:p>
        </p:txBody>
      </p:sp>
      <p:sp>
        <p:nvSpPr>
          <p:cNvPr id="14" name="">
            <a:extLst xmlns:a="http://schemas.openxmlformats.org/drawingml/2006/main">
              <a:ext uri="{FF2B5EF4-FFF2-40B4-BE49-F238E27FC236}">
                <a16:creationId xmlns:a16="http://schemas.microsoft.com/office/drawing/2014/main" id="{50B1341B-D8F7-4EB0-A38B-1F9DEA0F6101}"/>
              </a:ext>
            </a:extLst>
          </p:cNvPr>
          <p:cNvSpPr>
            <a:spLocks xmlns:a="http://schemas.openxmlformats.org/drawingml/2006/main" noGrp="1"/>
          </p:cNvSpPr>
          <p:nvPr/>
        </p:nvSpPr>
        <p:spPr>
          <a:xfrm xmlns:a="http://schemas.openxmlformats.org/drawingml/2006/main">
            <a:off x="609600" y="3971925"/>
            <a:ext cx="809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E67B69"/>
                </a:solidFill>
                <a:latin typeface="Nimbus Sans"/>
                <a:ea typeface="Nimbus Sans"/>
                <a:cs typeface="Nimbus Sans"/>
              </a:defRPr>
            </a:pPr>
            <a:r>
              <a:rPr sz="2850" b="1">
                <a:solidFill>
                  <a:srgbClr val="E67B69"/>
                </a:solidFill>
                <a:latin typeface="Nimbus Sans"/>
                <a:ea typeface="Nimbus Sans"/>
                <a:cs typeface="Nimbus Sans"/>
              </a:rPr>
              <a:t>04</a:t>
            </a:r>
          </a:p>
        </p:txBody>
      </p:sp>
      <p:sp>
        <p:nvSpPr>
          <p:cNvPr id="15" name="">
            <a:extLst xmlns:a="http://schemas.openxmlformats.org/drawingml/2006/main">
              <a:ext uri="{FF2B5EF4-FFF2-40B4-BE49-F238E27FC236}">
                <a16:creationId xmlns:a16="http://schemas.microsoft.com/office/drawing/2014/main" id="{67175CC7-5EE7-4E78-8AD1-8BB868E99E11}"/>
              </a:ext>
            </a:extLst>
          </p:cNvPr>
          <p:cNvSpPr>
            <a:spLocks xmlns:a="http://schemas.openxmlformats.org/drawingml/2006/main" noGrp="1"/>
          </p:cNvSpPr>
          <p:nvPr/>
        </p:nvSpPr>
        <p:spPr>
          <a:xfrm xmlns:a="http://schemas.openxmlformats.org/drawingml/2006/main">
            <a:off x="609600" y="4543425"/>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3BCC8"/>
                </a:solidFill>
                <a:latin typeface="Nimbus Sans"/>
                <a:ea typeface="Nimbus Sans"/>
                <a:cs typeface="Nimbus Sans"/>
              </a:defRPr>
            </a:pPr>
            <a:r>
              <a:rPr sz="2175" b="1">
                <a:solidFill>
                  <a:srgbClr val="73BCC8"/>
                </a:solidFill>
                <a:latin typeface="Nimbus Sans"/>
                <a:ea typeface="Nimbus Sans"/>
                <a:cs typeface="Nimbus Sans"/>
              </a:rPr>
              <a:t>Approve</a:t>
            </a:r>
          </a:p>
        </p:txBody>
      </p:sp>
      <p:sp>
        <p:nvSpPr>
          <p:cNvPr id="16" name="">
            <a:extLst xmlns:a="http://schemas.openxmlformats.org/drawingml/2006/main">
              <a:ext uri="{FF2B5EF4-FFF2-40B4-BE49-F238E27FC236}">
                <a16:creationId xmlns:a16="http://schemas.microsoft.com/office/drawing/2014/main" id="{0E7237F7-F929-4683-999E-C1C01C26A18E}"/>
              </a:ext>
            </a:extLst>
          </p:cNvPr>
          <p:cNvSpPr>
            <a:spLocks xmlns:a="http://schemas.openxmlformats.org/drawingml/2006/main" noGrp="1"/>
          </p:cNvSpPr>
          <p:nvPr/>
        </p:nvSpPr>
        <p:spPr>
          <a:xfrm xmlns:a="http://schemas.openxmlformats.org/drawingml/2006/main">
            <a:off x="609600" y="513397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Nimbus Sans"/>
                <a:ea typeface="Nimbus Sans"/>
                <a:cs typeface="Nimbus Sans"/>
              </a:defRPr>
            </a:pPr>
            <a:r>
              <a:rPr sz="1875" b="0">
                <a:solidFill>
                  <a:srgbClr val="FFFFFF"/>
                </a:solidFill>
                <a:latin typeface="Nimbus Sans"/>
                <a:ea typeface="Nimbus Sans"/>
                <a:cs typeface="Nimbus Sans"/>
              </a:rPr>
              <a:t>Business and platform review</a:t>
            </a:r>
          </a:p>
        </p:txBody>
      </p:sp>
      <p:sp>
        <p:nvSpPr>
          <p:cNvPr id="17" name="">
            <a:extLst xmlns:a="http://schemas.openxmlformats.org/drawingml/2006/main">
              <a:ext uri="{FF2B5EF4-FFF2-40B4-BE49-F238E27FC236}">
                <a16:creationId xmlns:a16="http://schemas.microsoft.com/office/drawing/2014/main" id="{AAF6C192-6B15-40B6-A96B-39E7D2C51B76}"/>
              </a:ext>
            </a:extLst>
          </p:cNvPr>
          <p:cNvSpPr>
            <a:spLocks xmlns:a="http://schemas.openxmlformats.org/drawingml/2006/main" noGrp="1"/>
          </p:cNvSpPr>
          <p:nvPr/>
        </p:nvSpPr>
        <p:spPr>
          <a:xfrm xmlns:a="http://schemas.openxmlformats.org/drawingml/2006/main">
            <a:off x="4371975" y="3971925"/>
            <a:ext cx="809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E67B69"/>
                </a:solidFill>
                <a:latin typeface="Nimbus Sans"/>
                <a:ea typeface="Nimbus Sans"/>
                <a:cs typeface="Nimbus Sans"/>
              </a:defRPr>
            </a:pPr>
            <a:r>
              <a:rPr sz="2850" b="1">
                <a:solidFill>
                  <a:srgbClr val="E67B69"/>
                </a:solidFill>
                <a:latin typeface="Nimbus Sans"/>
                <a:ea typeface="Nimbus Sans"/>
                <a:cs typeface="Nimbus Sans"/>
              </a:rPr>
              <a:t>05</a:t>
            </a:r>
          </a:p>
        </p:txBody>
      </p:sp>
      <p:sp>
        <p:nvSpPr>
          <p:cNvPr id="18" name="">
            <a:extLst xmlns:a="http://schemas.openxmlformats.org/drawingml/2006/main">
              <a:ext uri="{FF2B5EF4-FFF2-40B4-BE49-F238E27FC236}">
                <a16:creationId xmlns:a16="http://schemas.microsoft.com/office/drawing/2014/main" id="{B420005B-670D-4BBF-880D-89F20BDCBB6B}"/>
              </a:ext>
            </a:extLst>
          </p:cNvPr>
          <p:cNvSpPr>
            <a:spLocks xmlns:a="http://schemas.openxmlformats.org/drawingml/2006/main" noGrp="1"/>
          </p:cNvSpPr>
          <p:nvPr/>
        </p:nvSpPr>
        <p:spPr>
          <a:xfrm xmlns:a="http://schemas.openxmlformats.org/drawingml/2006/main">
            <a:off x="4371975" y="4543425"/>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3BCC8"/>
                </a:solidFill>
                <a:latin typeface="Nimbus Sans"/>
                <a:ea typeface="Nimbus Sans"/>
                <a:cs typeface="Nimbus Sans"/>
              </a:defRPr>
            </a:pPr>
            <a:r>
              <a:rPr sz="2175" b="1">
                <a:solidFill>
                  <a:srgbClr val="73BCC8"/>
                </a:solidFill>
                <a:latin typeface="Nimbus Sans"/>
                <a:ea typeface="Nimbus Sans"/>
                <a:cs typeface="Nimbus Sans"/>
              </a:rPr>
              <a:t>Deploy</a:t>
            </a:r>
          </a:p>
        </p:txBody>
      </p:sp>
      <p:sp>
        <p:nvSpPr>
          <p:cNvPr id="19" name="">
            <a:extLst xmlns:a="http://schemas.openxmlformats.org/drawingml/2006/main">
              <a:ext uri="{FF2B5EF4-FFF2-40B4-BE49-F238E27FC236}">
                <a16:creationId xmlns:a16="http://schemas.microsoft.com/office/drawing/2014/main" id="{868F8A90-18E3-4B46-A97D-ABE5539C1D15}"/>
              </a:ext>
            </a:extLst>
          </p:cNvPr>
          <p:cNvSpPr>
            <a:spLocks xmlns:a="http://schemas.openxmlformats.org/drawingml/2006/main" noGrp="1"/>
          </p:cNvSpPr>
          <p:nvPr/>
        </p:nvSpPr>
        <p:spPr>
          <a:xfrm xmlns:a="http://schemas.openxmlformats.org/drawingml/2006/main">
            <a:off x="4371975" y="513397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Nimbus Sans"/>
                <a:ea typeface="Nimbus Sans"/>
                <a:cs typeface="Nimbus Sans"/>
              </a:defRPr>
            </a:pPr>
            <a:r>
              <a:rPr sz="1875" b="0">
                <a:solidFill>
                  <a:srgbClr val="FFFFFF"/>
                </a:solidFill>
                <a:latin typeface="Nimbus Sans"/>
                <a:ea typeface="Nimbus Sans"/>
                <a:cs typeface="Nimbus Sans"/>
              </a:rPr>
              <a:t>Approved runtime configuration</a:t>
            </a:r>
          </a:p>
        </p:txBody>
      </p:sp>
      <p:sp>
        <p:nvSpPr>
          <p:cNvPr id="20" name="">
            <a:extLst xmlns:a="http://schemas.openxmlformats.org/drawingml/2006/main">
              <a:ext uri="{FF2B5EF4-FFF2-40B4-BE49-F238E27FC236}">
                <a16:creationId xmlns:a16="http://schemas.microsoft.com/office/drawing/2014/main" id="{5F7F018C-6F95-4C3E-9A6F-AED4082E2C02}"/>
              </a:ext>
            </a:extLst>
          </p:cNvPr>
          <p:cNvSpPr>
            <a:spLocks xmlns:a="http://schemas.openxmlformats.org/drawingml/2006/main" noGrp="1"/>
          </p:cNvSpPr>
          <p:nvPr/>
        </p:nvSpPr>
        <p:spPr>
          <a:xfrm xmlns:a="http://schemas.openxmlformats.org/drawingml/2006/main">
            <a:off x="8134350" y="3971925"/>
            <a:ext cx="809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E67B69"/>
                </a:solidFill>
                <a:latin typeface="Nimbus Sans"/>
                <a:ea typeface="Nimbus Sans"/>
                <a:cs typeface="Nimbus Sans"/>
              </a:defRPr>
            </a:pPr>
            <a:r>
              <a:rPr sz="2850" b="1">
                <a:solidFill>
                  <a:srgbClr val="E67B69"/>
                </a:solidFill>
                <a:latin typeface="Nimbus Sans"/>
                <a:ea typeface="Nimbus Sans"/>
                <a:cs typeface="Nimbus Sans"/>
              </a:rPr>
              <a:t>06</a:t>
            </a:r>
          </a:p>
        </p:txBody>
      </p:sp>
      <p:sp>
        <p:nvSpPr>
          <p:cNvPr id="21" name="">
            <a:extLst xmlns:a="http://schemas.openxmlformats.org/drawingml/2006/main">
              <a:ext uri="{FF2B5EF4-FFF2-40B4-BE49-F238E27FC236}">
                <a16:creationId xmlns:a16="http://schemas.microsoft.com/office/drawing/2014/main" id="{8BC0A4E1-20D6-49BF-95F5-F02475EC7A91}"/>
              </a:ext>
            </a:extLst>
          </p:cNvPr>
          <p:cNvSpPr>
            <a:spLocks xmlns:a="http://schemas.openxmlformats.org/drawingml/2006/main" noGrp="1"/>
          </p:cNvSpPr>
          <p:nvPr/>
        </p:nvSpPr>
        <p:spPr>
          <a:xfrm xmlns:a="http://schemas.openxmlformats.org/drawingml/2006/main">
            <a:off x="8134350" y="4543425"/>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3BCC8"/>
                </a:solidFill>
                <a:latin typeface="Nimbus Sans"/>
                <a:ea typeface="Nimbus Sans"/>
                <a:cs typeface="Nimbus Sans"/>
              </a:defRPr>
            </a:pPr>
            <a:r>
              <a:rPr sz="2175" b="1">
                <a:solidFill>
                  <a:srgbClr val="73BCC8"/>
                </a:solidFill>
                <a:latin typeface="Nimbus Sans"/>
                <a:ea typeface="Nimbus Sans"/>
                <a:cs typeface="Nimbus Sans"/>
              </a:rPr>
              <a:t>Test and observe</a:t>
            </a:r>
          </a:p>
        </p:txBody>
      </p:sp>
      <p:sp>
        <p:nvSpPr>
          <p:cNvPr id="22" name="">
            <a:extLst xmlns:a="http://schemas.openxmlformats.org/drawingml/2006/main">
              <a:ext uri="{FF2B5EF4-FFF2-40B4-BE49-F238E27FC236}">
                <a16:creationId xmlns:a16="http://schemas.microsoft.com/office/drawing/2014/main" id="{BA0E5568-EA7C-4338-92B7-3AF4B3FC3258}"/>
              </a:ext>
            </a:extLst>
          </p:cNvPr>
          <p:cNvSpPr>
            <a:spLocks xmlns:a="http://schemas.openxmlformats.org/drawingml/2006/main" noGrp="1"/>
          </p:cNvSpPr>
          <p:nvPr/>
        </p:nvSpPr>
        <p:spPr>
          <a:xfrm xmlns:a="http://schemas.openxmlformats.org/drawingml/2006/main">
            <a:off x="8134350" y="513397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Nimbus Sans"/>
                <a:ea typeface="Nimbus Sans"/>
                <a:cs typeface="Nimbus Sans"/>
              </a:defRPr>
            </a:pPr>
            <a:r>
              <a:rPr sz="1875" b="0">
                <a:solidFill>
                  <a:srgbClr val="FFFFFF"/>
                </a:solidFill>
                <a:latin typeface="Nimbus Sans"/>
                <a:ea typeface="Nimbus Sans"/>
                <a:cs typeface="Nimbus Sans"/>
              </a:rPr>
              <a:t>Runs, traces, and outcomes</a:t>
            </a:r>
          </a:p>
        </p:txBody>
      </p:sp>
    </p:spTree>
    <p:extLst>
      <p:ext uri="{BB962C8B-B14F-4D97-AF65-F5344CB8AC3E}">
        <p14:creationId xmlns:p14="http://schemas.microsoft.com/office/powerpoint/2010/main" val="1244255280"/>
      </p:ext>
    </p:extLst>
  </p:cSld>
</p:sld>
</file>

<file path=ppt/slides/slide7.xml><?xml version="1.0" encoding="utf-8"?>
<p:sld xmlns:p="http://schemas.openxmlformats.org/presentationml/2006/main">
  <p:cSld>
    <p:bg>
      <p:bgPr>
        <a:solidFill xmlns:a="http://schemas.openxmlformats.org/drawingml/2006/main">
          <a:srgbClr val="28343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A4AF282-8E59-4E68-A99B-EA50924865B5}"/>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Nimbus Sans"/>
                <a:ea typeface="Nimbus Sans"/>
                <a:cs typeface="Nimbus Sans"/>
              </a:defRPr>
            </a:pPr>
            <a:r>
              <a:rPr sz="3150" b="1">
                <a:solidFill>
                  <a:srgbClr val="FFFFFF"/>
                </a:solidFill>
                <a:latin typeface="Nimbus Sans"/>
                <a:ea typeface="Nimbus Sans"/>
                <a:cs typeface="Nimbus Sans"/>
              </a:rPr>
              <a:t>Control Plane and Execution Plane</a:t>
            </a:r>
          </a:p>
        </p:txBody>
      </p:sp>
      <p:sp>
        <p:nvSpPr>
          <p:cNvPr id="2" name="">
            <a:extLst xmlns:a="http://schemas.openxmlformats.org/drawingml/2006/main">
              <a:ext uri="{FF2B5EF4-FFF2-40B4-BE49-F238E27FC236}">
                <a16:creationId xmlns:a16="http://schemas.microsoft.com/office/drawing/2014/main" id="{78FF40DE-D025-4FED-A146-209FF115136A}"/>
              </a:ext>
            </a:extLst>
          </p:cNvPr>
          <p:cNvSpPr>
            <a:spLocks xmlns:a="http://schemas.openxmlformats.org/drawingml/2006/main" noGrp="1"/>
          </p:cNvSpPr>
          <p:nvPr/>
        </p:nvSpPr>
        <p:spPr>
          <a:xfrm xmlns:a="http://schemas.openxmlformats.org/drawingml/2006/main">
            <a:off x="609600" y="11811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E67B69"/>
                </a:solidFill>
                <a:latin typeface="Nimbus Sans"/>
                <a:ea typeface="Nimbus Sans"/>
                <a:cs typeface="Nimbus Sans"/>
              </a:defRPr>
            </a:pPr>
            <a:r>
              <a:rPr sz="1725" b="0">
                <a:solidFill>
                  <a:srgbClr val="E67B69"/>
                </a:solidFill>
                <a:latin typeface="Nimbus Sans"/>
                <a:ea typeface="Nimbus Sans"/>
                <a:cs typeface="Nimbus Sans"/>
              </a:rPr>
              <a:t>Guardian coordinates governance. Runtime components enforce execution controls.</a:t>
            </a:r>
          </a:p>
        </p:txBody>
      </p:sp>
      <p:sp>
        <p:nvSpPr>
          <p:cNvPr id="3" name="">
            <a:extLst xmlns:a="http://schemas.openxmlformats.org/drawingml/2006/main">
              <a:ext uri="{FF2B5EF4-FFF2-40B4-BE49-F238E27FC236}">
                <a16:creationId xmlns:a16="http://schemas.microsoft.com/office/drawing/2014/main" id="{A2EBB815-F64E-42D4-BF25-1C6B09C83FAA}"/>
              </a:ext>
            </a:extLst>
          </p:cNvPr>
          <p:cNvSpPr>
            <a:spLocks xmlns:a="http://schemas.openxmlformats.org/drawingml/2006/main" noGrp="1"/>
          </p:cNvSpPr>
          <p:nvPr/>
        </p:nvSpPr>
        <p:spPr>
          <a:xfrm xmlns:a="http://schemas.openxmlformats.org/drawingml/2006/main">
            <a:off x="609600" y="63627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Guardian AI</a:t>
            </a:r>
          </a:p>
        </p:txBody>
      </p:sp>
      <p:sp>
        <p:nvSpPr>
          <p:cNvPr id="4" name="">
            <a:extLst xmlns:a="http://schemas.openxmlformats.org/drawingml/2006/main">
              <a:ext uri="{FF2B5EF4-FFF2-40B4-BE49-F238E27FC236}">
                <a16:creationId xmlns:a16="http://schemas.microsoft.com/office/drawing/2014/main" id="{9E28CF27-E7C1-4E7D-B799-CAA580F6CF83}"/>
              </a:ext>
            </a:extLst>
          </p:cNvPr>
          <p:cNvSpPr>
            <a:spLocks xmlns:a="http://schemas.openxmlformats.org/drawingml/2006/main" noGrp="1"/>
          </p:cNvSpPr>
          <p:nvPr/>
        </p:nvSpPr>
        <p:spPr>
          <a:xfrm xmlns:a="http://schemas.openxmlformats.org/drawingml/2006/main">
            <a:off x="11049000" y="63627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CD5DA"/>
                </a:solidFill>
                <a:latin typeface="Nimbus Sans"/>
                <a:ea typeface="Nimbus Sans"/>
                <a:cs typeface="Nimbus Sans"/>
              </a:defRPr>
            </a:pPr>
            <a:r>
              <a:rPr sz="1275" b="0">
                <a:solidFill>
                  <a:srgbClr val="CCD5DA"/>
                </a:solidFill>
                <a:latin typeface="Nimbus Sans"/>
                <a:ea typeface="Nimbus Sans"/>
                <a:cs typeface="Nimbus Sans"/>
              </a:rPr>
              <a:t>07</a:t>
            </a:r>
          </a:p>
        </p:txBody>
      </p:sp>
      <p:sp>
        <p:nvSpPr>
          <p:cNvPr id="5" name="">
            <a:extLst xmlns:a="http://schemas.openxmlformats.org/drawingml/2006/main">
              <a:ext uri="{FF2B5EF4-FFF2-40B4-BE49-F238E27FC236}">
                <a16:creationId xmlns:a16="http://schemas.microsoft.com/office/drawing/2014/main" id="{1B3EF065-3AFB-4AF0-9C95-0F369403EC64}"/>
              </a:ext>
            </a:extLst>
          </p:cNvPr>
          <p:cNvSpPr>
            <a:spLocks xmlns:a="http://schemas.openxmlformats.org/drawingml/2006/main" noGrp="1"/>
          </p:cNvSpPr>
          <p:nvPr/>
        </p:nvSpPr>
        <p:spPr>
          <a:xfrm xmlns:a="http://schemas.openxmlformats.org/drawingml/2006/main">
            <a:off x="609600" y="2028825"/>
            <a:ext cx="5095875" cy="647700"/>
          </a:xfrm>
          <a:prstGeom xmlns:a="http://schemas.openxmlformats.org/drawingml/2006/main" prst="rect">
            <a:avLst/>
          </a:prstGeom>
          <a:noFill xmlns:a="http://schemas.openxmlformats.org/drawingml/2006/main"/>
          <a:ln xmlns:a="http://schemas.openxmlformats.org/drawingml/2006/main" w="19050">
            <a:solidFill>
              <a:srgbClr val="73BCC8"/>
            </a:solidFill>
          </a:ln>
        </p:spPr>
      </p:sp>
      <p:sp>
        <p:nvSpPr>
          <p:cNvPr id="6" name="">
            <a:extLst xmlns:a="http://schemas.openxmlformats.org/drawingml/2006/main">
              <a:ext uri="{FF2B5EF4-FFF2-40B4-BE49-F238E27FC236}">
                <a16:creationId xmlns:a16="http://schemas.microsoft.com/office/drawing/2014/main" id="{14B60AE9-4E85-4C7E-8061-F54E05B35D02}"/>
              </a:ext>
            </a:extLst>
          </p:cNvPr>
          <p:cNvSpPr>
            <a:spLocks xmlns:a="http://schemas.openxmlformats.org/drawingml/2006/main" noGrp="1"/>
          </p:cNvSpPr>
          <p:nvPr/>
        </p:nvSpPr>
        <p:spPr>
          <a:xfrm xmlns:a="http://schemas.openxmlformats.org/drawingml/2006/main">
            <a:off x="762000" y="2171700"/>
            <a:ext cx="4791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Nimbus Sans"/>
                <a:ea typeface="Nimbus Sans"/>
                <a:cs typeface="Nimbus Sans"/>
              </a:defRPr>
            </a:pPr>
            <a:r>
              <a:rPr sz="1875" b="1">
                <a:solidFill>
                  <a:srgbClr val="FFFFFF"/>
                </a:solidFill>
                <a:latin typeface="Nimbus Sans"/>
                <a:ea typeface="Nimbus Sans"/>
                <a:cs typeface="Nimbus Sans"/>
              </a:rPr>
              <a:t>Guardian Control Plane</a:t>
            </a:r>
          </a:p>
        </p:txBody>
      </p:sp>
      <p:sp>
        <p:nvSpPr>
          <p:cNvPr id="7" name="">
            <a:extLst xmlns:a="http://schemas.openxmlformats.org/drawingml/2006/main">
              <a:ext uri="{FF2B5EF4-FFF2-40B4-BE49-F238E27FC236}">
                <a16:creationId xmlns:a16="http://schemas.microsoft.com/office/drawing/2014/main" id="{641CEDD0-2C46-47AC-AD2C-3AF83A35FBED}"/>
              </a:ext>
            </a:extLst>
          </p:cNvPr>
          <p:cNvSpPr>
            <a:spLocks xmlns:a="http://schemas.openxmlformats.org/drawingml/2006/main" noGrp="1"/>
          </p:cNvSpPr>
          <p:nvPr/>
        </p:nvSpPr>
        <p:spPr>
          <a:xfrm xmlns:a="http://schemas.openxmlformats.org/drawingml/2006/main">
            <a:off x="6486525" y="2028825"/>
            <a:ext cx="5095875" cy="647700"/>
          </a:xfrm>
          <a:prstGeom xmlns:a="http://schemas.openxmlformats.org/drawingml/2006/main" prst="rect">
            <a:avLst/>
          </a:prstGeom>
          <a:noFill xmlns:a="http://schemas.openxmlformats.org/drawingml/2006/main"/>
          <a:ln xmlns:a="http://schemas.openxmlformats.org/drawingml/2006/main" w="19050">
            <a:solidFill>
              <a:srgbClr val="73BCC8"/>
            </a:solidFill>
          </a:ln>
        </p:spPr>
      </p:sp>
      <p:sp>
        <p:nvSpPr>
          <p:cNvPr id="8" name="">
            <a:extLst xmlns:a="http://schemas.openxmlformats.org/drawingml/2006/main">
              <a:ext uri="{FF2B5EF4-FFF2-40B4-BE49-F238E27FC236}">
                <a16:creationId xmlns:a16="http://schemas.microsoft.com/office/drawing/2014/main" id="{4EA7BDC0-B120-43F8-8E6B-1859D21A8537}"/>
              </a:ext>
            </a:extLst>
          </p:cNvPr>
          <p:cNvSpPr>
            <a:spLocks xmlns:a="http://schemas.openxmlformats.org/drawingml/2006/main" noGrp="1"/>
          </p:cNvSpPr>
          <p:nvPr/>
        </p:nvSpPr>
        <p:spPr>
          <a:xfrm xmlns:a="http://schemas.openxmlformats.org/drawingml/2006/main">
            <a:off x="6638925" y="2171700"/>
            <a:ext cx="4791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Nimbus Sans"/>
                <a:ea typeface="Nimbus Sans"/>
                <a:cs typeface="Nimbus Sans"/>
              </a:defRPr>
            </a:pPr>
            <a:r>
              <a:rPr sz="1875" b="1">
                <a:solidFill>
                  <a:srgbClr val="FFFFFF"/>
                </a:solidFill>
                <a:latin typeface="Nimbus Sans"/>
                <a:ea typeface="Nimbus Sans"/>
                <a:cs typeface="Nimbus Sans"/>
              </a:rPr>
              <a:t>AWS Execution Plane</a:t>
            </a:r>
          </a:p>
        </p:txBody>
      </p:sp>
      <p:sp>
        <p:nvSpPr>
          <p:cNvPr id="9" name="">
            <a:extLst xmlns:a="http://schemas.openxmlformats.org/drawingml/2006/main">
              <a:ext uri="{FF2B5EF4-FFF2-40B4-BE49-F238E27FC236}">
                <a16:creationId xmlns:a16="http://schemas.microsoft.com/office/drawing/2014/main" id="{789882FF-7AAB-4291-9A36-1954A5F8282C}"/>
              </a:ext>
            </a:extLst>
          </p:cNvPr>
          <p:cNvSpPr>
            <a:spLocks xmlns:a="http://schemas.openxmlformats.org/drawingml/2006/main" noGrp="1"/>
          </p:cNvSpPr>
          <p:nvPr/>
        </p:nvSpPr>
        <p:spPr>
          <a:xfrm xmlns:a="http://schemas.openxmlformats.org/drawingml/2006/main">
            <a:off x="762000" y="2943225"/>
            <a:ext cx="4762500"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Nimbus Sans"/>
                <a:ea typeface="Nimbus Sans"/>
                <a:cs typeface="Nimbus Sans"/>
              </a:defRPr>
            </a:pPr>
            <a:r>
              <a:rPr sz="2100" b="0">
                <a:solidFill>
                  <a:srgbClr val="FFFFFF"/>
                </a:solidFill>
                <a:latin typeface="Nimbus Sans"/>
                <a:ea typeface="Nimbus Sans"/>
                <a:cs typeface="Nimbus Sans"/>
              </a:rPr>
              <a:t>UI and backend API</a:t>
            </a:r>
          </a:p>
          <a:p xmlns:a="http://schemas.openxmlformats.org/drawingml/2006/main">
            <a:pPr>
              <a:defRPr sz="2100" b="0">
                <a:solidFill>
                  <a:srgbClr val="FFFFFF"/>
                </a:solidFill>
                <a:latin typeface="Nimbus Sans"/>
                <a:ea typeface="Nimbus Sans"/>
                <a:cs typeface="Nimbus Sans"/>
              </a:defRPr>
            </a:pPr>
            <a:r>
              <a:rPr sz="2100" b="0">
                <a:solidFill>
                  <a:srgbClr val="FFFFFF"/>
                </a:solidFill>
                <a:latin typeface="Nimbus Sans"/>
                <a:ea typeface="Nimbus Sans"/>
                <a:cs typeface="Nimbus Sans"/>
              </a:rPr>
              <a:t>Organization and project registry</a:t>
            </a:r>
          </a:p>
          <a:p xmlns:a="http://schemas.openxmlformats.org/drawingml/2006/main">
            <a:pPr>
              <a:defRPr sz="2100" b="0">
                <a:solidFill>
                  <a:srgbClr val="FFFFFF"/>
                </a:solidFill>
                <a:latin typeface="Nimbus Sans"/>
                <a:ea typeface="Nimbus Sans"/>
                <a:cs typeface="Nimbus Sans"/>
              </a:defRPr>
            </a:pPr>
            <a:r>
              <a:rPr sz="2100" b="0">
                <a:solidFill>
                  <a:srgbClr val="FFFFFF"/>
                </a:solidFill>
                <a:latin typeface="Nimbus Sans"/>
                <a:ea typeface="Nimbus Sans"/>
                <a:cs typeface="Nimbus Sans"/>
              </a:rPr>
              <a:t>Access and approval orchestration</a:t>
            </a:r>
          </a:p>
          <a:p xmlns:a="http://schemas.openxmlformats.org/drawingml/2006/main">
            <a:pPr>
              <a:defRPr sz="2100" b="0">
                <a:solidFill>
                  <a:srgbClr val="FFFFFF"/>
                </a:solidFill>
                <a:latin typeface="Nimbus Sans"/>
                <a:ea typeface="Nimbus Sans"/>
                <a:cs typeface="Nimbus Sans"/>
              </a:defRPr>
            </a:pPr>
            <a:r>
              <a:rPr sz="2100" b="0">
                <a:solidFill>
                  <a:srgbClr val="FFFFFF"/>
                </a:solidFill>
                <a:latin typeface="Nimbus Sans"/>
                <a:ea typeface="Nimbus Sans"/>
                <a:cs typeface="Nimbus Sans"/>
              </a:rPr>
              <a:t>Deployment coordination</a:t>
            </a:r>
          </a:p>
        </p:txBody>
      </p:sp>
      <p:sp>
        <p:nvSpPr>
          <p:cNvPr id="10" name="">
            <a:extLst xmlns:a="http://schemas.openxmlformats.org/drawingml/2006/main">
              <a:ext uri="{FF2B5EF4-FFF2-40B4-BE49-F238E27FC236}">
                <a16:creationId xmlns:a16="http://schemas.microsoft.com/office/drawing/2014/main" id="{FBFFE16E-472B-4F92-8811-795B67D10424}"/>
              </a:ext>
            </a:extLst>
          </p:cNvPr>
          <p:cNvSpPr>
            <a:spLocks xmlns:a="http://schemas.openxmlformats.org/drawingml/2006/main" noGrp="1"/>
          </p:cNvSpPr>
          <p:nvPr/>
        </p:nvSpPr>
        <p:spPr>
          <a:xfrm xmlns:a="http://schemas.openxmlformats.org/drawingml/2006/main">
            <a:off x="6638925" y="2943225"/>
            <a:ext cx="4762500"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Nimbus Sans"/>
                <a:ea typeface="Nimbus Sans"/>
                <a:cs typeface="Nimbus Sans"/>
              </a:defRPr>
            </a:pPr>
            <a:r>
              <a:rPr sz="2100" b="0">
                <a:solidFill>
                  <a:srgbClr val="FFFFFF"/>
                </a:solidFill>
                <a:latin typeface="Nimbus Sans"/>
                <a:ea typeface="Nimbus Sans"/>
                <a:cs typeface="Nimbus Sans"/>
              </a:rPr>
              <a:t>Agent harness and hosting runtime</a:t>
            </a:r>
          </a:p>
          <a:p xmlns:a="http://schemas.openxmlformats.org/drawingml/2006/main">
            <a:pPr>
              <a:defRPr sz="2100" b="0">
                <a:solidFill>
                  <a:srgbClr val="FFFFFF"/>
                </a:solidFill>
                <a:latin typeface="Nimbus Sans"/>
                <a:ea typeface="Nimbus Sans"/>
                <a:cs typeface="Nimbus Sans"/>
              </a:defRPr>
            </a:pPr>
            <a:r>
              <a:rPr sz="2100" b="0">
                <a:solidFill>
                  <a:srgbClr val="FFFFFF"/>
                </a:solidFill>
                <a:latin typeface="Nimbus Sans"/>
                <a:ea typeface="Nimbus Sans"/>
                <a:cs typeface="Nimbus Sans"/>
              </a:rPr>
              <a:t>Amazon Bedrock model access</a:t>
            </a:r>
          </a:p>
          <a:p xmlns:a="http://schemas.openxmlformats.org/drawingml/2006/main">
            <a:pPr>
              <a:defRPr sz="2100" b="0">
                <a:solidFill>
                  <a:srgbClr val="FFFFFF"/>
                </a:solidFill>
                <a:latin typeface="Nimbus Sans"/>
                <a:ea typeface="Nimbus Sans"/>
                <a:cs typeface="Nimbus Sans"/>
              </a:defRPr>
            </a:pPr>
            <a:r>
              <a:rPr sz="2100" b="0">
                <a:solidFill>
                  <a:srgbClr val="FFFFFF"/>
                </a:solidFill>
                <a:latin typeface="Nimbus Sans"/>
                <a:ea typeface="Nimbus Sans"/>
                <a:cs typeface="Nimbus Sans"/>
              </a:rPr>
              <a:t>AgentCore Gateway tool access</a:t>
            </a:r>
          </a:p>
          <a:p xmlns:a="http://schemas.openxmlformats.org/drawingml/2006/main">
            <a:pPr>
              <a:defRPr sz="2100" b="0">
                <a:solidFill>
                  <a:srgbClr val="FFFFFF"/>
                </a:solidFill>
                <a:latin typeface="Nimbus Sans"/>
                <a:ea typeface="Nimbus Sans"/>
                <a:cs typeface="Nimbus Sans"/>
              </a:defRPr>
            </a:pPr>
            <a:r>
              <a:rPr sz="2100" b="0">
                <a:solidFill>
                  <a:srgbClr val="FFFFFF"/>
                </a:solidFill>
                <a:latin typeface="Nimbus Sans"/>
                <a:ea typeface="Nimbus Sans"/>
                <a:cs typeface="Nimbus Sans"/>
              </a:rPr>
              <a:t>Runtime enforcement and telemetry</a:t>
            </a:r>
          </a:p>
        </p:txBody>
      </p:sp>
      <p:sp>
        <p:nvSpPr>
          <p:cNvPr id="11" name="">
            <a:extLst xmlns:a="http://schemas.openxmlformats.org/drawingml/2006/main">
              <a:ext uri="{FF2B5EF4-FFF2-40B4-BE49-F238E27FC236}">
                <a16:creationId xmlns:a16="http://schemas.microsoft.com/office/drawing/2014/main" id="{5DF167CD-5763-401F-B18D-E6B8E742249F}"/>
              </a:ext>
            </a:extLst>
          </p:cNvPr>
          <p:cNvSpPr>
            <a:spLocks xmlns:a="http://schemas.openxmlformats.org/drawingml/2006/main" noGrp="1"/>
          </p:cNvSpPr>
          <p:nvPr/>
        </p:nvSpPr>
        <p:spPr>
          <a:xfrm xmlns:a="http://schemas.openxmlformats.org/drawingml/2006/main">
            <a:off x="609600" y="5429250"/>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73BCC8"/>
                </a:solidFill>
                <a:latin typeface="Nimbus Sans"/>
                <a:ea typeface="Nimbus Sans"/>
                <a:cs typeface="Nimbus Sans"/>
              </a:defRPr>
            </a:pPr>
            <a:r>
              <a:rPr sz="1725" b="0">
                <a:solidFill>
                  <a:srgbClr val="73BCC8"/>
                </a:solidFill>
                <a:latin typeface="Nimbus Sans"/>
                <a:ea typeface="Nimbus Sans"/>
                <a:cs typeface="Nimbus Sans"/>
              </a:rPr>
              <a:t>Approved configuration and deployment requests</a:t>
            </a:r>
          </a:p>
        </p:txBody>
      </p:sp>
      <p:sp>
        <p:nvSpPr>
          <p:cNvPr id="12" name="">
            <a:extLst xmlns:a="http://schemas.openxmlformats.org/drawingml/2006/main">
              <a:ext uri="{FF2B5EF4-FFF2-40B4-BE49-F238E27FC236}">
                <a16:creationId xmlns:a16="http://schemas.microsoft.com/office/drawing/2014/main" id="{ED21BB5D-C0DF-427C-BC59-4C4D98E48F4D}"/>
              </a:ext>
            </a:extLst>
          </p:cNvPr>
          <p:cNvSpPr>
            <a:spLocks xmlns:a="http://schemas.openxmlformats.org/drawingml/2006/main" noGrp="1"/>
          </p:cNvSpPr>
          <p:nvPr/>
        </p:nvSpPr>
        <p:spPr>
          <a:xfrm xmlns:a="http://schemas.openxmlformats.org/drawingml/2006/main">
            <a:off x="6486525" y="54292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73BCC8"/>
                </a:solidFill>
                <a:latin typeface="Nimbus Sans"/>
                <a:ea typeface="Nimbus Sans"/>
                <a:cs typeface="Nimbus Sans"/>
              </a:defRPr>
            </a:pPr>
            <a:r>
              <a:rPr sz="1725" b="0">
                <a:solidFill>
                  <a:srgbClr val="73BCC8"/>
                </a:solidFill>
                <a:latin typeface="Nimbus Sans"/>
                <a:ea typeface="Nimbus Sans"/>
                <a:cs typeface="Nimbus Sans"/>
              </a:rPr>
              <a:t>Run status, traces, and usage evidence</a:t>
            </a:r>
          </a:p>
        </p:txBody>
      </p:sp>
      <p:cxnSp>
        <p:nvCxnSpPr>
          <p:cNvPr id="26" name=""/>
          <p:cNvCxnSpPr>
            <a:stCxn xmlns:a="http://schemas.openxmlformats.org/drawingml/2006/main" id="5" idx="3"/>
            <a:endCxn xmlns:a="http://schemas.openxmlformats.org/drawingml/2006/main" id="7" idx="1"/>
          </p:cNvCxnSpPr>
          <p:nvPr/>
        </p:nvCxnSpPr>
        <p:spPr>
          <a:xfrm xmlns:a="http://schemas.openxmlformats.org/drawingml/2006/main">
            <a:off x="5705475" y="2352675"/>
            <a:ext cx="781050" cy="0"/>
          </a:xfrm>
          <a:prstGeom xmlns:a="http://schemas.openxmlformats.org/drawingml/2006/main" prst="straightConnector1">
            <a:avLst/>
          </a:prstGeom>
          <a:ln xmlns:a="http://schemas.openxmlformats.org/drawingml/2006/main" w="19050">
            <a:solidFill>
              <a:srgbClr val="73BCC8"/>
            </a:solidFill>
            <a:tailEnd type="triangle" w="sm" len="sm"/>
          </a:ln>
        </p:spPr>
      </p:cxnSp>
    </p:spTree>
    <p:extLst>
      <p:ext uri="{BB962C8B-B14F-4D97-AF65-F5344CB8AC3E}">
        <p14:creationId xmlns:p14="http://schemas.microsoft.com/office/powerpoint/2010/main" val="1643013580"/>
      </p:ext>
    </p:extLst>
  </p:cSld>
</p:sld>
</file>

<file path=ppt/slides/slide8.xml><?xml version="1.0" encoding="utf-8"?>
<p:sld xmlns:p="http://schemas.openxmlformats.org/presentationml/2006/main">
  <p:cSld>
    <p:bg>
      <p:bgPr>
        <a:solidFill xmlns:a="http://schemas.openxmlformats.org/drawingml/2006/main">
          <a:srgbClr val="28343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92783A8-EE43-4621-8017-8CFC5D09AEF3}"/>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Nimbus Sans"/>
                <a:ea typeface="Nimbus Sans"/>
                <a:cs typeface="Nimbus Sans"/>
              </a:defRPr>
            </a:pPr>
            <a:r>
              <a:rPr sz="3150" b="1">
                <a:solidFill>
                  <a:srgbClr val="FFFFFF"/>
                </a:solidFill>
                <a:latin typeface="Nimbus Sans"/>
                <a:ea typeface="Nimbus Sans"/>
                <a:cs typeface="Nimbus Sans"/>
              </a:rPr>
              <a:t>Governance throughout the lifecycle</a:t>
            </a:r>
          </a:p>
        </p:txBody>
      </p:sp>
      <p:sp>
        <p:nvSpPr>
          <p:cNvPr id="2" name="">
            <a:extLst xmlns:a="http://schemas.openxmlformats.org/drawingml/2006/main">
              <a:ext uri="{FF2B5EF4-FFF2-40B4-BE49-F238E27FC236}">
                <a16:creationId xmlns:a16="http://schemas.microsoft.com/office/drawing/2014/main" id="{6819E0FB-4FD9-462C-8FFA-CFF7EC615D2A}"/>
              </a:ext>
            </a:extLst>
          </p:cNvPr>
          <p:cNvSpPr>
            <a:spLocks xmlns:a="http://schemas.openxmlformats.org/drawingml/2006/main" noGrp="1"/>
          </p:cNvSpPr>
          <p:nvPr/>
        </p:nvSpPr>
        <p:spPr>
          <a:xfrm xmlns:a="http://schemas.openxmlformats.org/drawingml/2006/main">
            <a:off x="609600" y="11811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E67B69"/>
                </a:solidFill>
                <a:latin typeface="Nimbus Sans"/>
                <a:ea typeface="Nimbus Sans"/>
                <a:cs typeface="Nimbus Sans"/>
              </a:defRPr>
            </a:pPr>
            <a:r>
              <a:rPr sz="1725" b="0">
                <a:solidFill>
                  <a:srgbClr val="E67B69"/>
                </a:solidFill>
                <a:latin typeface="Nimbus Sans"/>
                <a:ea typeface="Nimbus Sans"/>
                <a:cs typeface="Nimbus Sans"/>
              </a:rPr>
              <a:t>Control objectives for platform-managed agent workloads</a:t>
            </a:r>
          </a:p>
        </p:txBody>
      </p:sp>
      <p:sp>
        <p:nvSpPr>
          <p:cNvPr id="3" name="">
            <a:extLst xmlns:a="http://schemas.openxmlformats.org/drawingml/2006/main">
              <a:ext uri="{FF2B5EF4-FFF2-40B4-BE49-F238E27FC236}">
                <a16:creationId xmlns:a16="http://schemas.microsoft.com/office/drawing/2014/main" id="{3621C2E7-F4F2-47FF-ACD7-A970AF29A3E9}"/>
              </a:ext>
            </a:extLst>
          </p:cNvPr>
          <p:cNvSpPr>
            <a:spLocks xmlns:a="http://schemas.openxmlformats.org/drawingml/2006/main" noGrp="1"/>
          </p:cNvSpPr>
          <p:nvPr/>
        </p:nvSpPr>
        <p:spPr>
          <a:xfrm xmlns:a="http://schemas.openxmlformats.org/drawingml/2006/main">
            <a:off x="609600" y="63627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Guardian AI</a:t>
            </a:r>
          </a:p>
        </p:txBody>
      </p:sp>
      <p:sp>
        <p:nvSpPr>
          <p:cNvPr id="4" name="">
            <a:extLst xmlns:a="http://schemas.openxmlformats.org/drawingml/2006/main">
              <a:ext uri="{FF2B5EF4-FFF2-40B4-BE49-F238E27FC236}">
                <a16:creationId xmlns:a16="http://schemas.microsoft.com/office/drawing/2014/main" id="{6EB50597-7775-47B2-A60B-03F5FA063BDB}"/>
              </a:ext>
            </a:extLst>
          </p:cNvPr>
          <p:cNvSpPr>
            <a:spLocks xmlns:a="http://schemas.openxmlformats.org/drawingml/2006/main" noGrp="1"/>
          </p:cNvSpPr>
          <p:nvPr/>
        </p:nvSpPr>
        <p:spPr>
          <a:xfrm xmlns:a="http://schemas.openxmlformats.org/drawingml/2006/main">
            <a:off x="11049000" y="63627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CD5DA"/>
                </a:solidFill>
                <a:latin typeface="Nimbus Sans"/>
                <a:ea typeface="Nimbus Sans"/>
                <a:cs typeface="Nimbus Sans"/>
              </a:defRPr>
            </a:pPr>
            <a:r>
              <a:rPr sz="1275" b="0">
                <a:solidFill>
                  <a:srgbClr val="CCD5DA"/>
                </a:solidFill>
                <a:latin typeface="Nimbus Sans"/>
                <a:ea typeface="Nimbus Sans"/>
                <a:cs typeface="Nimbus Sans"/>
              </a:rPr>
              <a:t>08</a:t>
            </a:r>
          </a:p>
        </p:txBody>
      </p:sp>
      <p:sp>
        <p:nvSpPr>
          <p:cNvPr id="5" name="">
            <a:extLst xmlns:a="http://schemas.openxmlformats.org/drawingml/2006/main">
              <a:ext uri="{FF2B5EF4-FFF2-40B4-BE49-F238E27FC236}">
                <a16:creationId xmlns:a16="http://schemas.microsoft.com/office/drawing/2014/main" id="{556B2BB4-B6C1-41EA-95FC-F25469F56043}"/>
              </a:ext>
            </a:extLst>
          </p:cNvPr>
          <p:cNvSpPr>
            <a:spLocks xmlns:a="http://schemas.openxmlformats.org/drawingml/2006/main" noGrp="1"/>
          </p:cNvSpPr>
          <p:nvPr/>
        </p:nvSpPr>
        <p:spPr>
          <a:xfrm xmlns:a="http://schemas.openxmlformats.org/drawingml/2006/main">
            <a:off x="609600" y="2133600"/>
            <a:ext cx="5219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3BCC8"/>
                </a:solidFill>
                <a:latin typeface="Nimbus Sans"/>
                <a:ea typeface="Nimbus Sans"/>
                <a:cs typeface="Nimbus Sans"/>
              </a:defRPr>
            </a:pPr>
            <a:r>
              <a:rPr sz="2175" b="1">
                <a:solidFill>
                  <a:srgbClr val="73BCC8"/>
                </a:solidFill>
                <a:latin typeface="Nimbus Sans"/>
                <a:ea typeface="Nimbus Sans"/>
                <a:cs typeface="Nimbus Sans"/>
              </a:rPr>
              <a:t>Before deployment</a:t>
            </a:r>
          </a:p>
        </p:txBody>
      </p:sp>
      <p:sp>
        <p:nvSpPr>
          <p:cNvPr id="6" name="">
            <a:extLst xmlns:a="http://schemas.openxmlformats.org/drawingml/2006/main">
              <a:ext uri="{FF2B5EF4-FFF2-40B4-BE49-F238E27FC236}">
                <a16:creationId xmlns:a16="http://schemas.microsoft.com/office/drawing/2014/main" id="{6771F2BC-86B9-41D6-B0C6-B5215FB86EF6}"/>
              </a:ext>
            </a:extLst>
          </p:cNvPr>
          <p:cNvSpPr>
            <a:spLocks xmlns:a="http://schemas.openxmlformats.org/drawingml/2006/main" noGrp="1"/>
          </p:cNvSpPr>
          <p:nvPr/>
        </p:nvSpPr>
        <p:spPr>
          <a:xfrm xmlns:a="http://schemas.openxmlformats.org/drawingml/2006/main">
            <a:off x="609600" y="2876550"/>
            <a:ext cx="521970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Record owner and version.</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Grant approved tools.</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Validate configuration.</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Evaluate and obtain approval.</a:t>
            </a:r>
          </a:p>
        </p:txBody>
      </p:sp>
      <p:sp>
        <p:nvSpPr>
          <p:cNvPr id="7" name="">
            <a:extLst xmlns:a="http://schemas.openxmlformats.org/drawingml/2006/main">
              <a:ext uri="{FF2B5EF4-FFF2-40B4-BE49-F238E27FC236}">
                <a16:creationId xmlns:a16="http://schemas.microsoft.com/office/drawing/2014/main" id="{63D9107E-5FDC-4DDB-9732-D79053BA8656}"/>
              </a:ext>
            </a:extLst>
          </p:cNvPr>
          <p:cNvSpPr>
            <a:spLocks xmlns:a="http://schemas.openxmlformats.org/drawingml/2006/main" noGrp="1"/>
          </p:cNvSpPr>
          <p:nvPr/>
        </p:nvSpPr>
        <p:spPr>
          <a:xfrm xmlns:a="http://schemas.openxmlformats.org/drawingml/2006/main">
            <a:off x="6096000" y="2133600"/>
            <a:ext cx="5219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3BCC8"/>
                </a:solidFill>
                <a:latin typeface="Nimbus Sans"/>
                <a:ea typeface="Nimbus Sans"/>
                <a:cs typeface="Nimbus Sans"/>
              </a:defRPr>
            </a:pPr>
            <a:r>
              <a:rPr sz="2175" b="1">
                <a:solidFill>
                  <a:srgbClr val="73BCC8"/>
                </a:solidFill>
                <a:latin typeface="Nimbus Sans"/>
                <a:ea typeface="Nimbus Sans"/>
                <a:cs typeface="Nimbus Sans"/>
              </a:rPr>
              <a:t>During execution</a:t>
            </a:r>
          </a:p>
        </p:txBody>
      </p:sp>
      <p:sp>
        <p:nvSpPr>
          <p:cNvPr id="8" name="">
            <a:extLst xmlns:a="http://schemas.openxmlformats.org/drawingml/2006/main">
              <a:ext uri="{FF2B5EF4-FFF2-40B4-BE49-F238E27FC236}">
                <a16:creationId xmlns:a16="http://schemas.microsoft.com/office/drawing/2014/main" id="{44362F9D-18FA-49D6-B311-4BB924CC2A7C}"/>
              </a:ext>
            </a:extLst>
          </p:cNvPr>
          <p:cNvSpPr>
            <a:spLocks xmlns:a="http://schemas.openxmlformats.org/drawingml/2006/main" noGrp="1"/>
          </p:cNvSpPr>
          <p:nvPr/>
        </p:nvSpPr>
        <p:spPr>
          <a:xfrm xmlns:a="http://schemas.openxmlformats.org/drawingml/2006/main">
            <a:off x="6096000" y="2876550"/>
            <a:ext cx="521970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Authenticate the caller.</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Authorize tool access.</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Resolve managed secrets.</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Capture trace context.</a:t>
            </a:r>
          </a:p>
        </p:txBody>
      </p:sp>
      <p:sp>
        <p:nvSpPr>
          <p:cNvPr id="9" name="">
            <a:extLst xmlns:a="http://schemas.openxmlformats.org/drawingml/2006/main">
              <a:ext uri="{FF2B5EF4-FFF2-40B4-BE49-F238E27FC236}">
                <a16:creationId xmlns:a16="http://schemas.microsoft.com/office/drawing/2014/main" id="{8D1610AF-DF00-430E-A767-09CAF5C37C6D}"/>
              </a:ext>
            </a:extLst>
          </p:cNvPr>
          <p:cNvSpPr>
            <a:spLocks xmlns:a="http://schemas.openxmlformats.org/drawingml/2006/main" noGrp="1"/>
          </p:cNvSpPr>
          <p:nvPr/>
        </p:nvSpPr>
        <p:spPr>
          <a:xfrm xmlns:a="http://schemas.openxmlformats.org/drawingml/2006/main">
            <a:off x="609600" y="5657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CCD5DA"/>
                </a:solidFill>
                <a:latin typeface="Nimbus Sans"/>
                <a:ea typeface="Nimbus Sans"/>
                <a:cs typeface="Nimbus Sans"/>
              </a:defRPr>
            </a:pPr>
            <a:r>
              <a:rPr sz="1950" b="0">
                <a:solidFill>
                  <a:srgbClr val="CCD5DA"/>
                </a:solidFill>
                <a:latin typeface="Nimbus Sans"/>
                <a:ea typeface="Nimbus Sans"/>
                <a:cs typeface="Nimbus Sans"/>
              </a:rPr>
              <a:t>Enterprise identity integration and runtime policies support these controls.</a:t>
            </a:r>
          </a:p>
        </p:txBody>
      </p:sp>
    </p:spTree>
    <p:extLst>
      <p:ext uri="{BB962C8B-B14F-4D97-AF65-F5344CB8AC3E}">
        <p14:creationId xmlns:p14="http://schemas.microsoft.com/office/powerpoint/2010/main" val="1513260003"/>
      </p:ext>
    </p:extLst>
  </p:cSld>
</p:sld>
</file>

<file path=ppt/slides/slide9.xml><?xml version="1.0" encoding="utf-8"?>
<p:sld xmlns:p="http://schemas.openxmlformats.org/presentationml/2006/main">
  <p:cSld>
    <p:bg>
      <p:bgPr>
        <a:solidFill xmlns:a="http://schemas.openxmlformats.org/drawingml/2006/main">
          <a:srgbClr val="28343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5094AA-CE3E-4BD3-B495-66AA16F2B770}"/>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Nimbus Sans"/>
                <a:ea typeface="Nimbus Sans"/>
                <a:cs typeface="Nimbus Sans"/>
              </a:defRPr>
            </a:pPr>
            <a:r>
              <a:rPr sz="3150" b="1">
                <a:solidFill>
                  <a:srgbClr val="FFFFFF"/>
                </a:solidFill>
                <a:latin typeface="Nimbus Sans"/>
                <a:ea typeface="Nimbus Sans"/>
                <a:cs typeface="Nimbus Sans"/>
              </a:rPr>
              <a:t>Guardian AI application walkthrough</a:t>
            </a:r>
          </a:p>
        </p:txBody>
      </p:sp>
      <p:sp>
        <p:nvSpPr>
          <p:cNvPr id="2" name="">
            <a:extLst xmlns:a="http://schemas.openxmlformats.org/drawingml/2006/main">
              <a:ext uri="{FF2B5EF4-FFF2-40B4-BE49-F238E27FC236}">
                <a16:creationId xmlns:a16="http://schemas.microsoft.com/office/drawing/2014/main" id="{B7E29EEC-E9B1-45FF-AADC-9C854E91D206}"/>
              </a:ext>
            </a:extLst>
          </p:cNvPr>
          <p:cNvSpPr>
            <a:spLocks xmlns:a="http://schemas.openxmlformats.org/drawingml/2006/main" noGrp="1"/>
          </p:cNvSpPr>
          <p:nvPr/>
        </p:nvSpPr>
        <p:spPr>
          <a:xfrm xmlns:a="http://schemas.openxmlformats.org/drawingml/2006/main">
            <a:off x="609600" y="11811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E67B69"/>
                </a:solidFill>
                <a:latin typeface="Nimbus Sans"/>
                <a:ea typeface="Nimbus Sans"/>
                <a:cs typeface="Nimbus Sans"/>
              </a:defRPr>
            </a:pPr>
            <a:r>
              <a:rPr sz="1725" b="0">
                <a:solidFill>
                  <a:srgbClr val="E67B69"/>
                </a:solidFill>
                <a:latin typeface="Nimbus Sans"/>
                <a:ea typeface="Nimbus Sans"/>
                <a:cs typeface="Nimbus Sans"/>
              </a:rPr>
              <a:t>Follow one example agent through the enterprise workflow</a:t>
            </a:r>
          </a:p>
        </p:txBody>
      </p:sp>
      <p:sp>
        <p:nvSpPr>
          <p:cNvPr id="3" name="">
            <a:extLst xmlns:a="http://schemas.openxmlformats.org/drawingml/2006/main">
              <a:ext uri="{FF2B5EF4-FFF2-40B4-BE49-F238E27FC236}">
                <a16:creationId xmlns:a16="http://schemas.microsoft.com/office/drawing/2014/main" id="{E6867D50-5C11-4598-A31F-F830B927D756}"/>
              </a:ext>
            </a:extLst>
          </p:cNvPr>
          <p:cNvSpPr>
            <a:spLocks xmlns:a="http://schemas.openxmlformats.org/drawingml/2006/main" noGrp="1"/>
          </p:cNvSpPr>
          <p:nvPr/>
        </p:nvSpPr>
        <p:spPr>
          <a:xfrm xmlns:a="http://schemas.openxmlformats.org/drawingml/2006/main">
            <a:off x="609600" y="63627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Guardian AI</a:t>
            </a:r>
          </a:p>
        </p:txBody>
      </p:sp>
      <p:sp>
        <p:nvSpPr>
          <p:cNvPr id="4" name="">
            <a:extLst xmlns:a="http://schemas.openxmlformats.org/drawingml/2006/main">
              <a:ext uri="{FF2B5EF4-FFF2-40B4-BE49-F238E27FC236}">
                <a16:creationId xmlns:a16="http://schemas.microsoft.com/office/drawing/2014/main" id="{F8E02636-E18A-4133-BBFE-016D4597BF33}"/>
              </a:ext>
            </a:extLst>
          </p:cNvPr>
          <p:cNvSpPr>
            <a:spLocks xmlns:a="http://schemas.openxmlformats.org/drawingml/2006/main" noGrp="1"/>
          </p:cNvSpPr>
          <p:nvPr/>
        </p:nvSpPr>
        <p:spPr>
          <a:xfrm xmlns:a="http://schemas.openxmlformats.org/drawingml/2006/main">
            <a:off x="11049000" y="63627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CD5DA"/>
                </a:solidFill>
                <a:latin typeface="Nimbus Sans"/>
                <a:ea typeface="Nimbus Sans"/>
                <a:cs typeface="Nimbus Sans"/>
              </a:defRPr>
            </a:pPr>
            <a:r>
              <a:rPr sz="1275" b="0">
                <a:solidFill>
                  <a:srgbClr val="CCD5DA"/>
                </a:solidFill>
                <a:latin typeface="Nimbus Sans"/>
                <a:ea typeface="Nimbus Sans"/>
                <a:cs typeface="Nimbus Sans"/>
              </a:rPr>
              <a:t>09</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d92066355fa419a"/>
          <a:stretch xmlns:a="http://schemas.openxmlformats.org/drawingml/2006/main"/>
        </p:blipFill>
        <p:spPr>
          <a:xfrm xmlns:a="http://schemas.openxmlformats.org/drawingml/2006/main">
            <a:off x="1269775" y="1943100"/>
            <a:ext cx="3375476" cy="39433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384F0FB-CFCF-4123-B485-F64A86CC0C45}"/>
              </a:ext>
            </a:extLst>
          </p:cNvPr>
          <p:cNvSpPr>
            <a:spLocks xmlns:a="http://schemas.openxmlformats.org/drawingml/2006/main" noGrp="1"/>
          </p:cNvSpPr>
          <p:nvPr/>
        </p:nvSpPr>
        <p:spPr>
          <a:xfrm xmlns:a="http://schemas.openxmlformats.org/drawingml/2006/main">
            <a:off x="5829300" y="2000250"/>
            <a:ext cx="571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73BCC8"/>
                </a:solidFill>
                <a:latin typeface="Nimbus Sans"/>
                <a:ea typeface="Nimbus Sans"/>
                <a:cs typeface="Nimbus Sans"/>
              </a:defRPr>
            </a:pPr>
            <a:r>
              <a:rPr sz="2250" b="1">
                <a:solidFill>
                  <a:srgbClr val="73BCC8"/>
                </a:solidFill>
                <a:latin typeface="Nimbus Sans"/>
                <a:ea typeface="Nimbus Sans"/>
                <a:cs typeface="Nimbus Sans"/>
              </a:rPr>
              <a:t>Example: internal knowledge assistant</a:t>
            </a:r>
          </a:p>
        </p:txBody>
      </p:sp>
      <p:sp>
        <p:nvSpPr>
          <p:cNvPr id="7" name="">
            <a:extLst xmlns:a="http://schemas.openxmlformats.org/drawingml/2006/main">
              <a:ext uri="{FF2B5EF4-FFF2-40B4-BE49-F238E27FC236}">
                <a16:creationId xmlns:a16="http://schemas.microsoft.com/office/drawing/2014/main" id="{5C1DB36B-E01A-4816-8DDF-0043BE2DFB9D}"/>
              </a:ext>
            </a:extLst>
          </p:cNvPr>
          <p:cNvSpPr>
            <a:spLocks xmlns:a="http://schemas.openxmlformats.org/drawingml/2006/main" noGrp="1"/>
          </p:cNvSpPr>
          <p:nvPr/>
        </p:nvSpPr>
        <p:spPr>
          <a:xfrm xmlns:a="http://schemas.openxmlformats.org/drawingml/2006/main">
            <a:off x="5829300" y="2933700"/>
            <a:ext cx="57531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Nimbus Sans"/>
                <a:ea typeface="Nimbus Sans"/>
                <a:cs typeface="Nimbus Sans"/>
              </a:defRPr>
            </a:pPr>
            <a:r>
              <a:rPr sz="2100" b="0">
                <a:solidFill>
                  <a:srgbClr val="FFFFFF"/>
                </a:solidFill>
                <a:latin typeface="Nimbus Sans"/>
                <a:ea typeface="Nimbus Sans"/>
                <a:cs typeface="Nimbus Sans"/>
              </a:rPr>
              <a:t>1. Select organization and project</a:t>
            </a:r>
          </a:p>
          <a:p xmlns:a="http://schemas.openxmlformats.org/drawingml/2006/main">
            <a:pPr>
              <a:defRPr sz="2100" b="0">
                <a:solidFill>
                  <a:srgbClr val="FFFFFF"/>
                </a:solidFill>
                <a:latin typeface="Nimbus Sans"/>
                <a:ea typeface="Nimbus Sans"/>
                <a:cs typeface="Nimbus Sans"/>
              </a:defRPr>
            </a:pPr>
            <a:r>
              <a:rPr sz="2100" b="0">
                <a:solidFill>
                  <a:srgbClr val="FFFFFF"/>
                </a:solidFill>
                <a:latin typeface="Nimbus Sans"/>
                <a:ea typeface="Nimbus Sans"/>
                <a:cs typeface="Nimbus Sans"/>
              </a:rPr>
              <a:t>2. Choose a granted knowledge tool</a:t>
            </a:r>
          </a:p>
          <a:p xmlns:a="http://schemas.openxmlformats.org/drawingml/2006/main">
            <a:pPr>
              <a:defRPr sz="2100" b="0">
                <a:solidFill>
                  <a:srgbClr val="FFFFFF"/>
                </a:solidFill>
                <a:latin typeface="Nimbus Sans"/>
                <a:ea typeface="Nimbus Sans"/>
                <a:cs typeface="Nimbus Sans"/>
              </a:defRPr>
            </a:pPr>
            <a:r>
              <a:rPr sz="2100" b="0">
                <a:solidFill>
                  <a:srgbClr val="FFFFFF"/>
                </a:solidFill>
                <a:latin typeface="Nimbus Sans"/>
                <a:ea typeface="Nimbus Sans"/>
                <a:cs typeface="Nimbus Sans"/>
              </a:rPr>
              <a:t>3. Configure the agent and submit</a:t>
            </a:r>
          </a:p>
          <a:p xmlns:a="http://schemas.openxmlformats.org/drawingml/2006/main">
            <a:pPr>
              <a:defRPr sz="2100" b="0">
                <a:solidFill>
                  <a:srgbClr val="FFFFFF"/>
                </a:solidFill>
                <a:latin typeface="Nimbus Sans"/>
                <a:ea typeface="Nimbus Sans"/>
                <a:cs typeface="Nimbus Sans"/>
              </a:defRPr>
            </a:pPr>
            <a:r>
              <a:rPr sz="2100" b="0">
                <a:solidFill>
                  <a:srgbClr val="FFFFFF"/>
                </a:solidFill>
                <a:latin typeface="Nimbus Sans"/>
                <a:ea typeface="Nimbus Sans"/>
                <a:cs typeface="Nimbus Sans"/>
              </a:rPr>
              <a:t>4. Review the approval decision</a:t>
            </a:r>
          </a:p>
          <a:p xmlns:a="http://schemas.openxmlformats.org/drawingml/2006/main">
            <a:pPr>
              <a:defRPr sz="2100" b="0">
                <a:solidFill>
                  <a:srgbClr val="FFFFFF"/>
                </a:solidFill>
                <a:latin typeface="Nimbus Sans"/>
                <a:ea typeface="Nimbus Sans"/>
                <a:cs typeface="Nimbus Sans"/>
              </a:defRPr>
            </a:pPr>
            <a:r>
              <a:rPr sz="2100" b="0">
                <a:solidFill>
                  <a:srgbClr val="FFFFFF"/>
                </a:solidFill>
                <a:latin typeface="Nimbus Sans"/>
                <a:ea typeface="Nimbus Sans"/>
                <a:cs typeface="Nimbus Sans"/>
              </a:rPr>
              <a:t>5. Deploy and inspect a test run</a:t>
            </a:r>
          </a:p>
        </p:txBody>
      </p:sp>
      <p:sp>
        <p:nvSpPr>
          <p:cNvPr id="8" name="">
            <a:extLst xmlns:a="http://schemas.openxmlformats.org/drawingml/2006/main">
              <a:ext uri="{FF2B5EF4-FFF2-40B4-BE49-F238E27FC236}">
                <a16:creationId xmlns:a16="http://schemas.microsoft.com/office/drawing/2014/main" id="{3E962C5B-6B20-488D-B396-3D2A9AC2AC7B}"/>
              </a:ext>
            </a:extLst>
          </p:cNvPr>
          <p:cNvSpPr>
            <a:spLocks xmlns:a="http://schemas.openxmlformats.org/drawingml/2006/main" noGrp="1"/>
          </p:cNvSpPr>
          <p:nvPr/>
        </p:nvSpPr>
        <p:spPr>
          <a:xfrm xmlns:a="http://schemas.openxmlformats.org/drawingml/2006/main">
            <a:off x="5829300" y="5562600"/>
            <a:ext cx="571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CCD5DA"/>
                </a:solidFill>
                <a:latin typeface="Nimbus Sans"/>
                <a:ea typeface="Nimbus Sans"/>
                <a:cs typeface="Nimbus Sans"/>
              </a:defRPr>
            </a:pPr>
            <a:r>
              <a:rPr sz="1575" b="0">
                <a:solidFill>
                  <a:srgbClr val="CCD5DA"/>
                </a:solidFill>
                <a:latin typeface="Nimbus Sans"/>
                <a:ea typeface="Nimbus Sans"/>
                <a:cs typeface="Nimbus Sans"/>
              </a:rPr>
              <a:t>Illustrative demo journey</a:t>
            </a:r>
          </a:p>
        </p:txBody>
      </p:sp>
    </p:spTree>
    <p:extLst>
      <p:ext uri="{BB962C8B-B14F-4D97-AF65-F5344CB8AC3E}">
        <p14:creationId xmlns:p14="http://schemas.microsoft.com/office/powerpoint/2010/main" val="1974382235"/>
      </p:ext>
    </p:extLst>
  </p:cSld>
</p:sld>
</file>

<file path=ppt/slides/slide10.xml><?xml version="1.0" encoding="utf-8"?>
<p:sld xmlns:p="http://schemas.openxmlformats.org/presentationml/2006/main">
  <p:cSld>
    <p:bg>
      <p:bgPr>
        <a:solidFill xmlns:a="http://schemas.openxmlformats.org/drawingml/2006/main">
          <a:srgbClr val="28343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B25387B-C78C-4EEE-B1CF-5F91CF0D8F61}"/>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Nimbus Sans"/>
                <a:ea typeface="Nimbus Sans"/>
                <a:cs typeface="Nimbus Sans"/>
              </a:defRPr>
            </a:pPr>
            <a:r>
              <a:rPr sz="3150" b="1">
                <a:solidFill>
                  <a:srgbClr val="FFFFFF"/>
                </a:solidFill>
                <a:latin typeface="Nimbus Sans"/>
                <a:ea typeface="Nimbus Sans"/>
                <a:cs typeface="Nimbus Sans"/>
              </a:rPr>
              <a:t>Operational visibility and accountability</a:t>
            </a:r>
          </a:p>
        </p:txBody>
      </p:sp>
      <p:sp>
        <p:nvSpPr>
          <p:cNvPr id="2" name="">
            <a:extLst xmlns:a="http://schemas.openxmlformats.org/drawingml/2006/main">
              <a:ext uri="{FF2B5EF4-FFF2-40B4-BE49-F238E27FC236}">
                <a16:creationId xmlns:a16="http://schemas.microsoft.com/office/drawing/2014/main" id="{6B8E9E63-4647-4456-904C-6B876C3EECFA}"/>
              </a:ext>
            </a:extLst>
          </p:cNvPr>
          <p:cNvSpPr>
            <a:spLocks xmlns:a="http://schemas.openxmlformats.org/drawingml/2006/main" noGrp="1"/>
          </p:cNvSpPr>
          <p:nvPr/>
        </p:nvSpPr>
        <p:spPr>
          <a:xfrm xmlns:a="http://schemas.openxmlformats.org/drawingml/2006/main">
            <a:off x="609600" y="11811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E67B69"/>
                </a:solidFill>
                <a:latin typeface="Nimbus Sans"/>
                <a:ea typeface="Nimbus Sans"/>
                <a:cs typeface="Nimbus Sans"/>
              </a:defRPr>
            </a:pPr>
            <a:r>
              <a:rPr sz="1725" b="0">
                <a:solidFill>
                  <a:srgbClr val="E67B69"/>
                </a:solidFill>
                <a:latin typeface="Nimbus Sans"/>
                <a:ea typeface="Nimbus Sans"/>
                <a:cs typeface="Nimbus Sans"/>
              </a:rPr>
              <a:t>An enterprise view of deployed agents and their activity</a:t>
            </a:r>
          </a:p>
        </p:txBody>
      </p:sp>
      <p:sp>
        <p:nvSpPr>
          <p:cNvPr id="3" name="">
            <a:extLst xmlns:a="http://schemas.openxmlformats.org/drawingml/2006/main">
              <a:ext uri="{FF2B5EF4-FFF2-40B4-BE49-F238E27FC236}">
                <a16:creationId xmlns:a16="http://schemas.microsoft.com/office/drawing/2014/main" id="{95F42596-64C6-4D37-AB84-60630E83676E}"/>
              </a:ext>
            </a:extLst>
          </p:cNvPr>
          <p:cNvSpPr>
            <a:spLocks xmlns:a="http://schemas.openxmlformats.org/drawingml/2006/main" noGrp="1"/>
          </p:cNvSpPr>
          <p:nvPr/>
        </p:nvSpPr>
        <p:spPr>
          <a:xfrm xmlns:a="http://schemas.openxmlformats.org/drawingml/2006/main">
            <a:off x="609600" y="63627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Guardian AI</a:t>
            </a:r>
          </a:p>
        </p:txBody>
      </p:sp>
      <p:sp>
        <p:nvSpPr>
          <p:cNvPr id="4" name="">
            <a:extLst xmlns:a="http://schemas.openxmlformats.org/drawingml/2006/main">
              <a:ext uri="{FF2B5EF4-FFF2-40B4-BE49-F238E27FC236}">
                <a16:creationId xmlns:a16="http://schemas.microsoft.com/office/drawing/2014/main" id="{2D5FBB00-BDB6-47B6-93E9-31DF22675895}"/>
              </a:ext>
            </a:extLst>
          </p:cNvPr>
          <p:cNvSpPr>
            <a:spLocks xmlns:a="http://schemas.openxmlformats.org/drawingml/2006/main" noGrp="1"/>
          </p:cNvSpPr>
          <p:nvPr/>
        </p:nvSpPr>
        <p:spPr>
          <a:xfrm xmlns:a="http://schemas.openxmlformats.org/drawingml/2006/main">
            <a:off x="11049000" y="63627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CD5DA"/>
                </a:solidFill>
                <a:latin typeface="Nimbus Sans"/>
                <a:ea typeface="Nimbus Sans"/>
                <a:cs typeface="Nimbus Sans"/>
              </a:defRPr>
            </a:pPr>
            <a:r>
              <a:rPr sz="1275" b="0">
                <a:solidFill>
                  <a:srgbClr val="CCD5DA"/>
                </a:solidFill>
                <a:latin typeface="Nimbus Sans"/>
                <a:ea typeface="Nimbus Sans"/>
                <a:cs typeface="Nimbus Sans"/>
              </a:rPr>
              <a:t>10</a:t>
            </a:r>
          </a:p>
        </p:txBody>
      </p:sp>
      <p:sp>
        <p:nvSpPr>
          <p:cNvPr id="5" name="">
            <a:extLst xmlns:a="http://schemas.openxmlformats.org/drawingml/2006/main">
              <a:ext uri="{FF2B5EF4-FFF2-40B4-BE49-F238E27FC236}">
                <a16:creationId xmlns:a16="http://schemas.microsoft.com/office/drawing/2014/main" id="{E328A861-1B68-4F15-A0DA-450EB10F87D4}"/>
              </a:ext>
            </a:extLst>
          </p:cNvPr>
          <p:cNvSpPr>
            <a:spLocks xmlns:a="http://schemas.openxmlformats.org/drawingml/2006/main" noGrp="1"/>
          </p:cNvSpPr>
          <p:nvPr/>
        </p:nvSpPr>
        <p:spPr>
          <a:xfrm xmlns:a="http://schemas.openxmlformats.org/drawingml/2006/main">
            <a:off x="609600" y="2133600"/>
            <a:ext cx="347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3BCC8"/>
                </a:solidFill>
                <a:latin typeface="Nimbus Sans"/>
                <a:ea typeface="Nimbus Sans"/>
                <a:cs typeface="Nimbus Sans"/>
              </a:defRPr>
            </a:pPr>
            <a:r>
              <a:rPr sz="2175" b="1">
                <a:solidFill>
                  <a:srgbClr val="73BCC8"/>
                </a:solidFill>
                <a:latin typeface="Nimbus Sans"/>
                <a:ea typeface="Nimbus Sans"/>
                <a:cs typeface="Nimbus Sans"/>
              </a:rPr>
              <a:t>Deployment record</a:t>
            </a:r>
          </a:p>
        </p:txBody>
      </p:sp>
      <p:sp>
        <p:nvSpPr>
          <p:cNvPr id="6" name="">
            <a:extLst xmlns:a="http://schemas.openxmlformats.org/drawingml/2006/main">
              <a:ext uri="{FF2B5EF4-FFF2-40B4-BE49-F238E27FC236}">
                <a16:creationId xmlns:a16="http://schemas.microsoft.com/office/drawing/2014/main" id="{EA3B1642-74CE-4938-A665-BA67CE86D659}"/>
              </a:ext>
            </a:extLst>
          </p:cNvPr>
          <p:cNvSpPr>
            <a:spLocks xmlns:a="http://schemas.openxmlformats.org/drawingml/2006/main" noGrp="1"/>
          </p:cNvSpPr>
          <p:nvPr/>
        </p:nvSpPr>
        <p:spPr>
          <a:xfrm xmlns:a="http://schemas.openxmlformats.org/drawingml/2006/main">
            <a:off x="609600" y="2876550"/>
            <a:ext cx="347980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Which agent version runs?</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Who owns it?</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Who approved the release?</a:t>
            </a:r>
          </a:p>
        </p:txBody>
      </p:sp>
      <p:sp>
        <p:nvSpPr>
          <p:cNvPr id="7" name="">
            <a:extLst xmlns:a="http://schemas.openxmlformats.org/drawingml/2006/main">
              <a:ext uri="{FF2B5EF4-FFF2-40B4-BE49-F238E27FC236}">
                <a16:creationId xmlns:a16="http://schemas.microsoft.com/office/drawing/2014/main" id="{8B675B0D-01D3-47BA-927E-04FD48269467}"/>
              </a:ext>
            </a:extLst>
          </p:cNvPr>
          <p:cNvSpPr>
            <a:spLocks xmlns:a="http://schemas.openxmlformats.org/drawingml/2006/main" noGrp="1"/>
          </p:cNvSpPr>
          <p:nvPr/>
        </p:nvSpPr>
        <p:spPr>
          <a:xfrm xmlns:a="http://schemas.openxmlformats.org/drawingml/2006/main">
            <a:off x="4267200" y="2133600"/>
            <a:ext cx="347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3BCC8"/>
                </a:solidFill>
                <a:latin typeface="Nimbus Sans"/>
                <a:ea typeface="Nimbus Sans"/>
                <a:cs typeface="Nimbus Sans"/>
              </a:defRPr>
            </a:pPr>
            <a:r>
              <a:rPr sz="2175" b="1">
                <a:solidFill>
                  <a:srgbClr val="73BCC8"/>
                </a:solidFill>
                <a:latin typeface="Nimbus Sans"/>
                <a:ea typeface="Nimbus Sans"/>
                <a:cs typeface="Nimbus Sans"/>
              </a:rPr>
              <a:t>Execution evidence</a:t>
            </a:r>
          </a:p>
        </p:txBody>
      </p:sp>
      <p:sp>
        <p:nvSpPr>
          <p:cNvPr id="8" name="">
            <a:extLst xmlns:a="http://schemas.openxmlformats.org/drawingml/2006/main">
              <a:ext uri="{FF2B5EF4-FFF2-40B4-BE49-F238E27FC236}">
                <a16:creationId xmlns:a16="http://schemas.microsoft.com/office/drawing/2014/main" id="{49196C06-CBFE-40EF-B015-E1913D4D4D5D}"/>
              </a:ext>
            </a:extLst>
          </p:cNvPr>
          <p:cNvSpPr>
            <a:spLocks xmlns:a="http://schemas.openxmlformats.org/drawingml/2006/main" noGrp="1"/>
          </p:cNvSpPr>
          <p:nvPr/>
        </p:nvSpPr>
        <p:spPr>
          <a:xfrm xmlns:a="http://schemas.openxmlformats.org/drawingml/2006/main">
            <a:off x="4267200" y="2876550"/>
            <a:ext cx="347980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Which tools did it call?</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What succeeded or failed?</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Which trace explains the run?</a:t>
            </a:r>
          </a:p>
        </p:txBody>
      </p:sp>
      <p:sp>
        <p:nvSpPr>
          <p:cNvPr id="9" name="">
            <a:extLst xmlns:a="http://schemas.openxmlformats.org/drawingml/2006/main">
              <a:ext uri="{FF2B5EF4-FFF2-40B4-BE49-F238E27FC236}">
                <a16:creationId xmlns:a16="http://schemas.microsoft.com/office/drawing/2014/main" id="{6D5B8C74-74D1-4C74-AC14-327B0CE65383}"/>
              </a:ext>
            </a:extLst>
          </p:cNvPr>
          <p:cNvSpPr>
            <a:spLocks xmlns:a="http://schemas.openxmlformats.org/drawingml/2006/main" noGrp="1"/>
          </p:cNvSpPr>
          <p:nvPr/>
        </p:nvSpPr>
        <p:spPr>
          <a:xfrm xmlns:a="http://schemas.openxmlformats.org/drawingml/2006/main">
            <a:off x="7924800" y="2133600"/>
            <a:ext cx="347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3BCC8"/>
                </a:solidFill>
                <a:latin typeface="Nimbus Sans"/>
                <a:ea typeface="Nimbus Sans"/>
                <a:cs typeface="Nimbus Sans"/>
              </a:defRPr>
            </a:pPr>
            <a:r>
              <a:rPr sz="2175" b="1">
                <a:solidFill>
                  <a:srgbClr val="73BCC8"/>
                </a:solidFill>
                <a:latin typeface="Nimbus Sans"/>
                <a:ea typeface="Nimbus Sans"/>
                <a:cs typeface="Nimbus Sans"/>
              </a:rPr>
              <a:t>Usage attribution</a:t>
            </a:r>
          </a:p>
        </p:txBody>
      </p:sp>
      <p:sp>
        <p:nvSpPr>
          <p:cNvPr id="10" name="">
            <a:extLst xmlns:a="http://schemas.openxmlformats.org/drawingml/2006/main">
              <a:ext uri="{FF2B5EF4-FFF2-40B4-BE49-F238E27FC236}">
                <a16:creationId xmlns:a16="http://schemas.microsoft.com/office/drawing/2014/main" id="{5F62F45D-470F-4F25-89CE-9AC90CC5CDFE}"/>
              </a:ext>
            </a:extLst>
          </p:cNvPr>
          <p:cNvSpPr>
            <a:spLocks xmlns:a="http://schemas.openxmlformats.org/drawingml/2006/main" noGrp="1"/>
          </p:cNvSpPr>
          <p:nvPr/>
        </p:nvSpPr>
        <p:spPr>
          <a:xfrm xmlns:a="http://schemas.openxmlformats.org/drawingml/2006/main">
            <a:off x="7924800" y="2876550"/>
            <a:ext cx="347980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Which team owns the usage?</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How much did the agent consume?</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Where should cost be attributed?</a:t>
            </a:r>
          </a:p>
        </p:txBody>
      </p:sp>
      <p:sp>
        <p:nvSpPr>
          <p:cNvPr id="11" name="">
            <a:extLst xmlns:a="http://schemas.openxmlformats.org/drawingml/2006/main">
              <a:ext uri="{FF2B5EF4-FFF2-40B4-BE49-F238E27FC236}">
                <a16:creationId xmlns:a16="http://schemas.microsoft.com/office/drawing/2014/main" id="{07E7554D-8129-4CE4-8C10-08CCE0F168B5}"/>
              </a:ext>
            </a:extLst>
          </p:cNvPr>
          <p:cNvSpPr>
            <a:spLocks xmlns:a="http://schemas.openxmlformats.org/drawingml/2006/main" noGrp="1"/>
          </p:cNvSpPr>
          <p:nvPr/>
        </p:nvSpPr>
        <p:spPr>
          <a:xfrm xmlns:a="http://schemas.openxmlformats.org/drawingml/2006/main">
            <a:off x="609600" y="56197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CCD5DA"/>
                </a:solidFill>
                <a:latin typeface="Nimbus Sans"/>
                <a:ea typeface="Nimbus Sans"/>
                <a:cs typeface="Nimbus Sans"/>
              </a:defRPr>
            </a:pPr>
            <a:r>
              <a:rPr sz="1875" b="0">
                <a:solidFill>
                  <a:srgbClr val="CCD5DA"/>
                </a:solidFill>
                <a:latin typeface="Nimbus Sans"/>
                <a:ea typeface="Nimbus Sans"/>
                <a:cs typeface="Nimbus Sans"/>
              </a:rPr>
              <a:t>Target reporting scope. Validate trace coverage and cost allocation in the pilot.</a:t>
            </a:r>
          </a:p>
        </p:txBody>
      </p:sp>
    </p:spTree>
    <p:extLst>
      <p:ext uri="{BB962C8B-B14F-4D97-AF65-F5344CB8AC3E}">
        <p14:creationId xmlns:p14="http://schemas.microsoft.com/office/powerpoint/2010/main" val="1221973710"/>
      </p:ext>
    </p:extLst>
  </p:cSld>
</p:sld>
</file>

<file path=ppt/slides/slide11.xml><?xml version="1.0" encoding="utf-8"?>
<p:sld xmlns:p="http://schemas.openxmlformats.org/presentationml/2006/main">
  <p:cSld>
    <p:bg>
      <p:bgPr>
        <a:solidFill xmlns:a="http://schemas.openxmlformats.org/drawingml/2006/main">
          <a:srgbClr val="28343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7B6F879-897A-405F-B835-E4D1FFEF50A1}"/>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Nimbus Sans"/>
                <a:ea typeface="Nimbus Sans"/>
                <a:cs typeface="Nimbus Sans"/>
              </a:defRPr>
            </a:pPr>
            <a:r>
              <a:rPr sz="3150" b="1">
                <a:solidFill>
                  <a:srgbClr val="FFFFFF"/>
                </a:solidFill>
                <a:latin typeface="Nimbus Sans"/>
                <a:ea typeface="Nimbus Sans"/>
                <a:cs typeface="Nimbus Sans"/>
              </a:rPr>
              <a:t>Lifecycle management after deployment</a:t>
            </a:r>
          </a:p>
        </p:txBody>
      </p:sp>
      <p:sp>
        <p:nvSpPr>
          <p:cNvPr id="2" name="">
            <a:extLst xmlns:a="http://schemas.openxmlformats.org/drawingml/2006/main">
              <a:ext uri="{FF2B5EF4-FFF2-40B4-BE49-F238E27FC236}">
                <a16:creationId xmlns:a16="http://schemas.microsoft.com/office/drawing/2014/main" id="{7EE4186B-754D-45B7-AE37-E093FC712E99}"/>
              </a:ext>
            </a:extLst>
          </p:cNvPr>
          <p:cNvSpPr>
            <a:spLocks xmlns:a="http://schemas.openxmlformats.org/drawingml/2006/main" noGrp="1"/>
          </p:cNvSpPr>
          <p:nvPr/>
        </p:nvSpPr>
        <p:spPr>
          <a:xfrm xmlns:a="http://schemas.openxmlformats.org/drawingml/2006/main">
            <a:off x="609600" y="11811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E67B69"/>
                </a:solidFill>
                <a:latin typeface="Nimbus Sans"/>
                <a:ea typeface="Nimbus Sans"/>
                <a:cs typeface="Nimbus Sans"/>
              </a:defRPr>
            </a:pPr>
            <a:r>
              <a:rPr sz="1725" b="0">
                <a:solidFill>
                  <a:srgbClr val="E67B69"/>
                </a:solidFill>
                <a:latin typeface="Nimbus Sans"/>
                <a:ea typeface="Nimbus Sans"/>
                <a:cs typeface="Nimbus Sans"/>
              </a:rPr>
              <a:t>Roadmap scope for continuous operation</a:t>
            </a:r>
          </a:p>
        </p:txBody>
      </p:sp>
      <p:sp>
        <p:nvSpPr>
          <p:cNvPr id="3" name="">
            <a:extLst xmlns:a="http://schemas.openxmlformats.org/drawingml/2006/main">
              <a:ext uri="{FF2B5EF4-FFF2-40B4-BE49-F238E27FC236}">
                <a16:creationId xmlns:a16="http://schemas.microsoft.com/office/drawing/2014/main" id="{CCD29434-C12B-4DEC-ACEC-159186C42F11}"/>
              </a:ext>
            </a:extLst>
          </p:cNvPr>
          <p:cNvSpPr>
            <a:spLocks xmlns:a="http://schemas.openxmlformats.org/drawingml/2006/main" noGrp="1"/>
          </p:cNvSpPr>
          <p:nvPr/>
        </p:nvSpPr>
        <p:spPr>
          <a:xfrm xmlns:a="http://schemas.openxmlformats.org/drawingml/2006/main">
            <a:off x="609600" y="63627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Guardian AI</a:t>
            </a:r>
          </a:p>
        </p:txBody>
      </p:sp>
      <p:sp>
        <p:nvSpPr>
          <p:cNvPr id="4" name="">
            <a:extLst xmlns:a="http://schemas.openxmlformats.org/drawingml/2006/main">
              <a:ext uri="{FF2B5EF4-FFF2-40B4-BE49-F238E27FC236}">
                <a16:creationId xmlns:a16="http://schemas.microsoft.com/office/drawing/2014/main" id="{AD37D22E-955B-473B-8D09-49B8B8A19697}"/>
              </a:ext>
            </a:extLst>
          </p:cNvPr>
          <p:cNvSpPr>
            <a:spLocks xmlns:a="http://schemas.openxmlformats.org/drawingml/2006/main" noGrp="1"/>
          </p:cNvSpPr>
          <p:nvPr/>
        </p:nvSpPr>
        <p:spPr>
          <a:xfrm xmlns:a="http://schemas.openxmlformats.org/drawingml/2006/main">
            <a:off x="11049000" y="63627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CD5DA"/>
                </a:solidFill>
                <a:latin typeface="Nimbus Sans"/>
                <a:ea typeface="Nimbus Sans"/>
                <a:cs typeface="Nimbus Sans"/>
              </a:defRPr>
            </a:pPr>
            <a:r>
              <a:rPr sz="1275" b="0">
                <a:solidFill>
                  <a:srgbClr val="CCD5DA"/>
                </a:solidFill>
                <a:latin typeface="Nimbus Sans"/>
                <a:ea typeface="Nimbus Sans"/>
                <a:cs typeface="Nimbus Sans"/>
              </a:rPr>
              <a:t>11</a:t>
            </a:r>
          </a:p>
        </p:txBody>
      </p:sp>
      <p:sp>
        <p:nvSpPr>
          <p:cNvPr id="5" name="">
            <a:extLst xmlns:a="http://schemas.openxmlformats.org/drawingml/2006/main">
              <a:ext uri="{FF2B5EF4-FFF2-40B4-BE49-F238E27FC236}">
                <a16:creationId xmlns:a16="http://schemas.microsoft.com/office/drawing/2014/main" id="{24B6B698-052D-41FB-9D74-660C50C846D3}"/>
              </a:ext>
            </a:extLst>
          </p:cNvPr>
          <p:cNvSpPr>
            <a:spLocks xmlns:a="http://schemas.openxmlformats.org/drawingml/2006/main" noGrp="1"/>
          </p:cNvSpPr>
          <p:nvPr/>
        </p:nvSpPr>
        <p:spPr>
          <a:xfrm xmlns:a="http://schemas.openxmlformats.org/drawingml/2006/main">
            <a:off x="609600" y="2133600"/>
            <a:ext cx="347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3BCC8"/>
                </a:solidFill>
                <a:latin typeface="Nimbus Sans"/>
                <a:ea typeface="Nimbus Sans"/>
                <a:cs typeface="Nimbus Sans"/>
              </a:defRPr>
            </a:pPr>
            <a:r>
              <a:rPr sz="2175" b="1">
                <a:solidFill>
                  <a:srgbClr val="73BCC8"/>
                </a:solidFill>
                <a:latin typeface="Nimbus Sans"/>
                <a:ea typeface="Nimbus Sans"/>
                <a:cs typeface="Nimbus Sans"/>
              </a:rPr>
              <a:t>Change and promote</a:t>
            </a:r>
          </a:p>
        </p:txBody>
      </p:sp>
      <p:sp>
        <p:nvSpPr>
          <p:cNvPr id="6" name="">
            <a:extLst xmlns:a="http://schemas.openxmlformats.org/drawingml/2006/main">
              <a:ext uri="{FF2B5EF4-FFF2-40B4-BE49-F238E27FC236}">
                <a16:creationId xmlns:a16="http://schemas.microsoft.com/office/drawing/2014/main" id="{F87A82CE-6FCF-4683-ADC4-52DDD5F36C22}"/>
              </a:ext>
            </a:extLst>
          </p:cNvPr>
          <p:cNvSpPr>
            <a:spLocks xmlns:a="http://schemas.openxmlformats.org/drawingml/2006/main" noGrp="1"/>
          </p:cNvSpPr>
          <p:nvPr/>
        </p:nvSpPr>
        <p:spPr>
          <a:xfrm xmlns:a="http://schemas.openxmlformats.org/drawingml/2006/main">
            <a:off x="609600" y="2876550"/>
            <a:ext cx="347980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Version updates</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Environment promotion</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Dependency checks</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Approval evidence</a:t>
            </a:r>
          </a:p>
        </p:txBody>
      </p:sp>
      <p:sp>
        <p:nvSpPr>
          <p:cNvPr id="7" name="">
            <a:extLst xmlns:a="http://schemas.openxmlformats.org/drawingml/2006/main">
              <a:ext uri="{FF2B5EF4-FFF2-40B4-BE49-F238E27FC236}">
                <a16:creationId xmlns:a16="http://schemas.microsoft.com/office/drawing/2014/main" id="{AFC5989D-C41D-405E-B1C8-BC77A6BE3E16}"/>
              </a:ext>
            </a:extLst>
          </p:cNvPr>
          <p:cNvSpPr>
            <a:spLocks xmlns:a="http://schemas.openxmlformats.org/drawingml/2006/main" noGrp="1"/>
          </p:cNvSpPr>
          <p:nvPr/>
        </p:nvSpPr>
        <p:spPr>
          <a:xfrm xmlns:a="http://schemas.openxmlformats.org/drawingml/2006/main">
            <a:off x="4267200" y="2133600"/>
            <a:ext cx="347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3BCC8"/>
                </a:solidFill>
                <a:latin typeface="Nimbus Sans"/>
                <a:ea typeface="Nimbus Sans"/>
                <a:cs typeface="Nimbus Sans"/>
              </a:defRPr>
            </a:pPr>
            <a:r>
              <a:rPr sz="2175" b="1">
                <a:solidFill>
                  <a:srgbClr val="73BCC8"/>
                </a:solidFill>
                <a:latin typeface="Nimbus Sans"/>
                <a:ea typeface="Nimbus Sans"/>
                <a:cs typeface="Nimbus Sans"/>
              </a:rPr>
              <a:t>Monitor and respond</a:t>
            </a:r>
          </a:p>
        </p:txBody>
      </p:sp>
      <p:sp>
        <p:nvSpPr>
          <p:cNvPr id="8" name="">
            <a:extLst xmlns:a="http://schemas.openxmlformats.org/drawingml/2006/main">
              <a:ext uri="{FF2B5EF4-FFF2-40B4-BE49-F238E27FC236}">
                <a16:creationId xmlns:a16="http://schemas.microsoft.com/office/drawing/2014/main" id="{C8E93721-6783-4CC7-A483-6B5C107FF60A}"/>
              </a:ext>
            </a:extLst>
          </p:cNvPr>
          <p:cNvSpPr>
            <a:spLocks xmlns:a="http://schemas.openxmlformats.org/drawingml/2006/main" noGrp="1"/>
          </p:cNvSpPr>
          <p:nvPr/>
        </p:nvSpPr>
        <p:spPr>
          <a:xfrm xmlns:a="http://schemas.openxmlformats.org/drawingml/2006/main">
            <a:off x="4267200" y="2876550"/>
            <a:ext cx="347980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Quality and runtime monitoring</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Failure investigation</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Access changes</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Rollback procedures</a:t>
            </a:r>
          </a:p>
        </p:txBody>
      </p:sp>
      <p:sp>
        <p:nvSpPr>
          <p:cNvPr id="9" name="">
            <a:extLst xmlns:a="http://schemas.openxmlformats.org/drawingml/2006/main">
              <a:ext uri="{FF2B5EF4-FFF2-40B4-BE49-F238E27FC236}">
                <a16:creationId xmlns:a16="http://schemas.microsoft.com/office/drawing/2014/main" id="{C00C23F6-905B-483C-80DB-CA017B67E080}"/>
              </a:ext>
            </a:extLst>
          </p:cNvPr>
          <p:cNvSpPr>
            <a:spLocks xmlns:a="http://schemas.openxmlformats.org/drawingml/2006/main" noGrp="1"/>
          </p:cNvSpPr>
          <p:nvPr/>
        </p:nvSpPr>
        <p:spPr>
          <a:xfrm xmlns:a="http://schemas.openxmlformats.org/drawingml/2006/main">
            <a:off x="7924800" y="2133600"/>
            <a:ext cx="347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3BCC8"/>
                </a:solidFill>
                <a:latin typeface="Nimbus Sans"/>
                <a:ea typeface="Nimbus Sans"/>
                <a:cs typeface="Nimbus Sans"/>
              </a:defRPr>
            </a:pPr>
            <a:r>
              <a:rPr sz="2175" b="1">
                <a:solidFill>
                  <a:srgbClr val="73BCC8"/>
                </a:solidFill>
                <a:latin typeface="Nimbus Sans"/>
                <a:ea typeface="Nimbus Sans"/>
                <a:cs typeface="Nimbus Sans"/>
              </a:rPr>
              <a:t>Retire responsibly</a:t>
            </a:r>
          </a:p>
        </p:txBody>
      </p:sp>
      <p:sp>
        <p:nvSpPr>
          <p:cNvPr id="10" name="">
            <a:extLst xmlns:a="http://schemas.openxmlformats.org/drawingml/2006/main">
              <a:ext uri="{FF2B5EF4-FFF2-40B4-BE49-F238E27FC236}">
                <a16:creationId xmlns:a16="http://schemas.microsoft.com/office/drawing/2014/main" id="{17DEF0DB-C77E-47B8-B2D5-EE2BFEBFF845}"/>
              </a:ext>
            </a:extLst>
          </p:cNvPr>
          <p:cNvSpPr>
            <a:spLocks xmlns:a="http://schemas.openxmlformats.org/drawingml/2006/main" noGrp="1"/>
          </p:cNvSpPr>
          <p:nvPr/>
        </p:nvSpPr>
        <p:spPr>
          <a:xfrm xmlns:a="http://schemas.openxmlformats.org/drawingml/2006/main">
            <a:off x="7924800" y="2876550"/>
            <a:ext cx="347980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Disable invocation</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Revoke tool access</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Preserve required evidence</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Remove unused resources</a:t>
            </a:r>
          </a:p>
        </p:txBody>
      </p:sp>
    </p:spTree>
    <p:extLst>
      <p:ext uri="{BB962C8B-B14F-4D97-AF65-F5344CB8AC3E}">
        <p14:creationId xmlns:p14="http://schemas.microsoft.com/office/powerpoint/2010/main" val="95107697"/>
      </p:ext>
    </p:extLst>
  </p:cSld>
</p:sld>
</file>

<file path=ppt/slides/slide12.xml><?xml version="1.0" encoding="utf-8"?>
<p:sld xmlns:p="http://schemas.openxmlformats.org/presentationml/2006/main">
  <p:cSld>
    <p:bg>
      <p:bgPr>
        <a:solidFill xmlns:a="http://schemas.openxmlformats.org/drawingml/2006/main">
          <a:srgbClr val="28343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BBC222E-B205-463C-94EB-8AAD920FA86F}"/>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Nimbus Sans"/>
                <a:ea typeface="Nimbus Sans"/>
                <a:cs typeface="Nimbus Sans"/>
              </a:defRPr>
            </a:pPr>
            <a:r>
              <a:rPr sz="3150" b="1">
                <a:solidFill>
                  <a:srgbClr val="FFFFFF"/>
                </a:solidFill>
                <a:latin typeface="Nimbus Sans"/>
                <a:ea typeface="Nimbus Sans"/>
                <a:cs typeface="Nimbus Sans"/>
              </a:rPr>
              <a:t>Pilot milestones and success measures</a:t>
            </a:r>
          </a:p>
        </p:txBody>
      </p:sp>
      <p:sp>
        <p:nvSpPr>
          <p:cNvPr id="2" name="">
            <a:extLst xmlns:a="http://schemas.openxmlformats.org/drawingml/2006/main">
              <a:ext uri="{FF2B5EF4-FFF2-40B4-BE49-F238E27FC236}">
                <a16:creationId xmlns:a16="http://schemas.microsoft.com/office/drawing/2014/main" id="{B2A44969-4F0C-4FE7-9915-CDB756847874}"/>
              </a:ext>
            </a:extLst>
          </p:cNvPr>
          <p:cNvSpPr>
            <a:spLocks xmlns:a="http://schemas.openxmlformats.org/drawingml/2006/main" noGrp="1"/>
          </p:cNvSpPr>
          <p:nvPr/>
        </p:nvSpPr>
        <p:spPr>
          <a:xfrm xmlns:a="http://schemas.openxmlformats.org/drawingml/2006/main">
            <a:off x="609600" y="11811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E67B69"/>
                </a:solidFill>
                <a:latin typeface="Nimbus Sans"/>
                <a:ea typeface="Nimbus Sans"/>
                <a:cs typeface="Nimbus Sans"/>
              </a:defRPr>
            </a:pPr>
            <a:r>
              <a:rPr sz="1725" b="0">
                <a:solidFill>
                  <a:srgbClr val="E67B69"/>
                </a:solidFill>
                <a:latin typeface="Nimbus Sans"/>
                <a:ea typeface="Nimbus Sans"/>
                <a:cs typeface="Nimbus Sans"/>
              </a:rPr>
              <a:t>Delivery plan with evidence at each milestone</a:t>
            </a:r>
          </a:p>
        </p:txBody>
      </p:sp>
      <p:sp>
        <p:nvSpPr>
          <p:cNvPr id="3" name="">
            <a:extLst xmlns:a="http://schemas.openxmlformats.org/drawingml/2006/main">
              <a:ext uri="{FF2B5EF4-FFF2-40B4-BE49-F238E27FC236}">
                <a16:creationId xmlns:a16="http://schemas.microsoft.com/office/drawing/2014/main" id="{275B17B8-699F-4C05-A03C-B06BE850BC7A}"/>
              </a:ext>
            </a:extLst>
          </p:cNvPr>
          <p:cNvSpPr>
            <a:spLocks xmlns:a="http://schemas.openxmlformats.org/drawingml/2006/main" noGrp="1"/>
          </p:cNvSpPr>
          <p:nvPr/>
        </p:nvSpPr>
        <p:spPr>
          <a:xfrm xmlns:a="http://schemas.openxmlformats.org/drawingml/2006/main">
            <a:off x="609600" y="63627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Guardian AI</a:t>
            </a:r>
          </a:p>
        </p:txBody>
      </p:sp>
      <p:sp>
        <p:nvSpPr>
          <p:cNvPr id="4" name="">
            <a:extLst xmlns:a="http://schemas.openxmlformats.org/drawingml/2006/main">
              <a:ext uri="{FF2B5EF4-FFF2-40B4-BE49-F238E27FC236}">
                <a16:creationId xmlns:a16="http://schemas.microsoft.com/office/drawing/2014/main" id="{D688DDD4-38CD-474D-921C-384A9B04FDB8}"/>
              </a:ext>
            </a:extLst>
          </p:cNvPr>
          <p:cNvSpPr>
            <a:spLocks xmlns:a="http://schemas.openxmlformats.org/drawingml/2006/main" noGrp="1"/>
          </p:cNvSpPr>
          <p:nvPr/>
        </p:nvSpPr>
        <p:spPr>
          <a:xfrm xmlns:a="http://schemas.openxmlformats.org/drawingml/2006/main">
            <a:off x="11049000" y="63627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CD5DA"/>
                </a:solidFill>
                <a:latin typeface="Nimbus Sans"/>
                <a:ea typeface="Nimbus Sans"/>
                <a:cs typeface="Nimbus Sans"/>
              </a:defRPr>
            </a:pPr>
            <a:r>
              <a:rPr sz="1275" b="0">
                <a:solidFill>
                  <a:srgbClr val="CCD5DA"/>
                </a:solidFill>
                <a:latin typeface="Nimbus Sans"/>
                <a:ea typeface="Nimbus Sans"/>
                <a:cs typeface="Nimbus Sans"/>
              </a:rPr>
              <a:t>12</a:t>
            </a:r>
          </a:p>
        </p:txBody>
      </p:sp>
      <p:sp>
        <p:nvSpPr>
          <p:cNvPr id="5" name="">
            <a:extLst xmlns:a="http://schemas.openxmlformats.org/drawingml/2006/main">
              <a:ext uri="{FF2B5EF4-FFF2-40B4-BE49-F238E27FC236}">
                <a16:creationId xmlns:a16="http://schemas.microsoft.com/office/drawing/2014/main" id="{266DA40D-9FDF-4D26-A88E-5F34D1FF7244}"/>
              </a:ext>
            </a:extLst>
          </p:cNvPr>
          <p:cNvSpPr>
            <a:spLocks xmlns:a="http://schemas.openxmlformats.org/drawingml/2006/main" noGrp="1"/>
          </p:cNvSpPr>
          <p:nvPr/>
        </p:nvSpPr>
        <p:spPr>
          <a:xfrm xmlns:a="http://schemas.openxmlformats.org/drawingml/2006/main">
            <a:off x="609600" y="2105025"/>
            <a:ext cx="2476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3BCC8"/>
                </a:solidFill>
                <a:latin typeface="Nimbus Sans"/>
                <a:ea typeface="Nimbus Sans"/>
                <a:cs typeface="Nimbus Sans"/>
              </a:defRPr>
            </a:pPr>
            <a:r>
              <a:rPr sz="2025" b="1">
                <a:solidFill>
                  <a:srgbClr val="73BCC8"/>
                </a:solidFill>
                <a:latin typeface="Nimbus Sans"/>
                <a:ea typeface="Nimbus Sans"/>
                <a:cs typeface="Nimbus Sans"/>
              </a:rPr>
              <a:t>M1  Foundation</a:t>
            </a:r>
          </a:p>
        </p:txBody>
      </p:sp>
      <p:sp>
        <p:nvSpPr>
          <p:cNvPr id="6" name="">
            <a:extLst xmlns:a="http://schemas.openxmlformats.org/drawingml/2006/main">
              <a:ext uri="{FF2B5EF4-FFF2-40B4-BE49-F238E27FC236}">
                <a16:creationId xmlns:a16="http://schemas.microsoft.com/office/drawing/2014/main" id="{03E69C03-CE3E-4EF4-A593-C99F38F6F207}"/>
              </a:ext>
            </a:extLst>
          </p:cNvPr>
          <p:cNvSpPr>
            <a:spLocks xmlns:a="http://schemas.openxmlformats.org/drawingml/2006/main" noGrp="1"/>
          </p:cNvSpPr>
          <p:nvPr/>
        </p:nvSpPr>
        <p:spPr>
          <a:xfrm xmlns:a="http://schemas.openxmlformats.org/drawingml/2006/main">
            <a:off x="609600" y="2924175"/>
            <a:ext cx="24765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Nimbus Sans"/>
                <a:ea typeface="Nimbus Sans"/>
                <a:cs typeface="Nimbus Sans"/>
              </a:defRPr>
            </a:pPr>
            <a:r>
              <a:rPr sz="1950" b="0">
                <a:solidFill>
                  <a:srgbClr val="FFFFFF"/>
                </a:solidFill>
                <a:latin typeface="Nimbus Sans"/>
                <a:ea typeface="Nimbus Sans"/>
                <a:cs typeface="Nimbus Sans"/>
              </a:rPr>
              <a:t>Registry, schema, and</a:t>
            </a:r>
          </a:p>
          <a:p xmlns:a="http://schemas.openxmlformats.org/drawingml/2006/main">
            <a:pPr>
              <a:defRPr sz="1950" b="0">
                <a:solidFill>
                  <a:srgbClr val="FFFFFF"/>
                </a:solidFill>
                <a:latin typeface="Nimbus Sans"/>
                <a:ea typeface="Nimbus Sans"/>
                <a:cs typeface="Nimbus Sans"/>
              </a:defRPr>
            </a:pPr>
            <a:r>
              <a:rPr sz="1950" b="0">
                <a:solidFill>
                  <a:srgbClr val="FFFFFF"/>
                </a:solidFill>
                <a:latin typeface="Nimbus Sans"/>
                <a:ea typeface="Nimbus Sans"/>
                <a:cs typeface="Nimbus Sans"/>
              </a:rPr>
              <a:t>AWS integration foundation</a:t>
            </a:r>
          </a:p>
        </p:txBody>
      </p:sp>
      <p:sp>
        <p:nvSpPr>
          <p:cNvPr id="7" name="">
            <a:extLst xmlns:a="http://schemas.openxmlformats.org/drawingml/2006/main">
              <a:ext uri="{FF2B5EF4-FFF2-40B4-BE49-F238E27FC236}">
                <a16:creationId xmlns:a16="http://schemas.microsoft.com/office/drawing/2014/main" id="{BCC2FD70-895B-4631-B602-9C6B3139D939}"/>
              </a:ext>
            </a:extLst>
          </p:cNvPr>
          <p:cNvSpPr>
            <a:spLocks xmlns:a="http://schemas.openxmlformats.org/drawingml/2006/main" noGrp="1"/>
          </p:cNvSpPr>
          <p:nvPr/>
        </p:nvSpPr>
        <p:spPr>
          <a:xfrm xmlns:a="http://schemas.openxmlformats.org/drawingml/2006/main">
            <a:off x="3390900" y="2105025"/>
            <a:ext cx="2476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3BCC8"/>
                </a:solidFill>
                <a:latin typeface="Nimbus Sans"/>
                <a:ea typeface="Nimbus Sans"/>
                <a:cs typeface="Nimbus Sans"/>
              </a:defRPr>
            </a:pPr>
            <a:r>
              <a:rPr sz="2025" b="1">
                <a:solidFill>
                  <a:srgbClr val="73BCC8"/>
                </a:solidFill>
                <a:latin typeface="Nimbus Sans"/>
                <a:ea typeface="Nimbus Sans"/>
                <a:cs typeface="Nimbus Sans"/>
              </a:rPr>
              <a:t>M2  Governance</a:t>
            </a:r>
          </a:p>
        </p:txBody>
      </p:sp>
      <p:sp>
        <p:nvSpPr>
          <p:cNvPr id="8" name="">
            <a:extLst xmlns:a="http://schemas.openxmlformats.org/drawingml/2006/main">
              <a:ext uri="{FF2B5EF4-FFF2-40B4-BE49-F238E27FC236}">
                <a16:creationId xmlns:a16="http://schemas.microsoft.com/office/drawing/2014/main" id="{BB431A5B-6C20-44DC-90C0-42116220DFAA}"/>
              </a:ext>
            </a:extLst>
          </p:cNvPr>
          <p:cNvSpPr>
            <a:spLocks xmlns:a="http://schemas.openxmlformats.org/drawingml/2006/main" noGrp="1"/>
          </p:cNvSpPr>
          <p:nvPr/>
        </p:nvSpPr>
        <p:spPr>
          <a:xfrm xmlns:a="http://schemas.openxmlformats.org/drawingml/2006/main">
            <a:off x="3390900" y="2924175"/>
            <a:ext cx="24765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Nimbus Sans"/>
                <a:ea typeface="Nimbus Sans"/>
                <a:cs typeface="Nimbus Sans"/>
              </a:defRPr>
            </a:pPr>
            <a:r>
              <a:rPr sz="1950" b="0">
                <a:solidFill>
                  <a:srgbClr val="FFFFFF"/>
                </a:solidFill>
                <a:latin typeface="Nimbus Sans"/>
                <a:ea typeface="Nimbus Sans"/>
                <a:cs typeface="Nimbus Sans"/>
              </a:rPr>
              <a:t>Validation, evaluation, and</a:t>
            </a:r>
          </a:p>
          <a:p xmlns:a="http://schemas.openxmlformats.org/drawingml/2006/main">
            <a:pPr>
              <a:defRPr sz="1950" b="0">
                <a:solidFill>
                  <a:srgbClr val="FFFFFF"/>
                </a:solidFill>
                <a:latin typeface="Nimbus Sans"/>
                <a:ea typeface="Nimbus Sans"/>
                <a:cs typeface="Nimbus Sans"/>
              </a:defRPr>
            </a:pPr>
            <a:r>
              <a:rPr sz="1950" b="0">
                <a:solidFill>
                  <a:srgbClr val="FFFFFF"/>
                </a:solidFill>
                <a:latin typeface="Nimbus Sans"/>
                <a:ea typeface="Nimbus Sans"/>
                <a:cs typeface="Nimbus Sans"/>
              </a:rPr>
              <a:t>approval workflow</a:t>
            </a:r>
          </a:p>
        </p:txBody>
      </p:sp>
      <p:sp>
        <p:nvSpPr>
          <p:cNvPr id="9" name="">
            <a:extLst xmlns:a="http://schemas.openxmlformats.org/drawingml/2006/main">
              <a:ext uri="{FF2B5EF4-FFF2-40B4-BE49-F238E27FC236}">
                <a16:creationId xmlns:a16="http://schemas.microsoft.com/office/drawing/2014/main" id="{E7016B78-E833-40DB-93FB-FF823E9F27E1}"/>
              </a:ext>
            </a:extLst>
          </p:cNvPr>
          <p:cNvSpPr>
            <a:spLocks xmlns:a="http://schemas.openxmlformats.org/drawingml/2006/main" noGrp="1"/>
          </p:cNvSpPr>
          <p:nvPr/>
        </p:nvSpPr>
        <p:spPr>
          <a:xfrm xmlns:a="http://schemas.openxmlformats.org/drawingml/2006/main">
            <a:off x="6172200" y="2105025"/>
            <a:ext cx="2476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3BCC8"/>
                </a:solidFill>
                <a:latin typeface="Nimbus Sans"/>
                <a:ea typeface="Nimbus Sans"/>
                <a:cs typeface="Nimbus Sans"/>
              </a:defRPr>
            </a:pPr>
            <a:r>
              <a:rPr sz="2025" b="1">
                <a:solidFill>
                  <a:srgbClr val="73BCC8"/>
                </a:solidFill>
                <a:latin typeface="Nimbus Sans"/>
                <a:ea typeface="Nimbus Sans"/>
                <a:cs typeface="Nimbus Sans"/>
              </a:rPr>
              <a:t>M3  Runtime</a:t>
            </a:r>
          </a:p>
        </p:txBody>
      </p:sp>
      <p:sp>
        <p:nvSpPr>
          <p:cNvPr id="10" name="">
            <a:extLst xmlns:a="http://schemas.openxmlformats.org/drawingml/2006/main">
              <a:ext uri="{FF2B5EF4-FFF2-40B4-BE49-F238E27FC236}">
                <a16:creationId xmlns:a16="http://schemas.microsoft.com/office/drawing/2014/main" id="{6B1B81A8-BC55-4394-9628-CBEDCC6EB987}"/>
              </a:ext>
            </a:extLst>
          </p:cNvPr>
          <p:cNvSpPr>
            <a:spLocks xmlns:a="http://schemas.openxmlformats.org/drawingml/2006/main" noGrp="1"/>
          </p:cNvSpPr>
          <p:nvPr/>
        </p:nvSpPr>
        <p:spPr>
          <a:xfrm xmlns:a="http://schemas.openxmlformats.org/drawingml/2006/main">
            <a:off x="6172200" y="2924175"/>
            <a:ext cx="24765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Nimbus Sans"/>
                <a:ea typeface="Nimbus Sans"/>
                <a:cs typeface="Nimbus Sans"/>
              </a:defRPr>
            </a:pPr>
            <a:r>
              <a:rPr sz="1950" b="0">
                <a:solidFill>
                  <a:srgbClr val="FFFFFF"/>
                </a:solidFill>
                <a:latin typeface="Nimbus Sans"/>
                <a:ea typeface="Nimbus Sans"/>
                <a:cs typeface="Nimbus Sans"/>
              </a:rPr>
              <a:t>Approved deployment and</a:t>
            </a:r>
          </a:p>
          <a:p xmlns:a="http://schemas.openxmlformats.org/drawingml/2006/main">
            <a:pPr>
              <a:defRPr sz="1950" b="0">
                <a:solidFill>
                  <a:srgbClr val="FFFFFF"/>
                </a:solidFill>
                <a:latin typeface="Nimbus Sans"/>
                <a:ea typeface="Nimbus Sans"/>
                <a:cs typeface="Nimbus Sans"/>
              </a:defRPr>
            </a:pPr>
            <a:r>
              <a:rPr sz="1950" b="0">
                <a:solidFill>
                  <a:srgbClr val="FFFFFF"/>
                </a:solidFill>
                <a:latin typeface="Nimbus Sans"/>
                <a:ea typeface="Nimbus Sans"/>
                <a:cs typeface="Nimbus Sans"/>
              </a:rPr>
              <a:t>trace propagation</a:t>
            </a:r>
          </a:p>
        </p:txBody>
      </p:sp>
      <p:sp>
        <p:nvSpPr>
          <p:cNvPr id="11" name="">
            <a:extLst xmlns:a="http://schemas.openxmlformats.org/drawingml/2006/main">
              <a:ext uri="{FF2B5EF4-FFF2-40B4-BE49-F238E27FC236}">
                <a16:creationId xmlns:a16="http://schemas.microsoft.com/office/drawing/2014/main" id="{7161A52C-1F3C-495B-940B-AF8387C3DFC7}"/>
              </a:ext>
            </a:extLst>
          </p:cNvPr>
          <p:cNvSpPr>
            <a:spLocks xmlns:a="http://schemas.openxmlformats.org/drawingml/2006/main" noGrp="1"/>
          </p:cNvSpPr>
          <p:nvPr/>
        </p:nvSpPr>
        <p:spPr>
          <a:xfrm xmlns:a="http://schemas.openxmlformats.org/drawingml/2006/main">
            <a:off x="8953500" y="2105025"/>
            <a:ext cx="2476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3BCC8"/>
                </a:solidFill>
                <a:latin typeface="Nimbus Sans"/>
                <a:ea typeface="Nimbus Sans"/>
                <a:cs typeface="Nimbus Sans"/>
              </a:defRPr>
            </a:pPr>
            <a:r>
              <a:rPr sz="2025" b="1">
                <a:solidFill>
                  <a:srgbClr val="73BCC8"/>
                </a:solidFill>
                <a:latin typeface="Nimbus Sans"/>
                <a:ea typeface="Nimbus Sans"/>
                <a:cs typeface="Nimbus Sans"/>
              </a:rPr>
              <a:t>M4  Pilot readiness</a:t>
            </a:r>
          </a:p>
        </p:txBody>
      </p:sp>
      <p:sp>
        <p:nvSpPr>
          <p:cNvPr id="12" name="">
            <a:extLst xmlns:a="http://schemas.openxmlformats.org/drawingml/2006/main">
              <a:ext uri="{FF2B5EF4-FFF2-40B4-BE49-F238E27FC236}">
                <a16:creationId xmlns:a16="http://schemas.microsoft.com/office/drawing/2014/main" id="{8544E061-213D-4DF6-801E-8171DC294C7F}"/>
              </a:ext>
            </a:extLst>
          </p:cNvPr>
          <p:cNvSpPr>
            <a:spLocks xmlns:a="http://schemas.openxmlformats.org/drawingml/2006/main" noGrp="1"/>
          </p:cNvSpPr>
          <p:nvPr/>
        </p:nvSpPr>
        <p:spPr>
          <a:xfrm xmlns:a="http://schemas.openxmlformats.org/drawingml/2006/main">
            <a:off x="8953500" y="2924175"/>
            <a:ext cx="24765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Nimbus Sans"/>
                <a:ea typeface="Nimbus Sans"/>
                <a:cs typeface="Nimbus Sans"/>
              </a:defRPr>
            </a:pPr>
            <a:r>
              <a:rPr sz="1950" b="0">
                <a:solidFill>
                  <a:srgbClr val="FFFFFF"/>
                </a:solidFill>
                <a:latin typeface="Nimbus Sans"/>
                <a:ea typeface="Nimbus Sans"/>
                <a:cs typeface="Nimbus Sans"/>
              </a:rPr>
              <a:t>One agent completes the</a:t>
            </a:r>
          </a:p>
          <a:p xmlns:a="http://schemas.openxmlformats.org/drawingml/2006/main">
            <a:pPr>
              <a:defRPr sz="1950" b="0">
                <a:solidFill>
                  <a:srgbClr val="FFFFFF"/>
                </a:solidFill>
                <a:latin typeface="Nimbus Sans"/>
                <a:ea typeface="Nimbus Sans"/>
                <a:cs typeface="Nimbus Sans"/>
              </a:defRPr>
            </a:pPr>
            <a:r>
              <a:rPr sz="1950" b="0">
                <a:solidFill>
                  <a:srgbClr val="FFFFFF"/>
                </a:solidFill>
                <a:latin typeface="Nimbus Sans"/>
                <a:ea typeface="Nimbus Sans"/>
                <a:cs typeface="Nimbus Sans"/>
              </a:rPr>
              <a:t>governed deployment journey</a:t>
            </a:r>
          </a:p>
        </p:txBody>
      </p:sp>
      <p:sp>
        <p:nvSpPr>
          <p:cNvPr id="13" name="">
            <a:extLst xmlns:a="http://schemas.openxmlformats.org/drawingml/2006/main">
              <a:ext uri="{FF2B5EF4-FFF2-40B4-BE49-F238E27FC236}">
                <a16:creationId xmlns:a16="http://schemas.microsoft.com/office/drawing/2014/main" id="{6DD84E0B-83B6-4EB1-B468-E7AD9FA66E26}"/>
              </a:ext>
            </a:extLst>
          </p:cNvPr>
          <p:cNvSpPr>
            <a:spLocks xmlns:a="http://schemas.openxmlformats.org/drawingml/2006/main" noGrp="1"/>
          </p:cNvSpPr>
          <p:nvPr/>
        </p:nvSpPr>
        <p:spPr>
          <a:xfrm xmlns:a="http://schemas.openxmlformats.org/drawingml/2006/main">
            <a:off x="609600" y="472440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7B69"/>
                </a:solidFill>
                <a:latin typeface="Nimbus Sans"/>
                <a:ea typeface="Nimbus Sans"/>
                <a:cs typeface="Nimbus Sans"/>
              </a:defRPr>
            </a:pPr>
            <a:r>
              <a:rPr sz="2250" b="1">
                <a:solidFill>
                  <a:srgbClr val="E67B69"/>
                </a:solidFill>
                <a:latin typeface="Nimbus Sans"/>
                <a:ea typeface="Nimbus Sans"/>
                <a:cs typeface="Nimbus Sans"/>
              </a:rPr>
              <a:t>Pilot measures</a:t>
            </a:r>
          </a:p>
        </p:txBody>
      </p:sp>
      <p:sp>
        <p:nvSpPr>
          <p:cNvPr id="14" name="">
            <a:extLst xmlns:a="http://schemas.openxmlformats.org/drawingml/2006/main">
              <a:ext uri="{FF2B5EF4-FFF2-40B4-BE49-F238E27FC236}">
                <a16:creationId xmlns:a16="http://schemas.microsoft.com/office/drawing/2014/main" id="{A1326BD0-CF37-4F47-B8D0-01FF4FB202E7}"/>
              </a:ext>
            </a:extLst>
          </p:cNvPr>
          <p:cNvSpPr>
            <a:spLocks xmlns:a="http://schemas.openxmlformats.org/drawingml/2006/main" noGrp="1"/>
          </p:cNvSpPr>
          <p:nvPr/>
        </p:nvSpPr>
        <p:spPr>
          <a:xfrm xmlns:a="http://schemas.openxmlformats.org/drawingml/2006/main">
            <a:off x="609600" y="529590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2–3 day deployment target     Tool reuse     Approval turnaround</a:t>
            </a:r>
          </a:p>
          <a:p xmlns:a="http://schemas.openxmlformats.org/drawingml/2006/main">
            <a:pPr>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Ownership records and trace completeness</a:t>
            </a:r>
          </a:p>
        </p:txBody>
      </p:sp>
    </p:spTree>
    <p:extLst>
      <p:ext uri="{BB962C8B-B14F-4D97-AF65-F5344CB8AC3E}">
        <p14:creationId xmlns:p14="http://schemas.microsoft.com/office/powerpoint/2010/main" val="97638756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4895BE7-0670-4E0D-914E-CA6E19220132}"/>
              </a:ext>
            </a:extLst>
          </p:cNvPr>
          <p:cNvSpPr>
            <a:spLocks xmlns:a="http://schemas.openxmlformats.org/drawingml/2006/main" noGrp="1"/>
          </p:cNvSpPr>
          <p:nvPr/>
        </p:nvSpPr>
        <p:spPr>
          <a:xfrm xmlns:a="http://schemas.openxmlformats.org/drawingml/2006/main">
            <a:off x="609600" y="63627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8343B"/>
                </a:solidFill>
                <a:latin typeface="Nimbus Sans"/>
                <a:ea typeface="Nimbus Sans"/>
                <a:cs typeface="Nimbus Sans"/>
              </a:defRPr>
            </a:pPr>
            <a:r>
              <a:rPr sz="1275" b="1">
                <a:solidFill>
                  <a:srgbClr val="28343B"/>
                </a:solidFill>
                <a:latin typeface="Nimbus Sans"/>
                <a:ea typeface="Nimbus Sans"/>
                <a:cs typeface="Nimbus Sans"/>
              </a:rPr>
              <a:t>Guardian AI</a:t>
            </a:r>
          </a:p>
        </p:txBody>
      </p:sp>
      <p:sp>
        <p:nvSpPr>
          <p:cNvPr id="2" name="">
            <a:extLst xmlns:a="http://schemas.openxmlformats.org/drawingml/2006/main">
              <a:ext uri="{FF2B5EF4-FFF2-40B4-BE49-F238E27FC236}">
                <a16:creationId xmlns:a16="http://schemas.microsoft.com/office/drawing/2014/main" id="{C6FDE642-AEBD-413B-A785-87D561C0A38C}"/>
              </a:ext>
            </a:extLst>
          </p:cNvPr>
          <p:cNvSpPr>
            <a:spLocks xmlns:a="http://schemas.openxmlformats.org/drawingml/2006/main" noGrp="1"/>
          </p:cNvSpPr>
          <p:nvPr/>
        </p:nvSpPr>
        <p:spPr>
          <a:xfrm xmlns:a="http://schemas.openxmlformats.org/drawingml/2006/main">
            <a:off x="11049000" y="63627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8343B"/>
                </a:solidFill>
                <a:latin typeface="Nimbus Sans"/>
                <a:ea typeface="Nimbus Sans"/>
                <a:cs typeface="Nimbus Sans"/>
              </a:defRPr>
            </a:pPr>
            <a:r>
              <a:rPr sz="1275" b="0">
                <a:solidFill>
                  <a:srgbClr val="28343B"/>
                </a:solidFill>
                <a:latin typeface="Nimbus Sans"/>
                <a:ea typeface="Nimbus Sans"/>
                <a:cs typeface="Nimbus Sans"/>
              </a:rPr>
              <a:t>13</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564dedd7d2442e0"/>
          <a:stretch xmlns:a="http://schemas.openxmlformats.org/drawingml/2006/main"/>
        </p:blipFill>
        <p:spPr>
          <a:xfrm xmlns:a="http://schemas.openxmlformats.org/drawingml/2006/main">
            <a:off x="609600" y="470943"/>
            <a:ext cx="2171700" cy="49638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A1DDBF6-CFCE-4A08-A302-90B0E503ECA3}"/>
              </a:ext>
            </a:extLst>
          </p:cNvPr>
          <p:cNvSpPr>
            <a:spLocks xmlns:a="http://schemas.openxmlformats.org/drawingml/2006/main" noGrp="1"/>
          </p:cNvSpPr>
          <p:nvPr/>
        </p:nvSpPr>
        <p:spPr>
          <a:xfrm xmlns:a="http://schemas.openxmlformats.org/drawingml/2006/main">
            <a:off x="609600" y="22764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75" b="1">
                <a:solidFill>
                  <a:srgbClr val="28343B"/>
                </a:solidFill>
                <a:latin typeface="Nimbus Sans"/>
                <a:ea typeface="Nimbus Sans"/>
                <a:cs typeface="Nimbus Sans"/>
              </a:defRPr>
            </a:pPr>
            <a:r>
              <a:rPr sz="4575" b="1">
                <a:solidFill>
                  <a:srgbClr val="28343B"/>
                </a:solidFill>
                <a:latin typeface="Nimbus Sans"/>
                <a:ea typeface="Nimbus Sans"/>
                <a:cs typeface="Nimbus Sans"/>
              </a:rPr>
              <a:t>Questions and discussion</a:t>
            </a:r>
          </a:p>
        </p:txBody>
      </p:sp>
      <p:sp>
        <p:nvSpPr>
          <p:cNvPr id="5" name="">
            <a:extLst xmlns:a="http://schemas.openxmlformats.org/drawingml/2006/main">
              <a:ext uri="{FF2B5EF4-FFF2-40B4-BE49-F238E27FC236}">
                <a16:creationId xmlns:a16="http://schemas.microsoft.com/office/drawing/2014/main" id="{FE7231B2-7D22-4636-A98C-CD54001DBBDE}"/>
              </a:ext>
            </a:extLst>
          </p:cNvPr>
          <p:cNvSpPr>
            <a:spLocks xmlns:a="http://schemas.openxmlformats.org/drawingml/2006/main" noGrp="1"/>
          </p:cNvSpPr>
          <p:nvPr/>
        </p:nvSpPr>
        <p:spPr>
          <a:xfrm xmlns:a="http://schemas.openxmlformats.org/drawingml/2006/main">
            <a:off x="609600" y="36290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AE5142"/>
                </a:solidFill>
                <a:latin typeface="Nimbus Sans"/>
                <a:ea typeface="Nimbus Sans"/>
                <a:cs typeface="Nimbus Sans"/>
              </a:defRPr>
            </a:pPr>
            <a:r>
              <a:rPr sz="2625" b="0">
                <a:solidFill>
                  <a:srgbClr val="AE5142"/>
                </a:solidFill>
                <a:latin typeface="Nimbus Sans"/>
                <a:ea typeface="Nimbus Sans"/>
                <a:cs typeface="Nimbus Sans"/>
              </a:rPr>
              <a:t>Which use case should join the pilot?</a:t>
            </a:r>
          </a:p>
        </p:txBody>
      </p:sp>
      <p:sp>
        <p:nvSpPr>
          <p:cNvPr id="6" name="">
            <a:extLst xmlns:a="http://schemas.openxmlformats.org/drawingml/2006/main">
              <a:ext uri="{FF2B5EF4-FFF2-40B4-BE49-F238E27FC236}">
                <a16:creationId xmlns:a16="http://schemas.microsoft.com/office/drawing/2014/main" id="{E0F7481F-3902-4900-8F71-C8A247B916B4}"/>
              </a:ext>
            </a:extLst>
          </p:cNvPr>
          <p:cNvSpPr>
            <a:spLocks xmlns:a="http://schemas.openxmlformats.org/drawingml/2006/main" noGrp="1"/>
          </p:cNvSpPr>
          <p:nvPr/>
        </p:nvSpPr>
        <p:spPr>
          <a:xfrm xmlns:a="http://schemas.openxmlformats.org/drawingml/2006/main">
            <a:off x="609600" y="4543425"/>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8343B"/>
                </a:solidFill>
                <a:latin typeface="Nimbus Sans"/>
                <a:ea typeface="Nimbus Sans"/>
                <a:cs typeface="Nimbus Sans"/>
              </a:defRPr>
            </a:pPr>
            <a:r>
              <a:rPr sz="2325" b="0">
                <a:solidFill>
                  <a:srgbClr val="28343B"/>
                </a:solidFill>
                <a:latin typeface="Nimbus Sans"/>
                <a:ea typeface="Nimbus Sans"/>
                <a:cs typeface="Nimbus Sans"/>
              </a:rPr>
              <a:t>Discuss onboarding needs, enterprise integrations,</a:t>
            </a:r>
          </a:p>
          <a:p xmlns:a="http://schemas.openxmlformats.org/drawingml/2006/main">
            <a:pPr>
              <a:defRPr sz="2325" b="0">
                <a:solidFill>
                  <a:srgbClr val="28343B"/>
                </a:solidFill>
                <a:latin typeface="Nimbus Sans"/>
                <a:ea typeface="Nimbus Sans"/>
                <a:cs typeface="Nimbus Sans"/>
              </a:defRPr>
            </a:pPr>
            <a:r>
              <a:rPr sz="2325" b="0">
                <a:solidFill>
                  <a:srgbClr val="28343B"/>
                </a:solidFill>
                <a:latin typeface="Nimbus Sans"/>
                <a:ea typeface="Nimbus Sans"/>
                <a:cs typeface="Nimbus Sans"/>
              </a:rPr>
              <a:t>and the evidence needed for production readiness.</a:t>
            </a:r>
          </a:p>
        </p:txBody>
      </p:sp>
    </p:spTree>
    <p:extLst>
      <p:ext uri="{BB962C8B-B14F-4D97-AF65-F5344CB8AC3E}">
        <p14:creationId xmlns:p14="http://schemas.microsoft.com/office/powerpoint/2010/main" val="15630693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2026-09-13T22:53:01.4140000Z</dcterms:created>
  <dcterms:modified xsi:type="dcterms:W3CDTF">2026-09-13T22:53:01.4140000Z</dcterms:modified>
</coreProperties>
</file>