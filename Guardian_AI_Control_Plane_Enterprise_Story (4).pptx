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688a6cb2eb4ec7" /><Relationship Type="http://schemas.openxmlformats.org/officeDocument/2006/relationships/extended-properties" Target="/docProps/app.xml" Id="R350f6b91678a42fb" /><Relationship Type="http://schemas.openxmlformats.org/officeDocument/2006/relationships/officeDocument" Target="/ppt/presentation.xml" Id="R24962c9dbd904f15" /></Relationships>
</file>

<file path=ppt/presentation.xml><?xml version="1.0" encoding="utf-8"?>
<p:presentation xmlns:p="http://schemas.openxmlformats.org/presentationml/2006/main">
  <p:sldMasterIdLst>
    <p:sldMasterId xmlns:r="http://schemas.openxmlformats.org/officeDocument/2006/relationships" id="2147483648" r:id="R6d013ac2c2284356"/>
  </p:sldMasterIdLst>
  <p:notesMasterIdLst>
    <p:notesMasterId xmlns:r="http://schemas.openxmlformats.org/officeDocument/2006/relationships" r:id="R6176aa7a8f7846e0"/>
  </p:notesMasterIdLst>
  <p:sldIdLst>
    <p:sldId xmlns:r="http://schemas.openxmlformats.org/officeDocument/2006/relationships" id="256" r:id="Rbc13901f00614912"/>
    <p:sldId xmlns:r="http://schemas.openxmlformats.org/officeDocument/2006/relationships" id="257" r:id="R6a6a1f20805b47dc"/>
    <p:sldId xmlns:r="http://schemas.openxmlformats.org/officeDocument/2006/relationships" id="258" r:id="Rd13dc8c48d7d4cc6"/>
    <p:sldId xmlns:r="http://schemas.openxmlformats.org/officeDocument/2006/relationships" id="259" r:id="R7ddabc749a2e461a"/>
    <p:sldId xmlns:r="http://schemas.openxmlformats.org/officeDocument/2006/relationships" id="260" r:id="Ra82aaaf785b2411f"/>
    <p:sldId xmlns:r="http://schemas.openxmlformats.org/officeDocument/2006/relationships" id="261" r:id="Rc43f18a5552f4f22"/>
    <p:sldId xmlns:r="http://schemas.openxmlformats.org/officeDocument/2006/relationships" id="262" r:id="R97bc4045193d47fe"/>
    <p:sldId xmlns:r="http://schemas.openxmlformats.org/officeDocument/2006/relationships" id="263" r:id="R87b3881e55674e12"/>
    <p:sldId xmlns:r="http://schemas.openxmlformats.org/officeDocument/2006/relationships" id="264" r:id="R2b3c5c6b90b645c6"/>
    <p:sldId xmlns:r="http://schemas.openxmlformats.org/officeDocument/2006/relationships" id="265" r:id="Rb45f0eb0f841432b"/>
    <p:sldId xmlns:r="http://schemas.openxmlformats.org/officeDocument/2006/relationships" id="266" r:id="R90aa5f6d79a14336"/>
    <p:sldId xmlns:r="http://schemas.openxmlformats.org/officeDocument/2006/relationships" id="267" r:id="Rc0d4972b63374b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81b6df5cdb4062" /><Relationship Type="http://schemas.openxmlformats.org/officeDocument/2006/relationships/slideMaster" Target="/ppt/slideMasters/slideMaster1.xml" Id="R6d013ac2c2284356" /><Relationship Type="http://schemas.openxmlformats.org/officeDocument/2006/relationships/notesMaster" Target="/ppt/notesMasters/notesMaster1.xml" Id="R6176aa7a8f7846e0" /><Relationship Type="http://schemas.openxmlformats.org/officeDocument/2006/relationships/presProps" Target="/ppt/presProps.xml" Id="R02ff6554553241cc" /><Relationship Type="http://schemas.openxmlformats.org/officeDocument/2006/relationships/tableStyles" Target="/ppt/tableStyles.xml" Id="R1c5f8d0fea154b16" /><Relationship Type="http://schemas.openxmlformats.org/officeDocument/2006/relationships/slide" Target="/ppt/slides/slide1.xml" Id="Rbc13901f00614912" /><Relationship Type="http://schemas.openxmlformats.org/officeDocument/2006/relationships/slide" Target="/ppt/slides/slide2.xml" Id="R6a6a1f20805b47dc" /><Relationship Type="http://schemas.openxmlformats.org/officeDocument/2006/relationships/slide" Target="/ppt/slides/slide3.xml" Id="Rd13dc8c48d7d4cc6" /><Relationship Type="http://schemas.openxmlformats.org/officeDocument/2006/relationships/slide" Target="/ppt/slides/slide4.xml" Id="R7ddabc749a2e461a" /><Relationship Type="http://schemas.openxmlformats.org/officeDocument/2006/relationships/slide" Target="/ppt/slides/slide5.xml" Id="Ra82aaaf785b2411f" /><Relationship Type="http://schemas.openxmlformats.org/officeDocument/2006/relationships/slide" Target="/ppt/slides/slide6.xml" Id="Rc43f18a5552f4f22" /><Relationship Type="http://schemas.openxmlformats.org/officeDocument/2006/relationships/slide" Target="/ppt/slides/slide7.xml" Id="R97bc4045193d47fe" /><Relationship Type="http://schemas.openxmlformats.org/officeDocument/2006/relationships/slide" Target="/ppt/slides/slide8.xml" Id="R87b3881e55674e12" /><Relationship Type="http://schemas.openxmlformats.org/officeDocument/2006/relationships/slide" Target="/ppt/slides/slide9.xml" Id="R2b3c5c6b90b645c6" /><Relationship Type="http://schemas.openxmlformats.org/officeDocument/2006/relationships/slide" Target="/ppt/slides/slide10.xml" Id="Rb45f0eb0f841432b" /><Relationship Type="http://schemas.openxmlformats.org/officeDocument/2006/relationships/slide" Target="/ppt/slides/slide11.xml" Id="R90aa5f6d79a14336" /><Relationship Type="http://schemas.openxmlformats.org/officeDocument/2006/relationships/slide" Target="/ppt/slides/slide12.xml" Id="Rc0d4972b63374b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bb3f035f944d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14d46de9ab4dbd" /><Relationship Type="http://schemas.openxmlformats.org/officeDocument/2006/relationships/notesMaster" Target="/ppt/notesMasters/notesMaster1.xml" Id="R4ea252e94ff14a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9baa1844c047c9" /><Relationship Type="http://schemas.openxmlformats.org/officeDocument/2006/relationships/notesMaster" Target="/ppt/notesMasters/notesMaster1.xml" Id="R5139452800c443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8c480676ca4d8c" /><Relationship Type="http://schemas.openxmlformats.org/officeDocument/2006/relationships/notesMaster" Target="/ppt/notesMasters/notesMaster1.xml" Id="R5aeb9e1f28614c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a62f1c484b425a" /><Relationship Type="http://schemas.openxmlformats.org/officeDocument/2006/relationships/notesMaster" Target="/ppt/notesMasters/notesMaster1.xml" Id="R720450be777b4f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adb8fc7faf4bf3" /><Relationship Type="http://schemas.openxmlformats.org/officeDocument/2006/relationships/notesMaster" Target="/ppt/notesMasters/notesMaster1.xml" Id="Rf59d76d7fb184c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aa23dc392e4f3d" /><Relationship Type="http://schemas.openxmlformats.org/officeDocument/2006/relationships/notesMaster" Target="/ppt/notesMasters/notesMaster1.xml" Id="R1611166923ce41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66b2f62d874d5d" /><Relationship Type="http://schemas.openxmlformats.org/officeDocument/2006/relationships/notesMaster" Target="/ppt/notesMasters/notesMaster1.xml" Id="Rf615d80c687048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022a626ce04064" /><Relationship Type="http://schemas.openxmlformats.org/officeDocument/2006/relationships/notesMaster" Target="/ppt/notesMasters/notesMaster1.xml" Id="R7ca0dbfac76e45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f667343b83481a" /><Relationship Type="http://schemas.openxmlformats.org/officeDocument/2006/relationships/notesMaster" Target="/ppt/notesMasters/notesMaster1.xml" Id="R14eb3a4c4ae742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a0b539c2b04980" /><Relationship Type="http://schemas.openxmlformats.org/officeDocument/2006/relationships/notesMaster" Target="/ppt/notesMasters/notesMaster1.xml" Id="R7bd31d024ffe44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89a0afdabd4934" /><Relationship Type="http://schemas.openxmlformats.org/officeDocument/2006/relationships/notesMaster" Target="/ppt/notesMasters/notesMaster1.xml" Id="R7ca8ca818fd540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103984a05b412b" /><Relationship Type="http://schemas.openxmlformats.org/officeDocument/2006/relationships/notesMaster" Target="/ppt/notesMasters/notesMaster1.xml" Id="R77fb1208989642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Opening: Imagine a team with a useful agent idea. The team understands the business process, but turning the idea into a usable application also requires access, deployment, operational visibility and financial accountability. Guardian’s Control Plane brings that shared foundation together so teams can spend more time on the behavior that creates business value. This presentation covers the working foundation and the broader target platform, including capabilities still being completed.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Use a simple example: an employee service assistant. The team can describe the question it should answer, but must also solve who can use it, which systems it can reach, how it is deployed, what happens if it fails, and who owns the spending. These responsibilities are necessary. The opportunity is to make their setup reusable instead of rediscovering them for every agent. FinOps (Financial Operations) is an operational framework and cultural practice that connects technology decisions with financial accountability to maximize the business value of cloud spending.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Contrast the delivery models without assigning unsupported percentages. In the separate model, every project carries setup work alongside its business logic. In the target model, each team retains its use case and agent behavior while a platform team maintains common services. The current code assessment confirms real reusable pieces such as tool registration, code generation and development deployment. Enterprise-wide enforcement, tracing and FinOps are not complete today.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Explain this as an operating model, not a technical network diagram. The agent team concentrates on business behavior while common platform services handle recurring setup and operations. Security uses enterprise identity. Permissions determine which tools may be used. Observability explains agent activity. FinOps connects technology decisions with financial accountability to maximize the business value of cloud spending. It is an operating framework and cultural practice shared across technology, finance and business teams. The assessment confirms only part of this target model. FinOps pricing and cost allocation are not implemented, tracing is not enabled in shipped environments, and authorization coverage needs hardening. The Control Plane coordinates configuration; this diagram does not imply that every model call must synchronously traverse its UI or API.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This is a responsibility shift, not the elimination of engineering or governance. Business teams still own the purpose, domain knowledge, workflows and quality of their agents. The platform team owns reusable capabilities and the enterprise standards around them. Applications may still need custom integrations, testing and approvals. The shared foundation reduces repeated setup work while leaving the differentiated business logic with the people closest to the problem.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The supplied assessment reports a real authoring wizard and code generation, registration and review task creation, a live development deployment pipeline, and persistent run history. The strongest demonstration is the harness deployment path. An approval workflow exists, but its integrity is not yet sufficient to claim an enforced production gate. Tool selections are not reliably carried through the authoring wizard, and working tool-grant management uses a separate screen. Prepare a supported, verified demo rather than assuming every UI selection reaches the runtime.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For a general audience, separate authentication from permission enforcement. Entra sign-in answers who the user is. Organization and project records establish ownership and roles. Tool grants describe what an agent may access. These building blocks exist, but the supplied assessment shows incomplete authorization checks and environment-dependent policy enforcement. Do not claim universal least privilege, fail-closed behavior or unbypassable approvals today. SailPoint is not directly integrated with this application; do not imply an in-product SailPoint workflow.</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Run history is one of the strongest current capabilities in the assessment. It supports centralized investigation instead of hunting through individual cloud logs. Per-run input and output token counts are a useful foundation, but counts are not a cost report. The assessment says tracing export code exists but is disabled in all shipped environments, and pricing/cost aggregation are not implemented. Explain that completing these shared services will let teams consume a consistent operating view instead of building separate reporting for each agent.
FinOps (Financial Operations) is an operational framework and cultural practice that connects technology decisions with financial accountability to maximize the business value of cloud spending. Shared ownership, cost visibility and value-based technology choices support this practice. Token counts and cost reporting are enabling capabilities, not the full FinOps framework.</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Tell the story of a team building an employee service assistant. Their differentiating work is deciding which questions to answer, what business rules apply, how to handle uncertainty, and what a helpful answer looks like. The platform provides a supported path to a development endpoint and a record of test runs. This is an illustrative scenario, not a claim that this exact solution is already deployed. Custom business data access remains dependent on a supported integration and approved tool configuration.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Keep this slide candid and concise. The working foundation includes real creation/code generation, a tool registry, grants on a separate screen, development deployment and run records. The next enterprise readiness milestone is hardening authorization and approval integrity, enabling tracing, and completing a usable production promotion flow. Cost reporting, consolidated agent operations and retirement capabilities are future scope. These are priorities rather than dated delivery commitments. They prevent the target platform picture from being mistaken for a complete production feature inventory.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Connect each platform mechanism to a business consequence. Reuse reduces repeated integration work. Guided deployment reduces handoffs for supported development scenarios. Common controls can create consistency when enforcement is complete. Shared operations can improve accountability when tracing and financial reporting are delivered. Avoid claiming measured savings, percentages or cost reduction. For a pilot, measure elapsed time to the first successful development run and track handoffs, tool reuse and coverage of ownership records.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notes
Close with the requested indicative comparison: a few weeks of separate setup and coordination versus a two-to-three-day target for a supported agent development deployment through the Control Plane. Both figures are planning statements supplied for this presentation, not a measured benchmark. Define the measurement as elapsed time from a ready use case to the first successful development run, with prerequisite access and supported integrations in place. The supplied assessment contains no measured timing data. Do not repeat its example three-to-four-weeks-to-hours figures as achieved results. Production readiness still depends on completing control hardening and the promotion workflow. End with: The opportunity is to stop rebuilding the foundation for every agent, so our teams can spend their time on the business problem.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2908bacb5041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a650c6e6324c7b" /><Relationship Type="http://schemas.openxmlformats.org/officeDocument/2006/relationships/slideLayout" Target="/ppt/slideLayouts/slideLayout1.xml" Id="R122c4c674cf344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c4c674cf344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5e1e6bdfff4fbc" /><Relationship Type="http://schemas.openxmlformats.org/officeDocument/2006/relationships/notesSlide" Target="/ppt/notesSlides/notesSlide1.xml" Id="Rd5d88d222a574d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c7504021b24470" /><Relationship Type="http://schemas.openxmlformats.org/officeDocument/2006/relationships/notesSlide" Target="/ppt/notesSlides/notesSlide2.xml" Id="Ra4212d26b51442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28e03af6914172" /><Relationship Type="http://schemas.openxmlformats.org/officeDocument/2006/relationships/notesSlide" Target="/ppt/notesSlides/notesSlide3.xml" Id="R6010d7a5fdd443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a6e6e326c74f93" /><Relationship Type="http://schemas.openxmlformats.org/officeDocument/2006/relationships/notesSlide" Target="/ppt/notesSlides/notesSlide4.xml" Id="R139daf2a8b9643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cdc734603d471e" /><Relationship Type="http://schemas.openxmlformats.org/officeDocument/2006/relationships/notesSlide" Target="/ppt/notesSlides/notesSlide5.xml" Id="Re838bf06f70a44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005cc061854683" /><Relationship Type="http://schemas.openxmlformats.org/officeDocument/2006/relationships/notesSlide" Target="/ppt/notesSlides/notesSlide6.xml" Id="Reddd0a2f0b374a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9529cf173743fb" /><Relationship Type="http://schemas.openxmlformats.org/officeDocument/2006/relationships/notesSlide" Target="/ppt/notesSlides/notesSlide7.xml" Id="Ree19ae2c6ab14a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0acb7685084f26" /><Relationship Type="http://schemas.openxmlformats.org/officeDocument/2006/relationships/notesSlide" Target="/ppt/notesSlides/notesSlide8.xml" Id="Rb4f89b2d4f5b48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f6e9f3474a24bcf" /><Relationship Type="http://schemas.openxmlformats.org/officeDocument/2006/relationships/notesSlide" Target="/ppt/notesSlides/notesSlide9.xml" Id="R05c6c049ecde49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4c886ecd8b144fa" /><Relationship Type="http://schemas.openxmlformats.org/officeDocument/2006/relationships/notesSlide" Target="/ppt/notesSlides/notesSlide10.xml" Id="Rec36bf5e82444d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5ac8d0e31db4b7f" /><Relationship Type="http://schemas.openxmlformats.org/officeDocument/2006/relationships/notesSlide" Target="/ppt/notesSlides/notesSlide11.xml" Id="R46a90b88215d4c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3f4ee7c27f460f" /><Relationship Type="http://schemas.openxmlformats.org/officeDocument/2006/relationships/notesSlide" Target="/ppt/notesSlides/notesSlide12.xml" Id="R656b6164a819462a" /></Relationships>
</file>

<file path=ppt/slides/slide1.xml><?xml version="1.0" encoding="utf-8"?>
<p:sld xmlns:p="http://schemas.openxmlformats.org/presentationml/2006/main">
  <p:cSld>
    <p:bg>
      <p:bgPr>
        <a:solidFill xmlns:a="http://schemas.openxmlformats.org/drawingml/2006/main">
          <a:srgbClr val="152E3D"/>
        </a:solidFill>
      </p:bgPr>
    </p:bg>
    <p:spTree>
      <p:nvGrpSpPr>
        <p:cNvPr id="1" name=""/>
        <p:cNvGrpSpPr/>
        <p:nvPr/>
      </p:nvGrpSpPr>
      <p:grpSpPr>
        <a:xfrm xmlns:a="http://schemas.openxmlformats.org/drawingml/2006/main"/>
      </p:grpSpPr>
      <p:sp>
        <p:nvSpPr>
          <p:cNvPr id="38" name="box">
            <a:extLst xmlns:a="http://schemas.openxmlformats.org/drawingml/2006/main">
              <a:ext uri="{FF2B5EF4-FFF2-40B4-BE49-F238E27FC236}">
                <a16:creationId xmlns:a16="http://schemas.microsoft.com/office/drawing/2014/main" id="{DCE1591C-0262-4236-9D45-C4700D62FB16}"/>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385362"/>
          </a:solidFill>
          <a:ln xmlns:a="http://schemas.openxmlformats.org/drawingml/2006/main" w="0">
            <a:noFill/>
          </a:ln>
        </p:spPr>
      </p:sp>
      <p:sp>
        <p:nvSpPr>
          <p:cNvPr id="2" name="text">
            <a:extLst xmlns:a="http://schemas.openxmlformats.org/drawingml/2006/main">
              <a:ext uri="{FF2B5EF4-FFF2-40B4-BE49-F238E27FC236}">
                <a16:creationId xmlns:a16="http://schemas.microsoft.com/office/drawing/2014/main" id="{370B1D01-B416-4FB6-9B67-06980616A427}"/>
              </a:ext>
            </a:extLst>
          </p:cNvPr>
          <p:cNvSpPr>
            <a:spLocks xmlns:a="http://schemas.openxmlformats.org/drawingml/2006/main" noGrp="1"/>
          </p:cNvSpPr>
          <p:nvPr/>
        </p:nvSpPr>
        <p:spPr>
          <a:xfrm xmlns:a="http://schemas.openxmlformats.org/drawingml/2006/main">
            <a:off x="609600" y="656272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975" b="1">
                <a:solidFill>
                  <a:srgbClr val="7DD6DD"/>
                </a:solidFill>
                <a:latin typeface="Nimbus Sans"/>
                <a:ea typeface="Nimbus Sans"/>
                <a:cs typeface="Nimbus Sans"/>
              </a:defRPr>
            </a:pPr>
            <a:r>
              <a:rPr sz="975" b="1">
                <a:solidFill>
                  <a:srgbClr val="7DD6DD"/>
                </a:solidFill>
                <a:latin typeface="Nimbus Sans"/>
                <a:ea typeface="Nimbus Sans"/>
                <a:cs typeface="Nimbus Sans"/>
              </a:rPr>
              <a:t>GUARDIAN AI  /  CONVERGENCE 2026</a:t>
            </a:r>
          </a:p>
        </p:txBody>
      </p:sp>
      <p:sp>
        <p:nvSpPr>
          <p:cNvPr id="3" name="text">
            <a:extLst xmlns:a="http://schemas.openxmlformats.org/drawingml/2006/main">
              <a:ext uri="{FF2B5EF4-FFF2-40B4-BE49-F238E27FC236}">
                <a16:creationId xmlns:a16="http://schemas.microsoft.com/office/drawing/2014/main" id="{6718903C-FE66-4EF4-B458-D783E60D6598}"/>
              </a:ext>
            </a:extLst>
          </p:cNvPr>
          <p:cNvSpPr>
            <a:spLocks xmlns:a="http://schemas.openxmlformats.org/drawingml/2006/main" noGrp="1"/>
          </p:cNvSpPr>
          <p:nvPr/>
        </p:nvSpPr>
        <p:spPr>
          <a:xfrm xmlns:a="http://schemas.openxmlformats.org/drawingml/2006/main">
            <a:off x="11096625" y="65627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7DD6DD"/>
                </a:solidFill>
                <a:latin typeface="Nimbus Sans"/>
                <a:ea typeface="Nimbus Sans"/>
                <a:cs typeface="Nimbus Sans"/>
              </a:defRPr>
            </a:pPr>
            <a:r>
              <a:rPr sz="1050" b="0">
                <a:solidFill>
                  <a:srgbClr val="7DD6DD"/>
                </a:solidFill>
                <a:latin typeface="Nimbus Sans"/>
                <a:ea typeface="Nimbus Sans"/>
                <a:cs typeface="Nimbus Sans"/>
              </a:rPr>
              <a:t>01</a:t>
            </a:r>
          </a:p>
        </p:txBody>
      </p:sp>
      <p:sp>
        <p:nvSpPr>
          <p:cNvPr id="4" name="text">
            <a:extLst xmlns:a="http://schemas.openxmlformats.org/drawingml/2006/main">
              <a:ext uri="{FF2B5EF4-FFF2-40B4-BE49-F238E27FC236}">
                <a16:creationId xmlns:a16="http://schemas.microsoft.com/office/drawing/2014/main" id="{998E24B6-A775-43E4-BD33-8ED8CF7A7CB9}"/>
              </a:ext>
            </a:extLst>
          </p:cNvPr>
          <p:cNvSpPr>
            <a:spLocks xmlns:a="http://schemas.openxmlformats.org/drawingml/2006/main" noGrp="1"/>
          </p:cNvSpPr>
          <p:nvPr/>
        </p:nvSpPr>
        <p:spPr>
          <a:xfrm xmlns:a="http://schemas.openxmlformats.org/drawingml/2006/main">
            <a:off x="609600" y="5810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7DD6DD"/>
                </a:solidFill>
                <a:latin typeface="Nimbus Sans"/>
                <a:ea typeface="Nimbus Sans"/>
                <a:cs typeface="Nimbus Sans"/>
              </a:defRPr>
            </a:pPr>
            <a:r>
              <a:rPr sz="1800" b="1">
                <a:solidFill>
                  <a:srgbClr val="7DD6DD"/>
                </a:solidFill>
                <a:latin typeface="Nimbus Sans"/>
                <a:ea typeface="Nimbus Sans"/>
                <a:cs typeface="Nimbus Sans"/>
              </a:rPr>
              <a:t>GUARDIAN AI</a:t>
            </a:r>
          </a:p>
        </p:txBody>
      </p:sp>
      <p:sp>
        <p:nvSpPr>
          <p:cNvPr id="5" name="text">
            <a:extLst xmlns:a="http://schemas.openxmlformats.org/drawingml/2006/main">
              <a:ext uri="{FF2B5EF4-FFF2-40B4-BE49-F238E27FC236}">
                <a16:creationId xmlns:a16="http://schemas.microsoft.com/office/drawing/2014/main" id="{473AC621-975D-406A-A12B-15BE9222DC02}"/>
              </a:ext>
            </a:extLst>
          </p:cNvPr>
          <p:cNvSpPr>
            <a:spLocks xmlns:a="http://schemas.openxmlformats.org/drawingml/2006/main" noGrp="1"/>
          </p:cNvSpPr>
          <p:nvPr/>
        </p:nvSpPr>
        <p:spPr>
          <a:xfrm xmlns:a="http://schemas.openxmlformats.org/drawingml/2006/main">
            <a:off x="609600" y="1619250"/>
            <a:ext cx="61912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Guardian AI</a:t>
            </a:r>
          </a:p>
          <a:p xmlns:a="http://schemas.openxmlformats.org/drawingml/2006/main">
            <a:pPr algn="l">
              <a:defRPr sz="4950" b="1">
                <a:solidFill>
                  <a:srgbClr val="FFFFFF"/>
                </a:solidFill>
                <a:latin typeface="Nimbus Sans"/>
                <a:ea typeface="Nimbus Sans"/>
                <a:cs typeface="Nimbus Sans"/>
              </a:defRPr>
            </a:pPr>
            <a:r>
              <a:rPr sz="4950" b="1">
                <a:solidFill>
                  <a:srgbClr val="FFFFFF"/>
                </a:solidFill>
                <a:latin typeface="Nimbus Sans"/>
                <a:ea typeface="Nimbus Sans"/>
                <a:cs typeface="Nimbus Sans"/>
              </a:rPr>
              <a:t>Control Plane</a:t>
            </a:r>
          </a:p>
        </p:txBody>
      </p:sp>
      <p:sp>
        <p:nvSpPr>
          <p:cNvPr id="6" name="text">
            <a:extLst xmlns:a="http://schemas.openxmlformats.org/drawingml/2006/main">
              <a:ext uri="{FF2B5EF4-FFF2-40B4-BE49-F238E27FC236}">
                <a16:creationId xmlns:a16="http://schemas.microsoft.com/office/drawing/2014/main" id="{EC57C040-3CD4-41C1-A70E-1837ED9A3B9B}"/>
              </a:ext>
            </a:extLst>
          </p:cNvPr>
          <p:cNvSpPr>
            <a:spLocks xmlns:a="http://schemas.openxmlformats.org/drawingml/2006/main" noGrp="1"/>
          </p:cNvSpPr>
          <p:nvPr/>
        </p:nvSpPr>
        <p:spPr>
          <a:xfrm xmlns:a="http://schemas.openxmlformats.org/drawingml/2006/main">
            <a:off x="609600" y="3476625"/>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625" b="1">
                <a:solidFill>
                  <a:srgbClr val="7DD6DD"/>
                </a:solidFill>
                <a:latin typeface="Nimbus Sans"/>
                <a:ea typeface="Nimbus Sans"/>
                <a:cs typeface="Nimbus Sans"/>
              </a:defRPr>
            </a:pPr>
            <a:r>
              <a:rPr sz="2625" b="1">
                <a:solidFill>
                  <a:srgbClr val="7DD6DD"/>
                </a:solidFill>
                <a:latin typeface="Nimbus Sans"/>
                <a:ea typeface="Nimbus Sans"/>
                <a:cs typeface="Nimbus Sans"/>
              </a:rPr>
              <a:t>A shared foundation for</a:t>
            </a:r>
          </a:p>
          <a:p xmlns:a="http://schemas.openxmlformats.org/drawingml/2006/main">
            <a:pPr algn="l">
              <a:defRPr sz="2625" b="1">
                <a:solidFill>
                  <a:srgbClr val="7DD6DD"/>
                </a:solidFill>
                <a:latin typeface="Nimbus Sans"/>
                <a:ea typeface="Nimbus Sans"/>
                <a:cs typeface="Nimbus Sans"/>
              </a:defRPr>
            </a:pPr>
            <a:r>
              <a:rPr sz="2625" b="1">
                <a:solidFill>
                  <a:srgbClr val="7DD6DD"/>
                </a:solidFill>
                <a:latin typeface="Nimbus Sans"/>
                <a:ea typeface="Nimbus Sans"/>
                <a:cs typeface="Nimbus Sans"/>
              </a:rPr>
              <a:t>enterprise AI agents</a:t>
            </a:r>
          </a:p>
        </p:txBody>
      </p:sp>
      <p:sp>
        <p:nvSpPr>
          <p:cNvPr id="7" name="text">
            <a:extLst xmlns:a="http://schemas.openxmlformats.org/drawingml/2006/main">
              <a:ext uri="{FF2B5EF4-FFF2-40B4-BE49-F238E27FC236}">
                <a16:creationId xmlns:a16="http://schemas.microsoft.com/office/drawing/2014/main" id="{A2163CC5-40A1-49A3-A0E6-B750F2C22123}"/>
              </a:ext>
            </a:extLst>
          </p:cNvPr>
          <p:cNvSpPr>
            <a:spLocks xmlns:a="http://schemas.openxmlformats.org/drawingml/2006/main" noGrp="1"/>
          </p:cNvSpPr>
          <p:nvPr/>
        </p:nvSpPr>
        <p:spPr>
          <a:xfrm xmlns:a="http://schemas.openxmlformats.org/drawingml/2006/main">
            <a:off x="609600" y="514350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More time for business logic.</a:t>
            </a:r>
          </a:p>
          <a:p xmlns:a="http://schemas.openxmlformats.org/drawingml/2006/main">
            <a:pPr algn="l">
              <a:defRPr sz="2250" b="0">
                <a:solidFill>
                  <a:srgbClr val="FFFFFF"/>
                </a:solidFill>
                <a:latin typeface="Nimbus Sans"/>
                <a:ea typeface="Nimbus Sans"/>
                <a:cs typeface="Nimbus Sans"/>
              </a:defRPr>
            </a:pPr>
            <a:r>
              <a:rPr sz="2250" b="0">
                <a:solidFill>
                  <a:srgbClr val="FFFFFF"/>
                </a:solidFill>
                <a:latin typeface="Nimbus Sans"/>
                <a:ea typeface="Nimbus Sans"/>
                <a:cs typeface="Nimbus Sans"/>
              </a:rPr>
              <a:t>Less repeated platform setup.</a:t>
            </a:r>
          </a:p>
        </p:txBody>
      </p:sp>
      <p:sp>
        <p:nvSpPr>
          <p:cNvPr id="8" name="glow frame">
            <a:extLst xmlns:a="http://schemas.openxmlformats.org/drawingml/2006/main">
              <a:ext uri="{FF2B5EF4-FFF2-40B4-BE49-F238E27FC236}">
                <a16:creationId xmlns:a16="http://schemas.microsoft.com/office/drawing/2014/main" id="{B67762A7-5C03-4102-848C-0EFB67970A41}"/>
              </a:ext>
            </a:extLst>
          </p:cNvPr>
          <p:cNvSpPr>
            <a:spLocks xmlns:a="http://schemas.openxmlformats.org/drawingml/2006/main" noGrp="1"/>
          </p:cNvSpPr>
          <p:nvPr/>
        </p:nvSpPr>
        <p:spPr>
          <a:xfrm xmlns:a="http://schemas.openxmlformats.org/drawingml/2006/main">
            <a:off x="7000875" y="1552575"/>
            <a:ext cx="4448175" cy="2971800"/>
          </a:xfrm>
          <a:prstGeom xmlns:a="http://schemas.openxmlformats.org/drawingml/2006/main" prst="roundRect">
            <a:avLst>
              <a:gd name="adj" fmla="val 1923"/>
            </a:avLst>
          </a:prstGeom>
          <a:solidFill xmlns:a="http://schemas.openxmlformats.org/drawingml/2006/main">
            <a:srgbClr val="0D2430"/>
          </a:solidFill>
          <a:ln xmlns:a="http://schemas.openxmlformats.org/drawingml/2006/main" w="15240">
            <a:solidFill>
              <a:srgbClr val="0D6576"/>
            </a:solidFill>
          </a:ln>
          <ns0:effectLst xmlns:ns0="http://schemas.openxmlformats.org/drawingml/2006/main">
            <ns0:glow rad="65000">
              <ns0:srgbClr val="7DD6DD">
                <ns0:alpha val="34000"/>
              </ns0:srgbClr>
            </ns0:glow>
          </ns0:effectLst>
        </p:spPr>
      </p:sp>
      <p:sp>
        <p:nvSpPr>
          <p:cNvPr id="9" name="glow frame">
            <a:extLst xmlns:a="http://schemas.openxmlformats.org/drawingml/2006/main">
              <a:ext uri="{FF2B5EF4-FFF2-40B4-BE49-F238E27FC236}">
                <a16:creationId xmlns:a16="http://schemas.microsoft.com/office/drawing/2014/main" id="{06A2907C-D92B-4B8D-891D-A25932B1BAC4}"/>
              </a:ext>
            </a:extLst>
          </p:cNvPr>
          <p:cNvSpPr>
            <a:spLocks xmlns:a="http://schemas.openxmlformats.org/drawingml/2006/main" noGrp="1"/>
          </p:cNvSpPr>
          <p:nvPr/>
        </p:nvSpPr>
        <p:spPr>
          <a:xfrm xmlns:a="http://schemas.openxmlformats.org/drawingml/2006/main">
            <a:off x="7086600" y="1638300"/>
            <a:ext cx="4276725" cy="2800350"/>
          </a:xfrm>
          <a:prstGeom xmlns:a="http://schemas.openxmlformats.org/drawingml/2006/main" prst="roundRect">
            <a:avLst>
              <a:gd name="adj" fmla="val 1020"/>
            </a:avLst>
          </a:prstGeom>
          <a:noFill xmlns:a="http://schemas.openxmlformats.org/drawingml/2006/main"/>
          <a:ln xmlns:a="http://schemas.openxmlformats.org/drawingml/2006/main" w="15240">
            <a:solidFill>
              <a:srgbClr val="7DD6DD"/>
            </a:solidFill>
          </a:ln>
          <ns1:effectLst xmlns:ns1="http://schemas.openxmlformats.org/drawingml/2006/main">
            <ns1:glow rad="65000">
              <ns1:srgbClr val="7DD6DD">
                <ns1:alpha val="34000"/>
              </ns1:srgbClr>
            </ns1:glow>
          </ns1:effectLst>
        </p:spPr>
      </p:sp>
      <p:sp>
        <p:nvSpPr>
          <p:cNvPr id="10" name="glow business">
            <a:extLst xmlns:a="http://schemas.openxmlformats.org/drawingml/2006/main">
              <a:ext uri="{FF2B5EF4-FFF2-40B4-BE49-F238E27FC236}">
                <a16:creationId xmlns:a16="http://schemas.microsoft.com/office/drawing/2014/main" id="{09D6F74C-5E54-4892-9BE6-2DA6C94E480E}"/>
              </a:ext>
            </a:extLst>
          </p:cNvPr>
          <p:cNvSpPr>
            <a:spLocks xmlns:a="http://schemas.openxmlformats.org/drawingml/2006/main" noGrp="1"/>
          </p:cNvSpPr>
          <p:nvPr/>
        </p:nvSpPr>
        <p:spPr>
          <a:xfrm xmlns:a="http://schemas.openxmlformats.org/drawingml/2006/main">
            <a:off x="7915275" y="1095375"/>
            <a:ext cx="2705100" cy="100965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15240">
            <a:solidFill>
              <a:srgbClr val="7DD6DD"/>
            </a:solidFill>
          </a:ln>
          <ns2:effectLst xmlns:ns2="http://schemas.openxmlformats.org/drawingml/2006/main">
            <ns2:glow rad="65000">
              <ns2:srgbClr val="7DD6DD">
                <ns2:alpha val="34000"/>
              </ns2:srgbClr>
            </ns2:glow>
          </ns2:effectLst>
        </p:spPr>
      </p:sp>
      <p:sp>
        <p:nvSpPr>
          <p:cNvPr id="11" name="text">
            <a:extLst xmlns:a="http://schemas.openxmlformats.org/drawingml/2006/main">
              <a:ext uri="{FF2B5EF4-FFF2-40B4-BE49-F238E27FC236}">
                <a16:creationId xmlns:a16="http://schemas.microsoft.com/office/drawing/2014/main" id="{3EB59FDA-15ED-4D74-9295-F96685AC0260}"/>
              </a:ext>
            </a:extLst>
          </p:cNvPr>
          <p:cNvSpPr>
            <a:spLocks xmlns:a="http://schemas.openxmlformats.org/drawingml/2006/main" noGrp="1"/>
          </p:cNvSpPr>
          <p:nvPr/>
        </p:nvSpPr>
        <p:spPr>
          <a:xfrm xmlns:a="http://schemas.openxmlformats.org/drawingml/2006/main">
            <a:off x="8105775" y="1200150"/>
            <a:ext cx="2324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0D2430"/>
                </a:solidFill>
                <a:latin typeface="Nimbus Sans"/>
                <a:ea typeface="Nimbus Sans"/>
                <a:cs typeface="Nimbus Sans"/>
              </a:defRPr>
            </a:pPr>
            <a:r>
              <a:rPr sz="1725" b="1">
                <a:solidFill>
                  <a:srgbClr val="0D2430"/>
                </a:solidFill>
                <a:latin typeface="Nimbus Sans"/>
                <a:ea typeface="Nimbus Sans"/>
                <a:cs typeface="Nimbus Sans"/>
              </a:rPr>
              <a:t>Business teams:</a:t>
            </a:r>
          </a:p>
        </p:txBody>
      </p:sp>
      <p:sp>
        <p:nvSpPr>
          <p:cNvPr id="12" name="text">
            <a:extLst xmlns:a="http://schemas.openxmlformats.org/drawingml/2006/main">
              <a:ext uri="{FF2B5EF4-FFF2-40B4-BE49-F238E27FC236}">
                <a16:creationId xmlns:a16="http://schemas.microsoft.com/office/drawing/2014/main" id="{376BC97C-0580-44A6-8CC6-6B34A2A992C0}"/>
              </a:ext>
            </a:extLst>
          </p:cNvPr>
          <p:cNvSpPr>
            <a:spLocks xmlns:a="http://schemas.openxmlformats.org/drawingml/2006/main" noGrp="1"/>
          </p:cNvSpPr>
          <p:nvPr/>
        </p:nvSpPr>
        <p:spPr>
          <a:xfrm xmlns:a="http://schemas.openxmlformats.org/drawingml/2006/main">
            <a:off x="8105775" y="1504950"/>
            <a:ext cx="2324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0">
                <a:solidFill>
                  <a:srgbClr val="0D2430"/>
                </a:solidFill>
                <a:latin typeface="Nimbus Sans"/>
                <a:ea typeface="Nimbus Sans"/>
                <a:cs typeface="Nimbus Sans"/>
              </a:defRPr>
            </a:pPr>
            <a:r>
              <a:rPr sz="1650" b="0">
                <a:solidFill>
                  <a:srgbClr val="0D2430"/>
                </a:solidFill>
                <a:latin typeface="Nimbus Sans"/>
                <a:ea typeface="Nimbus Sans"/>
                <a:cs typeface="Nimbus Sans"/>
              </a:rPr>
              <a:t>Use cases and agent</a:t>
            </a:r>
          </a:p>
          <a:p xmlns:a="http://schemas.openxmlformats.org/drawingml/2006/main">
            <a:pPr algn="ctr">
              <a:defRPr sz="1650" b="0">
                <a:solidFill>
                  <a:srgbClr val="0D2430"/>
                </a:solidFill>
                <a:latin typeface="Nimbus Sans"/>
                <a:ea typeface="Nimbus Sans"/>
                <a:cs typeface="Nimbus Sans"/>
              </a:defRPr>
            </a:pPr>
            <a:r>
              <a:rPr sz="1650" b="0">
                <a:solidFill>
                  <a:srgbClr val="0D2430"/>
                </a:solidFill>
                <a:latin typeface="Nimbus Sans"/>
                <a:ea typeface="Nimbus Sans"/>
                <a:cs typeface="Nimbus Sans"/>
              </a:rPr>
              <a:t>behavior</a:t>
            </a:r>
          </a:p>
        </p:txBody>
      </p:sp>
      <p:sp>
        <p:nvSpPr>
          <p:cNvPr id="13" name="glow arrow">
            <a:extLst xmlns:a="http://schemas.openxmlformats.org/drawingml/2006/main">
              <a:ext uri="{FF2B5EF4-FFF2-40B4-BE49-F238E27FC236}">
                <a16:creationId xmlns:a16="http://schemas.microsoft.com/office/drawing/2014/main" id="{13454D2D-062B-42E0-B324-FC36E42937ED}"/>
              </a:ext>
            </a:extLst>
          </p:cNvPr>
          <p:cNvSpPr>
            <a:spLocks xmlns:a="http://schemas.openxmlformats.org/drawingml/2006/main" noGrp="1"/>
          </p:cNvSpPr>
          <p:nvPr/>
        </p:nvSpPr>
        <p:spPr>
          <a:xfrm xmlns:a="http://schemas.openxmlformats.org/drawingml/2006/main">
            <a:off x="8972550" y="2133600"/>
            <a:ext cx="581025" cy="885825"/>
          </a:xfrm>
          <a:prstGeom xmlns:a="http://schemas.openxmlformats.org/drawingml/2006/main" prst="downArrow">
            <a:avLst/>
          </a:prstGeom>
          <a:solidFill xmlns:a="http://schemas.openxmlformats.org/drawingml/2006/main">
            <a:srgbClr val="34B7C2"/>
          </a:solidFill>
          <a:ln xmlns:a="http://schemas.openxmlformats.org/drawingml/2006/main" w="19050">
            <a:solidFill>
              <a:srgbClr val="7DD6DD"/>
            </a:solidFill>
          </a:ln>
          <ns3:effectLst xmlns:ns3="http://schemas.openxmlformats.org/drawingml/2006/main">
            <ns3:glow rad="65000">
              <ns3:srgbClr val="7DD6DD">
                <ns3:alpha val="34000"/>
              </ns3:srgbClr>
            </ns3:glow>
          </ns3:effectLst>
        </p:spPr>
      </p:sp>
      <p:sp>
        <p:nvSpPr>
          <p:cNvPr id="14" name="glow platform">
            <a:extLst xmlns:a="http://schemas.openxmlformats.org/drawingml/2006/main">
              <a:ext uri="{FF2B5EF4-FFF2-40B4-BE49-F238E27FC236}">
                <a16:creationId xmlns:a16="http://schemas.microsoft.com/office/drawing/2014/main" id="{39B8E099-6FFC-4FD5-AE4A-6B6CEC2F88F9}"/>
              </a:ext>
            </a:extLst>
          </p:cNvPr>
          <p:cNvSpPr>
            <a:spLocks xmlns:a="http://schemas.openxmlformats.org/drawingml/2006/main" noGrp="1"/>
          </p:cNvSpPr>
          <p:nvPr/>
        </p:nvSpPr>
        <p:spPr>
          <a:xfrm xmlns:a="http://schemas.openxmlformats.org/drawingml/2006/main">
            <a:off x="7324725" y="3000375"/>
            <a:ext cx="3895725" cy="866775"/>
          </a:xfrm>
          <a:prstGeom xmlns:a="http://schemas.openxmlformats.org/drawingml/2006/main" prst="roundRect">
            <a:avLst>
              <a:gd name="adj" fmla="val 8791"/>
            </a:avLst>
          </a:prstGeom>
          <a:solidFill xmlns:a="http://schemas.openxmlformats.org/drawingml/2006/main">
            <a:srgbClr val="0D2430"/>
          </a:solidFill>
          <a:ln xmlns:a="http://schemas.openxmlformats.org/drawingml/2006/main" w="15240">
            <a:solidFill>
              <a:srgbClr val="7DD6DD"/>
            </a:solidFill>
          </a:ln>
          <ns4:effectLst xmlns:ns4="http://schemas.openxmlformats.org/drawingml/2006/main">
            <ns4:glow rad="65000">
              <ns4:srgbClr val="7DD6DD">
                <ns4:alpha val="34000"/>
              </ns4:srgbClr>
            </ns4:glow>
          </ns4:effectLst>
        </p:spPr>
      </p:sp>
      <p:sp>
        <p:nvSpPr>
          <p:cNvPr id="15" name="box">
            <a:extLst xmlns:a="http://schemas.openxmlformats.org/drawingml/2006/main">
              <a:ext uri="{FF2B5EF4-FFF2-40B4-BE49-F238E27FC236}">
                <a16:creationId xmlns:a16="http://schemas.microsoft.com/office/drawing/2014/main" id="{33A6BC3F-21F4-4343-9827-8052A3DF35A5}"/>
              </a:ext>
            </a:extLst>
          </p:cNvPr>
          <p:cNvSpPr>
            <a:spLocks xmlns:a="http://schemas.openxmlformats.org/drawingml/2006/main" noGrp="1"/>
          </p:cNvSpPr>
          <p:nvPr/>
        </p:nvSpPr>
        <p:spPr>
          <a:xfrm xmlns:a="http://schemas.openxmlformats.org/drawingml/2006/main">
            <a:off x="7419975" y="3076575"/>
            <a:ext cx="3705225" cy="695325"/>
          </a:xfrm>
          <a:prstGeom xmlns:a="http://schemas.openxmlformats.org/drawingml/2006/main" prst="roundRect">
            <a:avLst>
              <a:gd name="adj" fmla="val 5479"/>
            </a:avLst>
          </a:prstGeom>
          <a:solidFill xmlns:a="http://schemas.openxmlformats.org/drawingml/2006/main">
            <a:srgbClr val="0D6576"/>
          </a:solidFill>
          <a:ln xmlns:a="http://schemas.openxmlformats.org/drawingml/2006/main" w="15240">
            <a:solidFill>
              <a:srgbClr val="0D6576"/>
            </a:solidFill>
          </a:ln>
        </p:spPr>
      </p:sp>
      <p:sp>
        <p:nvSpPr>
          <p:cNvPr id="16" name="text">
            <a:extLst xmlns:a="http://schemas.openxmlformats.org/drawingml/2006/main">
              <a:ext uri="{FF2B5EF4-FFF2-40B4-BE49-F238E27FC236}">
                <a16:creationId xmlns:a16="http://schemas.microsoft.com/office/drawing/2014/main" id="{9D7CE4AE-0032-47E2-BB30-0EA3D1B3DF98}"/>
              </a:ext>
            </a:extLst>
          </p:cNvPr>
          <p:cNvSpPr>
            <a:spLocks xmlns:a="http://schemas.openxmlformats.org/drawingml/2006/main" noGrp="1"/>
          </p:cNvSpPr>
          <p:nvPr/>
        </p:nvSpPr>
        <p:spPr>
          <a:xfrm xmlns:a="http://schemas.openxmlformats.org/drawingml/2006/main">
            <a:off x="7562850" y="313372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FFFFFF"/>
                </a:solidFill>
                <a:latin typeface="Nimbus Sans"/>
                <a:ea typeface="Nimbus Sans"/>
                <a:cs typeface="Nimbus Sans"/>
              </a:defRPr>
            </a:pPr>
            <a:r>
              <a:rPr sz="1725" b="1">
                <a:solidFill>
                  <a:srgbClr val="FFFFFF"/>
                </a:solidFill>
                <a:latin typeface="Nimbus Sans"/>
                <a:ea typeface="Nimbus Sans"/>
                <a:cs typeface="Nimbus Sans"/>
              </a:rPr>
              <a:t>Guardian Control Plane:</a:t>
            </a:r>
          </a:p>
        </p:txBody>
      </p:sp>
      <p:sp>
        <p:nvSpPr>
          <p:cNvPr id="17" name="text">
            <a:extLst xmlns:a="http://schemas.openxmlformats.org/drawingml/2006/main">
              <a:ext uri="{FF2B5EF4-FFF2-40B4-BE49-F238E27FC236}">
                <a16:creationId xmlns:a16="http://schemas.microsoft.com/office/drawing/2014/main" id="{068EDA5C-C970-4A2A-A68D-C5EF11E5DD64}"/>
              </a:ext>
            </a:extLst>
          </p:cNvPr>
          <p:cNvSpPr>
            <a:spLocks xmlns:a="http://schemas.openxmlformats.org/drawingml/2006/main" noGrp="1"/>
          </p:cNvSpPr>
          <p:nvPr/>
        </p:nvSpPr>
        <p:spPr>
          <a:xfrm xmlns:a="http://schemas.openxmlformats.org/drawingml/2006/main">
            <a:off x="7524750" y="3429000"/>
            <a:ext cx="3495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0">
                <a:solidFill>
                  <a:srgbClr val="FFFFFF"/>
                </a:solidFill>
                <a:latin typeface="Nimbus Sans"/>
                <a:ea typeface="Nimbus Sans"/>
                <a:cs typeface="Nimbus Sans"/>
              </a:defRPr>
            </a:pPr>
            <a:r>
              <a:rPr sz="1650" b="0">
                <a:solidFill>
                  <a:srgbClr val="FFFFFF"/>
                </a:solidFill>
                <a:latin typeface="Nimbus Sans"/>
                <a:ea typeface="Nimbus Sans"/>
                <a:cs typeface="Nimbus Sans"/>
              </a:rPr>
              <a:t>Shared enterprise capabilities</a:t>
            </a:r>
          </a:p>
        </p:txBody>
      </p:sp>
      <p:sp>
        <p:nvSpPr>
          <p:cNvPr id="18" name="glow pillar cap">
            <a:extLst xmlns:a="http://schemas.openxmlformats.org/drawingml/2006/main">
              <a:ext uri="{FF2B5EF4-FFF2-40B4-BE49-F238E27FC236}">
                <a16:creationId xmlns:a16="http://schemas.microsoft.com/office/drawing/2014/main" id="{83B56A48-2A82-47A9-9372-840CDF754489}"/>
              </a:ext>
            </a:extLst>
          </p:cNvPr>
          <p:cNvSpPr>
            <a:spLocks xmlns:a="http://schemas.openxmlformats.org/drawingml/2006/main" noGrp="1"/>
          </p:cNvSpPr>
          <p:nvPr/>
        </p:nvSpPr>
        <p:spPr>
          <a:xfrm xmlns:a="http://schemas.openxmlformats.org/drawingml/2006/main">
            <a:off x="7400925" y="3876675"/>
            <a:ext cx="752475" cy="1238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5:effectLst xmlns:ns5="http://schemas.openxmlformats.org/drawingml/2006/main">
            <ns5:glow rad="65000">
              <ns5:srgbClr val="7DD6DD">
                <ns5:alpha val="34000"/>
              </ns5:srgbClr>
            </ns5:glow>
          </ns5:effectLst>
        </p:spPr>
      </p:sp>
      <p:sp>
        <p:nvSpPr>
          <p:cNvPr id="19" name="glow pillar">
            <a:extLst xmlns:a="http://schemas.openxmlformats.org/drawingml/2006/main">
              <a:ext uri="{FF2B5EF4-FFF2-40B4-BE49-F238E27FC236}">
                <a16:creationId xmlns:a16="http://schemas.microsoft.com/office/drawing/2014/main" id="{BBABBD97-499C-4E02-B650-D027D86BB480}"/>
              </a:ext>
            </a:extLst>
          </p:cNvPr>
          <p:cNvSpPr>
            <a:spLocks xmlns:a="http://schemas.openxmlformats.org/drawingml/2006/main" noGrp="1"/>
          </p:cNvSpPr>
          <p:nvPr/>
        </p:nvSpPr>
        <p:spPr>
          <a:xfrm xmlns:a="http://schemas.openxmlformats.org/drawingml/2006/main">
            <a:off x="7458075" y="4000500"/>
            <a:ext cx="638175" cy="15716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6:effectLst xmlns:ns6="http://schemas.openxmlformats.org/drawingml/2006/main">
            <ns6:glow rad="65000">
              <ns6:srgbClr val="7DD6DD">
                <ns6:alpha val="34000"/>
              </ns6:srgbClr>
            </ns6:glow>
          </ns6:effectLst>
        </p:spPr>
      </p:sp>
      <p:sp>
        <p:nvSpPr>
          <p:cNvPr id="20" name="box">
            <a:extLst xmlns:a="http://schemas.openxmlformats.org/drawingml/2006/main">
              <a:ext uri="{FF2B5EF4-FFF2-40B4-BE49-F238E27FC236}">
                <a16:creationId xmlns:a16="http://schemas.microsoft.com/office/drawing/2014/main" id="{7DC41A1C-3B0B-4AFD-9A62-6CCE546B9C5C}"/>
              </a:ext>
            </a:extLst>
          </p:cNvPr>
          <p:cNvSpPr>
            <a:spLocks xmlns:a="http://schemas.openxmlformats.org/drawingml/2006/main" noGrp="1"/>
          </p:cNvSpPr>
          <p:nvPr/>
        </p:nvSpPr>
        <p:spPr>
          <a:xfrm xmlns:a="http://schemas.openxmlformats.org/drawingml/2006/main">
            <a:off x="7515225" y="4048125"/>
            <a:ext cx="523875" cy="1476375"/>
          </a:xfrm>
          <a:prstGeom xmlns:a="http://schemas.openxmlformats.org/drawingml/2006/main" prst="rect">
            <a:avLst/>
          </a:prstGeom>
          <a:noFill xmlns:a="http://schemas.openxmlformats.org/drawingml/2006/main"/>
          <a:ln xmlns:a="http://schemas.openxmlformats.org/drawingml/2006/main" w="15240">
            <a:solidFill>
              <a:srgbClr val="0D6576"/>
            </a:solidFill>
          </a:ln>
        </p:spPr>
      </p:sp>
      <p:sp>
        <p:nvSpPr>
          <p:cNvPr id="21" name="glow pillar foot">
            <a:extLst xmlns:a="http://schemas.openxmlformats.org/drawingml/2006/main">
              <a:ext uri="{FF2B5EF4-FFF2-40B4-BE49-F238E27FC236}">
                <a16:creationId xmlns:a16="http://schemas.microsoft.com/office/drawing/2014/main" id="{39EA3115-5BBD-45CA-A530-4B1FD84952C7}"/>
              </a:ext>
            </a:extLst>
          </p:cNvPr>
          <p:cNvSpPr>
            <a:spLocks xmlns:a="http://schemas.openxmlformats.org/drawingml/2006/main" noGrp="1"/>
          </p:cNvSpPr>
          <p:nvPr/>
        </p:nvSpPr>
        <p:spPr>
          <a:xfrm xmlns:a="http://schemas.openxmlformats.org/drawingml/2006/main">
            <a:off x="7400925" y="5572125"/>
            <a:ext cx="752475" cy="1238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7:effectLst xmlns:ns7="http://schemas.openxmlformats.org/drawingml/2006/main">
            <ns7:glow rad="65000">
              <ns7:srgbClr val="7DD6DD">
                <ns7:alpha val="34000"/>
              </ns7:srgbClr>
            </ns7:glow>
          </ns7:effectLst>
        </p:spPr>
      </p:sp>
      <p:sp>
        <p:nvSpPr>
          <p:cNvPr id="22" name="text">
            <a:extLst xmlns:a="http://schemas.openxmlformats.org/drawingml/2006/main">
              <a:ext uri="{FF2B5EF4-FFF2-40B4-BE49-F238E27FC236}">
                <a16:creationId xmlns:a16="http://schemas.microsoft.com/office/drawing/2014/main" id="{A7BC855B-5B95-4B5C-9D04-121D38164C4C}"/>
              </a:ext>
            </a:extLst>
          </p:cNvPr>
          <p:cNvSpPr>
            <a:spLocks xmlns:a="http://schemas.openxmlformats.org/drawingml/2006/main" noGrp="1"/>
          </p:cNvSpPr>
          <p:nvPr/>
        </p:nvSpPr>
        <p:spPr>
          <a:xfrm xmlns:a="http://schemas.openxmlformats.org/drawingml/2006/main" rot="16200000">
            <a:off x="7096125" y="4600575"/>
            <a:ext cx="1362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FFFF"/>
                </a:solidFill>
                <a:latin typeface="Nimbus Sans"/>
                <a:ea typeface="Nimbus Sans"/>
                <a:cs typeface="Nimbus Sans"/>
              </a:defRPr>
            </a:pPr>
            <a:r>
              <a:rPr sz="1500" b="1">
                <a:solidFill>
                  <a:srgbClr val="FFFFFF"/>
                </a:solidFill>
                <a:latin typeface="Nimbus Sans"/>
                <a:ea typeface="Nimbus Sans"/>
                <a:cs typeface="Nimbus Sans"/>
              </a:rPr>
              <a:t>Security</a:t>
            </a:r>
          </a:p>
        </p:txBody>
      </p:sp>
      <p:sp>
        <p:nvSpPr>
          <p:cNvPr id="23" name="glow pillar cap">
            <a:extLst xmlns:a="http://schemas.openxmlformats.org/drawingml/2006/main">
              <a:ext uri="{FF2B5EF4-FFF2-40B4-BE49-F238E27FC236}">
                <a16:creationId xmlns:a16="http://schemas.microsoft.com/office/drawing/2014/main" id="{93DD8608-D94C-4A5F-B6A7-7ACA28EC4A21}"/>
              </a:ext>
            </a:extLst>
          </p:cNvPr>
          <p:cNvSpPr>
            <a:spLocks xmlns:a="http://schemas.openxmlformats.org/drawingml/2006/main" noGrp="1"/>
          </p:cNvSpPr>
          <p:nvPr/>
        </p:nvSpPr>
        <p:spPr>
          <a:xfrm xmlns:a="http://schemas.openxmlformats.org/drawingml/2006/main">
            <a:off x="8382000" y="3876675"/>
            <a:ext cx="752475" cy="1238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8:effectLst xmlns:ns8="http://schemas.openxmlformats.org/drawingml/2006/main">
            <ns8:glow rad="65000">
              <ns8:srgbClr val="7DD6DD">
                <ns8:alpha val="34000"/>
              </ns8:srgbClr>
            </ns8:glow>
          </ns8:effectLst>
        </p:spPr>
      </p:sp>
      <p:sp>
        <p:nvSpPr>
          <p:cNvPr id="24" name="glow pillar">
            <a:extLst xmlns:a="http://schemas.openxmlformats.org/drawingml/2006/main">
              <a:ext uri="{FF2B5EF4-FFF2-40B4-BE49-F238E27FC236}">
                <a16:creationId xmlns:a16="http://schemas.microsoft.com/office/drawing/2014/main" id="{1D1615EB-92E9-4DBE-A2D6-AA12A89FE01B}"/>
              </a:ext>
            </a:extLst>
          </p:cNvPr>
          <p:cNvSpPr>
            <a:spLocks xmlns:a="http://schemas.openxmlformats.org/drawingml/2006/main" noGrp="1"/>
          </p:cNvSpPr>
          <p:nvPr/>
        </p:nvSpPr>
        <p:spPr>
          <a:xfrm xmlns:a="http://schemas.openxmlformats.org/drawingml/2006/main">
            <a:off x="8439150" y="4000500"/>
            <a:ext cx="638175" cy="15716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9:effectLst xmlns:ns9="http://schemas.openxmlformats.org/drawingml/2006/main">
            <ns9:glow rad="65000">
              <ns9:srgbClr val="7DD6DD">
                <ns9:alpha val="34000"/>
              </ns9:srgbClr>
            </ns9:glow>
          </ns9:effectLst>
        </p:spPr>
      </p:sp>
      <p:sp>
        <p:nvSpPr>
          <p:cNvPr id="25" name="box">
            <a:extLst xmlns:a="http://schemas.openxmlformats.org/drawingml/2006/main">
              <a:ext uri="{FF2B5EF4-FFF2-40B4-BE49-F238E27FC236}">
                <a16:creationId xmlns:a16="http://schemas.microsoft.com/office/drawing/2014/main" id="{9E4A91C6-BB6F-4CBF-8EF5-C56ACD0AEE93}"/>
              </a:ext>
            </a:extLst>
          </p:cNvPr>
          <p:cNvSpPr>
            <a:spLocks xmlns:a="http://schemas.openxmlformats.org/drawingml/2006/main" noGrp="1"/>
          </p:cNvSpPr>
          <p:nvPr/>
        </p:nvSpPr>
        <p:spPr>
          <a:xfrm xmlns:a="http://schemas.openxmlformats.org/drawingml/2006/main">
            <a:off x="8496300" y="4048125"/>
            <a:ext cx="523875" cy="1476375"/>
          </a:xfrm>
          <a:prstGeom xmlns:a="http://schemas.openxmlformats.org/drawingml/2006/main" prst="rect">
            <a:avLst/>
          </a:prstGeom>
          <a:noFill xmlns:a="http://schemas.openxmlformats.org/drawingml/2006/main"/>
          <a:ln xmlns:a="http://schemas.openxmlformats.org/drawingml/2006/main" w="15240">
            <a:solidFill>
              <a:srgbClr val="0D6576"/>
            </a:solidFill>
          </a:ln>
        </p:spPr>
      </p:sp>
      <p:sp>
        <p:nvSpPr>
          <p:cNvPr id="26" name="glow pillar foot">
            <a:extLst xmlns:a="http://schemas.openxmlformats.org/drawingml/2006/main">
              <a:ext uri="{FF2B5EF4-FFF2-40B4-BE49-F238E27FC236}">
                <a16:creationId xmlns:a16="http://schemas.microsoft.com/office/drawing/2014/main" id="{B192A1AF-74BD-4E95-A210-E5E1434A0124}"/>
              </a:ext>
            </a:extLst>
          </p:cNvPr>
          <p:cNvSpPr>
            <a:spLocks xmlns:a="http://schemas.openxmlformats.org/drawingml/2006/main" noGrp="1"/>
          </p:cNvSpPr>
          <p:nvPr/>
        </p:nvSpPr>
        <p:spPr>
          <a:xfrm xmlns:a="http://schemas.openxmlformats.org/drawingml/2006/main">
            <a:off x="8382000" y="5572125"/>
            <a:ext cx="752475" cy="1238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10:effectLst xmlns:ns10="http://schemas.openxmlformats.org/drawingml/2006/main">
            <ns10:glow rad="65000">
              <ns10:srgbClr val="7DD6DD">
                <ns10:alpha val="34000"/>
              </ns10:srgbClr>
            </ns10:glow>
          </ns10:effectLst>
        </p:spPr>
      </p:sp>
      <p:sp>
        <p:nvSpPr>
          <p:cNvPr id="27" name="text">
            <a:extLst xmlns:a="http://schemas.openxmlformats.org/drawingml/2006/main">
              <a:ext uri="{FF2B5EF4-FFF2-40B4-BE49-F238E27FC236}">
                <a16:creationId xmlns:a16="http://schemas.microsoft.com/office/drawing/2014/main" id="{6135AB57-4FDF-4BE8-B931-3D93D9D59963}"/>
              </a:ext>
            </a:extLst>
          </p:cNvPr>
          <p:cNvSpPr>
            <a:spLocks xmlns:a="http://schemas.openxmlformats.org/drawingml/2006/main" noGrp="1"/>
          </p:cNvSpPr>
          <p:nvPr/>
        </p:nvSpPr>
        <p:spPr>
          <a:xfrm xmlns:a="http://schemas.openxmlformats.org/drawingml/2006/main" rot="16200000">
            <a:off x="8077200" y="4600575"/>
            <a:ext cx="1362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FFFF"/>
                </a:solidFill>
                <a:latin typeface="Nimbus Sans"/>
                <a:ea typeface="Nimbus Sans"/>
                <a:cs typeface="Nimbus Sans"/>
              </a:defRPr>
            </a:pPr>
            <a:r>
              <a:rPr sz="1500" b="1">
                <a:solidFill>
                  <a:srgbClr val="FFFFFF"/>
                </a:solidFill>
                <a:latin typeface="Nimbus Sans"/>
                <a:ea typeface="Nimbus Sans"/>
                <a:cs typeface="Nimbus Sans"/>
              </a:rPr>
              <a:t>Permissions</a:t>
            </a:r>
          </a:p>
        </p:txBody>
      </p:sp>
      <p:sp>
        <p:nvSpPr>
          <p:cNvPr id="28" name="glow pillar cap">
            <a:extLst xmlns:a="http://schemas.openxmlformats.org/drawingml/2006/main">
              <a:ext uri="{FF2B5EF4-FFF2-40B4-BE49-F238E27FC236}">
                <a16:creationId xmlns:a16="http://schemas.microsoft.com/office/drawing/2014/main" id="{81EB63B4-AB78-4900-83CB-55303405F07E}"/>
              </a:ext>
            </a:extLst>
          </p:cNvPr>
          <p:cNvSpPr>
            <a:spLocks xmlns:a="http://schemas.openxmlformats.org/drawingml/2006/main" noGrp="1"/>
          </p:cNvSpPr>
          <p:nvPr/>
        </p:nvSpPr>
        <p:spPr>
          <a:xfrm xmlns:a="http://schemas.openxmlformats.org/drawingml/2006/main">
            <a:off x="9363075" y="3876675"/>
            <a:ext cx="752475" cy="1238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11:effectLst xmlns:ns11="http://schemas.openxmlformats.org/drawingml/2006/main">
            <ns11:glow rad="65000">
              <ns11:srgbClr val="7DD6DD">
                <ns11:alpha val="34000"/>
              </ns11:srgbClr>
            </ns11:glow>
          </ns11:effectLst>
        </p:spPr>
      </p:sp>
      <p:sp>
        <p:nvSpPr>
          <p:cNvPr id="29" name="glow pillar">
            <a:extLst xmlns:a="http://schemas.openxmlformats.org/drawingml/2006/main">
              <a:ext uri="{FF2B5EF4-FFF2-40B4-BE49-F238E27FC236}">
                <a16:creationId xmlns:a16="http://schemas.microsoft.com/office/drawing/2014/main" id="{113DD18B-AAA2-41E7-99C1-65E6FE57C3A6}"/>
              </a:ext>
            </a:extLst>
          </p:cNvPr>
          <p:cNvSpPr>
            <a:spLocks xmlns:a="http://schemas.openxmlformats.org/drawingml/2006/main" noGrp="1"/>
          </p:cNvSpPr>
          <p:nvPr/>
        </p:nvSpPr>
        <p:spPr>
          <a:xfrm xmlns:a="http://schemas.openxmlformats.org/drawingml/2006/main">
            <a:off x="9420225" y="4000500"/>
            <a:ext cx="638175" cy="15716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12:effectLst xmlns:ns12="http://schemas.openxmlformats.org/drawingml/2006/main">
            <ns12:glow rad="65000">
              <ns12:srgbClr val="7DD6DD">
                <ns12:alpha val="34000"/>
              </ns12:srgbClr>
            </ns12:glow>
          </ns12:effectLst>
        </p:spPr>
      </p:sp>
      <p:sp>
        <p:nvSpPr>
          <p:cNvPr id="30" name="box">
            <a:extLst xmlns:a="http://schemas.openxmlformats.org/drawingml/2006/main">
              <a:ext uri="{FF2B5EF4-FFF2-40B4-BE49-F238E27FC236}">
                <a16:creationId xmlns:a16="http://schemas.microsoft.com/office/drawing/2014/main" id="{6ACDE7FA-3932-4C1B-B673-5C9E5D758830}"/>
              </a:ext>
            </a:extLst>
          </p:cNvPr>
          <p:cNvSpPr>
            <a:spLocks xmlns:a="http://schemas.openxmlformats.org/drawingml/2006/main" noGrp="1"/>
          </p:cNvSpPr>
          <p:nvPr/>
        </p:nvSpPr>
        <p:spPr>
          <a:xfrm xmlns:a="http://schemas.openxmlformats.org/drawingml/2006/main">
            <a:off x="9477375" y="4048125"/>
            <a:ext cx="523875" cy="1476375"/>
          </a:xfrm>
          <a:prstGeom xmlns:a="http://schemas.openxmlformats.org/drawingml/2006/main" prst="rect">
            <a:avLst/>
          </a:prstGeom>
          <a:noFill xmlns:a="http://schemas.openxmlformats.org/drawingml/2006/main"/>
          <a:ln xmlns:a="http://schemas.openxmlformats.org/drawingml/2006/main" w="15240">
            <a:solidFill>
              <a:srgbClr val="0D6576"/>
            </a:solidFill>
          </a:ln>
        </p:spPr>
      </p:sp>
      <p:sp>
        <p:nvSpPr>
          <p:cNvPr id="31" name="glow pillar foot">
            <a:extLst xmlns:a="http://schemas.openxmlformats.org/drawingml/2006/main">
              <a:ext uri="{FF2B5EF4-FFF2-40B4-BE49-F238E27FC236}">
                <a16:creationId xmlns:a16="http://schemas.microsoft.com/office/drawing/2014/main" id="{7087F639-8627-4847-B2BF-86F8A612964D}"/>
              </a:ext>
            </a:extLst>
          </p:cNvPr>
          <p:cNvSpPr>
            <a:spLocks xmlns:a="http://schemas.openxmlformats.org/drawingml/2006/main" noGrp="1"/>
          </p:cNvSpPr>
          <p:nvPr/>
        </p:nvSpPr>
        <p:spPr>
          <a:xfrm xmlns:a="http://schemas.openxmlformats.org/drawingml/2006/main">
            <a:off x="9363075" y="5572125"/>
            <a:ext cx="752475" cy="1238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13:effectLst xmlns:ns13="http://schemas.openxmlformats.org/drawingml/2006/main">
            <ns13:glow rad="65000">
              <ns13:srgbClr val="7DD6DD">
                <ns13:alpha val="34000"/>
              </ns13:srgbClr>
            </ns13:glow>
          </ns13:effectLst>
        </p:spPr>
      </p:sp>
      <p:sp>
        <p:nvSpPr>
          <p:cNvPr id="32" name="text">
            <a:extLst xmlns:a="http://schemas.openxmlformats.org/drawingml/2006/main">
              <a:ext uri="{FF2B5EF4-FFF2-40B4-BE49-F238E27FC236}">
                <a16:creationId xmlns:a16="http://schemas.microsoft.com/office/drawing/2014/main" id="{65880192-BA3F-40C1-A4BC-79C7C6F4B8AE}"/>
              </a:ext>
            </a:extLst>
          </p:cNvPr>
          <p:cNvSpPr>
            <a:spLocks xmlns:a="http://schemas.openxmlformats.org/drawingml/2006/main" noGrp="1"/>
          </p:cNvSpPr>
          <p:nvPr/>
        </p:nvSpPr>
        <p:spPr>
          <a:xfrm xmlns:a="http://schemas.openxmlformats.org/drawingml/2006/main" rot="16200000">
            <a:off x="9058275" y="4600575"/>
            <a:ext cx="1362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FFFF"/>
                </a:solidFill>
                <a:latin typeface="Nimbus Sans"/>
                <a:ea typeface="Nimbus Sans"/>
                <a:cs typeface="Nimbus Sans"/>
              </a:defRPr>
            </a:pPr>
            <a:r>
              <a:rPr sz="1500" b="1">
                <a:solidFill>
                  <a:srgbClr val="FFFFFF"/>
                </a:solidFill>
                <a:latin typeface="Nimbus Sans"/>
                <a:ea typeface="Nimbus Sans"/>
                <a:cs typeface="Nimbus Sans"/>
              </a:rPr>
              <a:t>Observability</a:t>
            </a:r>
          </a:p>
        </p:txBody>
      </p:sp>
      <p:sp>
        <p:nvSpPr>
          <p:cNvPr id="33" name="glow pillar cap">
            <a:extLst xmlns:a="http://schemas.openxmlformats.org/drawingml/2006/main">
              <a:ext uri="{FF2B5EF4-FFF2-40B4-BE49-F238E27FC236}">
                <a16:creationId xmlns:a16="http://schemas.microsoft.com/office/drawing/2014/main" id="{7014A07E-E659-4DA9-9195-B5B8E24744EA}"/>
              </a:ext>
            </a:extLst>
          </p:cNvPr>
          <p:cNvSpPr>
            <a:spLocks xmlns:a="http://schemas.openxmlformats.org/drawingml/2006/main" noGrp="1"/>
          </p:cNvSpPr>
          <p:nvPr/>
        </p:nvSpPr>
        <p:spPr>
          <a:xfrm xmlns:a="http://schemas.openxmlformats.org/drawingml/2006/main">
            <a:off x="10344150" y="3876675"/>
            <a:ext cx="752475" cy="1238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14:effectLst xmlns:ns14="http://schemas.openxmlformats.org/drawingml/2006/main">
            <ns14:glow rad="65000">
              <ns14:srgbClr val="7DD6DD">
                <ns14:alpha val="34000"/>
              </ns14:srgbClr>
            </ns14:glow>
          </ns14:effectLst>
        </p:spPr>
      </p:sp>
      <p:sp>
        <p:nvSpPr>
          <p:cNvPr id="34" name="glow pillar">
            <a:extLst xmlns:a="http://schemas.openxmlformats.org/drawingml/2006/main">
              <a:ext uri="{FF2B5EF4-FFF2-40B4-BE49-F238E27FC236}">
                <a16:creationId xmlns:a16="http://schemas.microsoft.com/office/drawing/2014/main" id="{32CCFAF8-B1DD-497D-80BE-7988B7B906C3}"/>
              </a:ext>
            </a:extLst>
          </p:cNvPr>
          <p:cNvSpPr>
            <a:spLocks xmlns:a="http://schemas.openxmlformats.org/drawingml/2006/main" noGrp="1"/>
          </p:cNvSpPr>
          <p:nvPr/>
        </p:nvSpPr>
        <p:spPr>
          <a:xfrm xmlns:a="http://schemas.openxmlformats.org/drawingml/2006/main">
            <a:off x="10401300" y="4000500"/>
            <a:ext cx="638175" cy="15716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15:effectLst xmlns:ns15="http://schemas.openxmlformats.org/drawingml/2006/main">
            <ns15:glow rad="65000">
              <ns15:srgbClr val="7DD6DD">
                <ns15:alpha val="34000"/>
              </ns15:srgbClr>
            </ns15:glow>
          </ns15:effectLst>
        </p:spPr>
      </p:sp>
      <p:sp>
        <p:nvSpPr>
          <p:cNvPr id="35" name="box">
            <a:extLst xmlns:a="http://schemas.openxmlformats.org/drawingml/2006/main">
              <a:ext uri="{FF2B5EF4-FFF2-40B4-BE49-F238E27FC236}">
                <a16:creationId xmlns:a16="http://schemas.microsoft.com/office/drawing/2014/main" id="{6BCBC8FF-A5B8-4886-BDB0-44731A5FDE5C}"/>
              </a:ext>
            </a:extLst>
          </p:cNvPr>
          <p:cNvSpPr>
            <a:spLocks xmlns:a="http://schemas.openxmlformats.org/drawingml/2006/main" noGrp="1"/>
          </p:cNvSpPr>
          <p:nvPr/>
        </p:nvSpPr>
        <p:spPr>
          <a:xfrm xmlns:a="http://schemas.openxmlformats.org/drawingml/2006/main">
            <a:off x="10458450" y="4048125"/>
            <a:ext cx="523875" cy="1476375"/>
          </a:xfrm>
          <a:prstGeom xmlns:a="http://schemas.openxmlformats.org/drawingml/2006/main" prst="rect">
            <a:avLst/>
          </a:prstGeom>
          <a:noFill xmlns:a="http://schemas.openxmlformats.org/drawingml/2006/main"/>
          <a:ln xmlns:a="http://schemas.openxmlformats.org/drawingml/2006/main" w="15240">
            <a:solidFill>
              <a:srgbClr val="0D6576"/>
            </a:solidFill>
          </a:ln>
        </p:spPr>
      </p:sp>
      <p:sp>
        <p:nvSpPr>
          <p:cNvPr id="36" name="glow pillar foot">
            <a:extLst xmlns:a="http://schemas.openxmlformats.org/drawingml/2006/main">
              <a:ext uri="{FF2B5EF4-FFF2-40B4-BE49-F238E27FC236}">
                <a16:creationId xmlns:a16="http://schemas.microsoft.com/office/drawing/2014/main" id="{41329CC6-7DA1-4784-8BF0-2A34E5EE0517}"/>
              </a:ext>
            </a:extLst>
          </p:cNvPr>
          <p:cNvSpPr>
            <a:spLocks xmlns:a="http://schemas.openxmlformats.org/drawingml/2006/main" noGrp="1"/>
          </p:cNvSpPr>
          <p:nvPr/>
        </p:nvSpPr>
        <p:spPr>
          <a:xfrm xmlns:a="http://schemas.openxmlformats.org/drawingml/2006/main">
            <a:off x="10344150" y="5572125"/>
            <a:ext cx="752475" cy="123825"/>
          </a:xfrm>
          <a:prstGeom xmlns:a="http://schemas.openxmlformats.org/drawingml/2006/main" prst="rect">
            <a:avLst/>
          </a:prstGeom>
          <a:solidFill xmlns:a="http://schemas.openxmlformats.org/drawingml/2006/main">
            <a:srgbClr val="0D2430"/>
          </a:solidFill>
          <a:ln xmlns:a="http://schemas.openxmlformats.org/drawingml/2006/main" w="15240">
            <a:solidFill>
              <a:srgbClr val="7DD6DD"/>
            </a:solidFill>
          </a:ln>
          <ns16:effectLst xmlns:ns16="http://schemas.openxmlformats.org/drawingml/2006/main">
            <ns16:glow rad="65000">
              <ns16:srgbClr val="7DD6DD">
                <ns16:alpha val="34000"/>
              </ns16:srgbClr>
            </ns16:glow>
          </ns16:effectLst>
        </p:spPr>
      </p:sp>
      <p:sp>
        <p:nvSpPr>
          <p:cNvPr id="37" name="text">
            <a:extLst xmlns:a="http://schemas.openxmlformats.org/drawingml/2006/main">
              <a:ext uri="{FF2B5EF4-FFF2-40B4-BE49-F238E27FC236}">
                <a16:creationId xmlns:a16="http://schemas.microsoft.com/office/drawing/2014/main" id="{0B1A10EC-06F7-4F0F-8A94-C2DBD00E52FC}"/>
              </a:ext>
            </a:extLst>
          </p:cNvPr>
          <p:cNvSpPr>
            <a:spLocks xmlns:a="http://schemas.openxmlformats.org/drawingml/2006/main" noGrp="1"/>
          </p:cNvSpPr>
          <p:nvPr/>
        </p:nvSpPr>
        <p:spPr>
          <a:xfrm xmlns:a="http://schemas.openxmlformats.org/drawingml/2006/main" rot="16200000">
            <a:off x="10039350" y="4600575"/>
            <a:ext cx="1362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FFFF"/>
                </a:solidFill>
                <a:latin typeface="Nimbus Sans"/>
                <a:ea typeface="Nimbus Sans"/>
                <a:cs typeface="Nimbus Sans"/>
              </a:defRPr>
            </a:pPr>
            <a:r>
              <a:rPr sz="1500" b="1">
                <a:solidFill>
                  <a:srgbClr val="FFFFFF"/>
                </a:solidFill>
                <a:latin typeface="Nimbus Sans"/>
                <a:ea typeface="Nimbus Sans"/>
                <a:cs typeface="Nimbus Sans"/>
              </a:rPr>
              <a:t>FinOps</a:t>
            </a:r>
          </a:p>
        </p:txBody>
      </p:sp>
    </p:spTree>
    <p:extLst>
      <p:ext uri="{BB962C8B-B14F-4D97-AF65-F5344CB8AC3E}">
        <p14:creationId xmlns:p14="http://schemas.microsoft.com/office/powerpoint/2010/main" val="206004708"/>
      </p:ext>
    </p:extLst>
  </p:cSld>
</p:sld>
</file>

<file path=ppt/slides/slide2.xml><?xml version="1.0" encoding="utf-8"?>
<p:sld xmlns:p="http://schemas.openxmlformats.org/presentationml/2006/main">
  <p:cSld>
    <p:bg>
      <p:bgPr>
        <a:solidFill xmlns:a="http://schemas.openxmlformats.org/drawingml/2006/main">
          <a:srgbClr val="152E3D"/>
        </a:solidFill>
      </p:bgPr>
    </p:bg>
    <p:spTree>
      <p:nvGrpSpPr>
        <p:cNvPr id="1" name=""/>
        <p:cNvGrpSpPr/>
        <p:nvPr/>
      </p:nvGrpSpPr>
      <p:grpSpPr>
        <a:xfrm xmlns:a="http://schemas.openxmlformats.org/drawingml/2006/main"/>
      </p:grpSpPr>
      <p:sp>
        <p:nvSpPr>
          <p:cNvPr id="34" name="box">
            <a:extLst xmlns:a="http://schemas.openxmlformats.org/drawingml/2006/main">
              <a:ext uri="{FF2B5EF4-FFF2-40B4-BE49-F238E27FC236}">
                <a16:creationId xmlns:a16="http://schemas.microsoft.com/office/drawing/2014/main" id="{4DE20E4A-5A6B-4FE5-8C41-E36993823D0A}"/>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385362"/>
          </a:solidFill>
          <a:ln xmlns:a="http://schemas.openxmlformats.org/drawingml/2006/main" w="0">
            <a:noFill/>
          </a:ln>
        </p:spPr>
      </p:sp>
      <p:sp>
        <p:nvSpPr>
          <p:cNvPr id="2" name="text">
            <a:extLst xmlns:a="http://schemas.openxmlformats.org/drawingml/2006/main">
              <a:ext uri="{FF2B5EF4-FFF2-40B4-BE49-F238E27FC236}">
                <a16:creationId xmlns:a16="http://schemas.microsoft.com/office/drawing/2014/main" id="{D8D10B90-CF71-409B-B476-A2E8621204E2}"/>
              </a:ext>
            </a:extLst>
          </p:cNvPr>
          <p:cNvSpPr>
            <a:spLocks xmlns:a="http://schemas.openxmlformats.org/drawingml/2006/main" noGrp="1"/>
          </p:cNvSpPr>
          <p:nvPr/>
        </p:nvSpPr>
        <p:spPr>
          <a:xfrm xmlns:a="http://schemas.openxmlformats.org/drawingml/2006/main">
            <a:off x="609600" y="656272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975" b="1">
                <a:solidFill>
                  <a:srgbClr val="7DD6DD"/>
                </a:solidFill>
                <a:latin typeface="Nimbus Sans"/>
                <a:ea typeface="Nimbus Sans"/>
                <a:cs typeface="Nimbus Sans"/>
              </a:defRPr>
            </a:pPr>
            <a:r>
              <a:rPr sz="975" b="1">
                <a:solidFill>
                  <a:srgbClr val="7DD6DD"/>
                </a:solidFill>
                <a:latin typeface="Nimbus Sans"/>
                <a:ea typeface="Nimbus Sans"/>
                <a:cs typeface="Nimbus Sans"/>
              </a:rPr>
              <a:t>GUARDIAN AI  /  CONVERGENCE 2026</a:t>
            </a:r>
          </a:p>
        </p:txBody>
      </p:sp>
      <p:sp>
        <p:nvSpPr>
          <p:cNvPr id="3" name="text">
            <a:extLst xmlns:a="http://schemas.openxmlformats.org/drawingml/2006/main">
              <a:ext uri="{FF2B5EF4-FFF2-40B4-BE49-F238E27FC236}">
                <a16:creationId xmlns:a16="http://schemas.microsoft.com/office/drawing/2014/main" id="{1BC8D67C-07B0-45A2-9109-40FADA13575A}"/>
              </a:ext>
            </a:extLst>
          </p:cNvPr>
          <p:cNvSpPr>
            <a:spLocks xmlns:a="http://schemas.openxmlformats.org/drawingml/2006/main" noGrp="1"/>
          </p:cNvSpPr>
          <p:nvPr/>
        </p:nvSpPr>
        <p:spPr>
          <a:xfrm xmlns:a="http://schemas.openxmlformats.org/drawingml/2006/main">
            <a:off x="11096625" y="65627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7DD6DD"/>
                </a:solidFill>
                <a:latin typeface="Nimbus Sans"/>
                <a:ea typeface="Nimbus Sans"/>
                <a:cs typeface="Nimbus Sans"/>
              </a:defRPr>
            </a:pPr>
            <a:r>
              <a:rPr sz="1050" b="0">
                <a:solidFill>
                  <a:srgbClr val="7DD6DD"/>
                </a:solidFill>
                <a:latin typeface="Nimbus Sans"/>
                <a:ea typeface="Nimbus Sans"/>
                <a:cs typeface="Nimbus Sans"/>
              </a:rPr>
              <a:t>02</a:t>
            </a:r>
          </a:p>
        </p:txBody>
      </p:sp>
      <p:sp>
        <p:nvSpPr>
          <p:cNvPr id="4" name="text">
            <a:extLst xmlns:a="http://schemas.openxmlformats.org/drawingml/2006/main">
              <a:ext uri="{FF2B5EF4-FFF2-40B4-BE49-F238E27FC236}">
                <a16:creationId xmlns:a16="http://schemas.microsoft.com/office/drawing/2014/main" id="{CB4D15C6-2FDF-45DC-89DB-532FED608BD5}"/>
              </a:ext>
            </a:extLst>
          </p:cNvPr>
          <p:cNvSpPr>
            <a:spLocks xmlns:a="http://schemas.openxmlformats.org/drawingml/2006/main" noGrp="1"/>
          </p:cNvSpPr>
          <p:nvPr/>
        </p:nvSpPr>
        <p:spPr>
          <a:xfrm xmlns:a="http://schemas.openxmlformats.org/drawingml/2006/main">
            <a:off x="609600" y="409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A working agent needs more than a good prompt</a:t>
            </a:r>
          </a:p>
        </p:txBody>
      </p:sp>
      <p:sp>
        <p:nvSpPr>
          <p:cNvPr id="5" name="text">
            <a:extLst xmlns:a="http://schemas.openxmlformats.org/drawingml/2006/main">
              <a:ext uri="{FF2B5EF4-FFF2-40B4-BE49-F238E27FC236}">
                <a16:creationId xmlns:a16="http://schemas.microsoft.com/office/drawing/2014/main" id="{BB10EEFF-4586-4580-8DCB-1A53F8D7C549}"/>
              </a:ext>
            </a:extLst>
          </p:cNvPr>
          <p:cNvSpPr>
            <a:spLocks xmlns:a="http://schemas.openxmlformats.org/drawingml/2006/main" noGrp="1"/>
          </p:cNvSpPr>
          <p:nvPr/>
        </p:nvSpPr>
        <p:spPr>
          <a:xfrm xmlns:a="http://schemas.openxmlformats.org/drawingml/2006/main">
            <a:off x="609600" y="120967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7DD6DD"/>
                </a:solidFill>
                <a:latin typeface="Nimbus Sans"/>
                <a:ea typeface="Nimbus Sans"/>
                <a:cs typeface="Nimbus Sans"/>
              </a:defRPr>
            </a:pPr>
            <a:r>
              <a:rPr sz="2025" b="0">
                <a:solidFill>
                  <a:srgbClr val="7DD6DD"/>
                </a:solidFill>
                <a:latin typeface="Nimbus Sans"/>
                <a:ea typeface="Nimbus Sans"/>
                <a:cs typeface="Nimbus Sans"/>
              </a:rPr>
              <a:t>The business idea is only one part of the delivery effort. Repeated setup and</a:t>
            </a:r>
          </a:p>
          <a:p xmlns:a="http://schemas.openxmlformats.org/drawingml/2006/main">
            <a:pPr algn="l">
              <a:defRPr sz="2025" b="0">
                <a:solidFill>
                  <a:srgbClr val="7DD6DD"/>
                </a:solidFill>
                <a:latin typeface="Nimbus Sans"/>
                <a:ea typeface="Nimbus Sans"/>
                <a:cs typeface="Nimbus Sans"/>
              </a:defRPr>
            </a:pPr>
            <a:r>
              <a:rPr sz="2025" b="0">
                <a:solidFill>
                  <a:srgbClr val="7DD6DD"/>
                </a:solidFill>
                <a:latin typeface="Nimbus Sans"/>
                <a:ea typeface="Nimbus Sans"/>
                <a:cs typeface="Nimbus Sans"/>
              </a:rPr>
              <a:t>cross-team handoffs delay the first useful deployment.</a:t>
            </a:r>
          </a:p>
        </p:txBody>
      </p:sp>
      <p:sp>
        <p:nvSpPr>
          <p:cNvPr id="6" name="glow hub surround">
            <a:extLst xmlns:a="http://schemas.openxmlformats.org/drawingml/2006/main">
              <a:ext uri="{FF2B5EF4-FFF2-40B4-BE49-F238E27FC236}">
                <a16:creationId xmlns:a16="http://schemas.microsoft.com/office/drawing/2014/main" id="{C7497982-00A0-4C80-9BA9-597D5BE0EB72}"/>
              </a:ext>
            </a:extLst>
          </p:cNvPr>
          <p:cNvSpPr>
            <a:spLocks xmlns:a="http://schemas.openxmlformats.org/drawingml/2006/main" noGrp="1"/>
          </p:cNvSpPr>
          <p:nvPr/>
        </p:nvSpPr>
        <p:spPr>
          <a:xfrm xmlns:a="http://schemas.openxmlformats.org/drawingml/2006/main">
            <a:off x="4676775" y="2733675"/>
            <a:ext cx="2838450" cy="2838450"/>
          </a:xfrm>
          <a:prstGeom xmlns:a="http://schemas.openxmlformats.org/drawingml/2006/main" prst="ellipse">
            <a:avLst/>
          </a:prstGeom>
          <a:solidFill xmlns:a="http://schemas.openxmlformats.org/drawingml/2006/main">
            <a:srgbClr val="152E3D"/>
          </a:solidFill>
          <a:ln xmlns:a="http://schemas.openxmlformats.org/drawingml/2006/main" w="20955">
            <a:solidFill>
              <a:srgbClr val="7DD6DD"/>
            </a:solidFill>
          </a:ln>
          <ns0:effectLst xmlns:ns0="http://schemas.openxmlformats.org/drawingml/2006/main">
            <ns0:glow rad="65000">
              <ns0:srgbClr val="7DD6DD">
                <ns0:alpha val="34000"/>
              </ns0:srgbClr>
            </ns0:glow>
          </ns0:effectLst>
        </p:spPr>
      </p:sp>
      <p:sp>
        <p:nvSpPr>
          <p:cNvPr id="7" name="glow spoke">
            <a:extLst xmlns:a="http://schemas.openxmlformats.org/drawingml/2006/main">
              <a:ext uri="{FF2B5EF4-FFF2-40B4-BE49-F238E27FC236}">
                <a16:creationId xmlns:a16="http://schemas.microsoft.com/office/drawing/2014/main" id="{3631D3A1-C9C4-4DD0-8D0E-EA2B190FBC9A}"/>
              </a:ext>
            </a:extLst>
          </p:cNvPr>
          <p:cNvSpPr>
            <a:spLocks xmlns:a="http://schemas.openxmlformats.org/drawingml/2006/main" noGrp="1"/>
          </p:cNvSpPr>
          <p:nvPr/>
        </p:nvSpPr>
        <p:spPr>
          <a:xfrm xmlns:a="http://schemas.openxmlformats.org/drawingml/2006/main">
            <a:off x="4324350" y="2724150"/>
            <a:ext cx="771525" cy="514350"/>
          </a:xfrm>
          <a:prstGeom xmlns:a="http://schemas.openxmlformats.org/drawingml/2006/main" prst="line">
            <a:avLst/>
          </a:prstGeom>
          <a:ln xmlns:a="http://schemas.openxmlformats.org/drawingml/2006/main" w="28575">
            <a:solidFill>
              <a:srgbClr val="7DD6DD"/>
            </a:solidFill>
          </a:ln>
          <ns1:effectLst xmlns:ns1="http://schemas.openxmlformats.org/drawingml/2006/main">
            <ns1:glow rad="65000">
              <ns1:srgbClr val="7DD6DD">
                <ns1:alpha val="34000"/>
              </ns1:srgbClr>
            </ns1:glow>
          </ns1:effectLst>
        </p:spPr>
      </p:sp>
      <p:sp>
        <p:nvSpPr>
          <p:cNvPr id="8" name="glow spoke">
            <a:extLst xmlns:a="http://schemas.openxmlformats.org/drawingml/2006/main">
              <a:ext uri="{FF2B5EF4-FFF2-40B4-BE49-F238E27FC236}">
                <a16:creationId xmlns:a16="http://schemas.microsoft.com/office/drawing/2014/main" id="{7945C6E6-F83B-4ACE-9344-0BF75D9887B1}"/>
              </a:ext>
            </a:extLst>
          </p:cNvPr>
          <p:cNvSpPr>
            <a:spLocks xmlns:a="http://schemas.openxmlformats.org/drawingml/2006/main" noGrp="1"/>
          </p:cNvSpPr>
          <p:nvPr/>
        </p:nvSpPr>
        <p:spPr>
          <a:xfrm xmlns:a="http://schemas.openxmlformats.org/drawingml/2006/main">
            <a:off x="4105275" y="4152900"/>
            <a:ext cx="990600" cy="0"/>
          </a:xfrm>
          <a:prstGeom xmlns:a="http://schemas.openxmlformats.org/drawingml/2006/main" prst="line">
            <a:avLst/>
          </a:prstGeom>
          <a:ln xmlns:a="http://schemas.openxmlformats.org/drawingml/2006/main" w="28575">
            <a:solidFill>
              <a:srgbClr val="7DD6DD"/>
            </a:solidFill>
          </a:ln>
          <ns2:effectLst xmlns:ns2="http://schemas.openxmlformats.org/drawingml/2006/main">
            <ns2:glow rad="65000">
              <ns2:srgbClr val="7DD6DD">
                <ns2:alpha val="34000"/>
              </ns2:srgbClr>
            </ns2:glow>
          </ns2:effectLst>
        </p:spPr>
      </p:sp>
      <p:sp>
        <p:nvSpPr>
          <p:cNvPr id="9" name="glow spoke">
            <a:extLst xmlns:a="http://schemas.openxmlformats.org/drawingml/2006/main">
              <a:ext uri="{FF2B5EF4-FFF2-40B4-BE49-F238E27FC236}">
                <a16:creationId xmlns:a16="http://schemas.microsoft.com/office/drawing/2014/main" id="{B8438573-1053-42E1-8617-F564A547DD8B}"/>
              </a:ext>
            </a:extLst>
          </p:cNvPr>
          <p:cNvSpPr>
            <a:spLocks xmlns:a="http://schemas.openxmlformats.org/drawingml/2006/main" noGrp="1"/>
          </p:cNvSpPr>
          <p:nvPr/>
        </p:nvSpPr>
        <p:spPr>
          <a:xfrm xmlns:a="http://schemas.openxmlformats.org/drawingml/2006/main" flipV="1">
            <a:off x="4324350" y="5067300"/>
            <a:ext cx="771525" cy="514350"/>
          </a:xfrm>
          <a:prstGeom xmlns:a="http://schemas.openxmlformats.org/drawingml/2006/main" prst="line">
            <a:avLst/>
          </a:prstGeom>
          <a:ln xmlns:a="http://schemas.openxmlformats.org/drawingml/2006/main" w="28575">
            <a:solidFill>
              <a:srgbClr val="7DD6DD"/>
            </a:solidFill>
          </a:ln>
          <ns3:effectLst xmlns:ns3="http://schemas.openxmlformats.org/drawingml/2006/main">
            <ns3:glow rad="65000">
              <ns3:srgbClr val="7DD6DD">
                <ns3:alpha val="34000"/>
              </ns3:srgbClr>
            </ns3:glow>
          </ns3:effectLst>
        </p:spPr>
      </p:sp>
      <p:sp>
        <p:nvSpPr>
          <p:cNvPr id="10" name="glow spoke">
            <a:extLst xmlns:a="http://schemas.openxmlformats.org/drawingml/2006/main">
              <a:ext uri="{FF2B5EF4-FFF2-40B4-BE49-F238E27FC236}">
                <a16:creationId xmlns:a16="http://schemas.microsoft.com/office/drawing/2014/main" id="{EDFC36AE-9188-46CF-BB74-735F2FEAD19F}"/>
              </a:ext>
            </a:extLst>
          </p:cNvPr>
          <p:cNvSpPr>
            <a:spLocks xmlns:a="http://schemas.openxmlformats.org/drawingml/2006/main" noGrp="1"/>
          </p:cNvSpPr>
          <p:nvPr/>
        </p:nvSpPr>
        <p:spPr>
          <a:xfrm xmlns:a="http://schemas.openxmlformats.org/drawingml/2006/main" flipV="1">
            <a:off x="7096125" y="2724150"/>
            <a:ext cx="771525" cy="514350"/>
          </a:xfrm>
          <a:prstGeom xmlns:a="http://schemas.openxmlformats.org/drawingml/2006/main" prst="line">
            <a:avLst/>
          </a:prstGeom>
          <a:ln xmlns:a="http://schemas.openxmlformats.org/drawingml/2006/main" w="28575">
            <a:solidFill>
              <a:srgbClr val="7DD6DD"/>
            </a:solidFill>
          </a:ln>
          <ns4:effectLst xmlns:ns4="http://schemas.openxmlformats.org/drawingml/2006/main">
            <ns4:glow rad="65000">
              <ns4:srgbClr val="7DD6DD">
                <ns4:alpha val="34000"/>
              </ns4:srgbClr>
            </ns4:glow>
          </ns4:effectLst>
        </p:spPr>
      </p:sp>
      <p:sp>
        <p:nvSpPr>
          <p:cNvPr id="11" name="glow spoke">
            <a:extLst xmlns:a="http://schemas.openxmlformats.org/drawingml/2006/main">
              <a:ext uri="{FF2B5EF4-FFF2-40B4-BE49-F238E27FC236}">
                <a16:creationId xmlns:a16="http://schemas.microsoft.com/office/drawing/2014/main" id="{CA0136D5-29AA-4EED-943C-0F8C2570BF0A}"/>
              </a:ext>
            </a:extLst>
          </p:cNvPr>
          <p:cNvSpPr>
            <a:spLocks xmlns:a="http://schemas.openxmlformats.org/drawingml/2006/main" noGrp="1"/>
          </p:cNvSpPr>
          <p:nvPr/>
        </p:nvSpPr>
        <p:spPr>
          <a:xfrm xmlns:a="http://schemas.openxmlformats.org/drawingml/2006/main">
            <a:off x="7096125" y="4152900"/>
            <a:ext cx="990600" cy="0"/>
          </a:xfrm>
          <a:prstGeom xmlns:a="http://schemas.openxmlformats.org/drawingml/2006/main" prst="line">
            <a:avLst/>
          </a:prstGeom>
          <a:ln xmlns:a="http://schemas.openxmlformats.org/drawingml/2006/main" w="28575">
            <a:solidFill>
              <a:srgbClr val="7DD6DD"/>
            </a:solidFill>
          </a:ln>
          <ns5:effectLst xmlns:ns5="http://schemas.openxmlformats.org/drawingml/2006/main">
            <ns5:glow rad="65000">
              <ns5:srgbClr val="7DD6DD">
                <ns5:alpha val="34000"/>
              </ns5:srgbClr>
            </ns5:glow>
          </ns5:effectLst>
        </p:spPr>
      </p:sp>
      <p:sp>
        <p:nvSpPr>
          <p:cNvPr id="12" name="glow spoke">
            <a:extLst xmlns:a="http://schemas.openxmlformats.org/drawingml/2006/main">
              <a:ext uri="{FF2B5EF4-FFF2-40B4-BE49-F238E27FC236}">
                <a16:creationId xmlns:a16="http://schemas.microsoft.com/office/drawing/2014/main" id="{665CAF93-9273-4392-8EF1-571DF53AF3AC}"/>
              </a:ext>
            </a:extLst>
          </p:cNvPr>
          <p:cNvSpPr>
            <a:spLocks xmlns:a="http://schemas.openxmlformats.org/drawingml/2006/main" noGrp="1"/>
          </p:cNvSpPr>
          <p:nvPr/>
        </p:nvSpPr>
        <p:spPr>
          <a:xfrm xmlns:a="http://schemas.openxmlformats.org/drawingml/2006/main">
            <a:off x="7096125" y="5067300"/>
            <a:ext cx="771525" cy="514350"/>
          </a:xfrm>
          <a:prstGeom xmlns:a="http://schemas.openxmlformats.org/drawingml/2006/main" prst="line">
            <a:avLst/>
          </a:prstGeom>
          <a:ln xmlns:a="http://schemas.openxmlformats.org/drawingml/2006/main" w="28575">
            <a:solidFill>
              <a:srgbClr val="7DD6DD"/>
            </a:solidFill>
          </a:ln>
          <ns6:effectLst xmlns:ns6="http://schemas.openxmlformats.org/drawingml/2006/main">
            <ns6:glow rad="65000">
              <ns6:srgbClr val="7DD6DD">
                <ns6:alpha val="34000"/>
              </ns6:srgbClr>
            </ns6:glow>
          </ns6:effectLst>
        </p:spPr>
      </p:sp>
      <p:sp>
        <p:nvSpPr>
          <p:cNvPr id="13" name="glow business idea">
            <a:extLst xmlns:a="http://schemas.openxmlformats.org/drawingml/2006/main">
              <a:ext uri="{FF2B5EF4-FFF2-40B4-BE49-F238E27FC236}">
                <a16:creationId xmlns:a16="http://schemas.microsoft.com/office/drawing/2014/main" id="{1F014174-C545-40C3-BE67-10A730E41C96}"/>
              </a:ext>
            </a:extLst>
          </p:cNvPr>
          <p:cNvSpPr>
            <a:spLocks xmlns:a="http://schemas.openxmlformats.org/drawingml/2006/main" noGrp="1"/>
          </p:cNvSpPr>
          <p:nvPr/>
        </p:nvSpPr>
        <p:spPr>
          <a:xfrm xmlns:a="http://schemas.openxmlformats.org/drawingml/2006/main">
            <a:off x="4895850" y="2952750"/>
            <a:ext cx="2400300" cy="2400300"/>
          </a:xfrm>
          <a:prstGeom xmlns:a="http://schemas.openxmlformats.org/drawingml/2006/main" prst="ellipse">
            <a:avLst/>
          </a:prstGeom>
          <a:solidFill xmlns:a="http://schemas.openxmlformats.org/drawingml/2006/main">
            <a:srgbClr val="E6F3F5"/>
          </a:solidFill>
          <a:ln xmlns:a="http://schemas.openxmlformats.org/drawingml/2006/main" w="20955">
            <a:solidFill>
              <a:srgbClr val="FFFFFF"/>
            </a:solidFill>
          </a:ln>
          <ns7:effectLst xmlns:ns7="http://schemas.openxmlformats.org/drawingml/2006/main">
            <ns7:glow rad="65000">
              <ns7:srgbClr val="7DD6DD">
                <ns7:alpha val="34000"/>
              </ns7:srgbClr>
            </ns7:glow>
          </ns7:effectLst>
        </p:spPr>
      </p:sp>
      <p:sp>
        <p:nvSpPr>
          <p:cNvPr id="14" name="text">
            <a:extLst xmlns:a="http://schemas.openxmlformats.org/drawingml/2006/main">
              <a:ext uri="{FF2B5EF4-FFF2-40B4-BE49-F238E27FC236}">
                <a16:creationId xmlns:a16="http://schemas.microsoft.com/office/drawing/2014/main" id="{3F201667-95D5-497F-A318-A81CD7075820}"/>
              </a:ext>
            </a:extLst>
          </p:cNvPr>
          <p:cNvSpPr>
            <a:spLocks xmlns:a="http://schemas.openxmlformats.org/drawingml/2006/main" noGrp="1"/>
          </p:cNvSpPr>
          <p:nvPr/>
        </p:nvSpPr>
        <p:spPr>
          <a:xfrm xmlns:a="http://schemas.openxmlformats.org/drawingml/2006/main">
            <a:off x="5057775" y="3514725"/>
            <a:ext cx="2076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0D2430"/>
                </a:solidFill>
                <a:latin typeface="Nimbus Sans"/>
                <a:ea typeface="Nimbus Sans"/>
                <a:cs typeface="Nimbus Sans"/>
              </a:defRPr>
            </a:pPr>
            <a:r>
              <a:rPr sz="1800" b="1">
                <a:solidFill>
                  <a:srgbClr val="0D2430"/>
                </a:solidFill>
                <a:latin typeface="Nimbus Sans"/>
                <a:ea typeface="Nimbus Sans"/>
                <a:cs typeface="Nimbus Sans"/>
              </a:rPr>
              <a:t>The business idea:</a:t>
            </a:r>
          </a:p>
        </p:txBody>
      </p:sp>
      <p:sp>
        <p:nvSpPr>
          <p:cNvPr id="15" name="text">
            <a:extLst xmlns:a="http://schemas.openxmlformats.org/drawingml/2006/main">
              <a:ext uri="{FF2B5EF4-FFF2-40B4-BE49-F238E27FC236}">
                <a16:creationId xmlns:a16="http://schemas.microsoft.com/office/drawing/2014/main" id="{875B7CFC-5808-4A12-8487-9BDFB04FC423}"/>
              </a:ext>
            </a:extLst>
          </p:cNvPr>
          <p:cNvSpPr>
            <a:spLocks xmlns:a="http://schemas.openxmlformats.org/drawingml/2006/main" noGrp="1"/>
          </p:cNvSpPr>
          <p:nvPr/>
        </p:nvSpPr>
        <p:spPr>
          <a:xfrm xmlns:a="http://schemas.openxmlformats.org/drawingml/2006/main">
            <a:off x="5057775" y="3933825"/>
            <a:ext cx="20764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0D2430"/>
                </a:solidFill>
                <a:latin typeface="Nimbus Sans"/>
                <a:ea typeface="Nimbus Sans"/>
                <a:cs typeface="Nimbus Sans"/>
              </a:defRPr>
            </a:pPr>
            <a:r>
              <a:rPr sz="1875" b="0">
                <a:solidFill>
                  <a:srgbClr val="0D2430"/>
                </a:solidFill>
                <a:latin typeface="Nimbus Sans"/>
                <a:ea typeface="Nimbus Sans"/>
                <a:cs typeface="Nimbus Sans"/>
              </a:rPr>
              <a:t>Help an employee</a:t>
            </a:r>
          </a:p>
          <a:p xmlns:a="http://schemas.openxmlformats.org/drawingml/2006/main">
            <a:pPr algn="ctr">
              <a:defRPr sz="1875" b="0">
                <a:solidFill>
                  <a:srgbClr val="0D2430"/>
                </a:solidFill>
                <a:latin typeface="Nimbus Sans"/>
                <a:ea typeface="Nimbus Sans"/>
                <a:cs typeface="Nimbus Sans"/>
              </a:defRPr>
            </a:pPr>
            <a:r>
              <a:rPr sz="1875" b="0">
                <a:solidFill>
                  <a:srgbClr val="0D2430"/>
                </a:solidFill>
                <a:latin typeface="Nimbus Sans"/>
                <a:ea typeface="Nimbus Sans"/>
                <a:cs typeface="Nimbus Sans"/>
              </a:rPr>
              <a:t>answer a service</a:t>
            </a:r>
          </a:p>
          <a:p xmlns:a="http://schemas.openxmlformats.org/drawingml/2006/main">
            <a:pPr algn="ctr">
              <a:defRPr sz="1875" b="0">
                <a:solidFill>
                  <a:srgbClr val="0D2430"/>
                </a:solidFill>
                <a:latin typeface="Nimbus Sans"/>
                <a:ea typeface="Nimbus Sans"/>
                <a:cs typeface="Nimbus Sans"/>
              </a:defRPr>
            </a:pPr>
            <a:r>
              <a:rPr sz="1875" b="0">
                <a:solidFill>
                  <a:srgbClr val="0D2430"/>
                </a:solidFill>
                <a:latin typeface="Nimbus Sans"/>
                <a:ea typeface="Nimbus Sans"/>
                <a:cs typeface="Nimbus Sans"/>
              </a:rPr>
              <a:t>question</a:t>
            </a:r>
          </a:p>
        </p:txBody>
      </p:sp>
      <p:sp>
        <p:nvSpPr>
          <p:cNvPr id="16" name="glow capability">
            <a:extLst xmlns:a="http://schemas.openxmlformats.org/drawingml/2006/main">
              <a:ext uri="{FF2B5EF4-FFF2-40B4-BE49-F238E27FC236}">
                <a16:creationId xmlns:a16="http://schemas.microsoft.com/office/drawing/2014/main" id="{20D67571-A221-4E99-A4BC-65B8E45E6E12}"/>
              </a:ext>
            </a:extLst>
          </p:cNvPr>
          <p:cNvSpPr>
            <a:spLocks xmlns:a="http://schemas.openxmlformats.org/drawingml/2006/main" noGrp="1"/>
          </p:cNvSpPr>
          <p:nvPr/>
        </p:nvSpPr>
        <p:spPr>
          <a:xfrm xmlns:a="http://schemas.openxmlformats.org/drawingml/2006/main">
            <a:off x="533400" y="2219325"/>
            <a:ext cx="3790950" cy="1009650"/>
          </a:xfrm>
          <a:prstGeom xmlns:a="http://schemas.openxmlformats.org/drawingml/2006/main" prst="roundRect">
            <a:avLst>
              <a:gd name="adj" fmla="val 6604"/>
            </a:avLst>
          </a:prstGeom>
          <a:solidFill xmlns:a="http://schemas.openxmlformats.org/drawingml/2006/main">
            <a:srgbClr val="0D2430"/>
          </a:solidFill>
          <a:ln xmlns:a="http://schemas.openxmlformats.org/drawingml/2006/main" w="15240">
            <a:solidFill>
              <a:srgbClr val="7DD6DD"/>
            </a:solidFill>
          </a:ln>
          <ns8:effectLst xmlns:ns8="http://schemas.openxmlformats.org/drawingml/2006/main">
            <ns8:glow rad="65000">
              <ns8:srgbClr val="7DD6DD">
                <ns8:alpha val="34000"/>
              </ns8:srgbClr>
            </ns8:glow>
          </ns8:effectLst>
        </p:spPr>
      </p:sp>
      <p:sp>
        <p:nvSpPr>
          <p:cNvPr id="17" name="text">
            <a:extLst xmlns:a="http://schemas.openxmlformats.org/drawingml/2006/main">
              <a:ext uri="{FF2B5EF4-FFF2-40B4-BE49-F238E27FC236}">
                <a16:creationId xmlns:a16="http://schemas.microsoft.com/office/drawing/2014/main" id="{AB68F810-5477-4645-A944-94C42E0B1664}"/>
              </a:ext>
            </a:extLst>
          </p:cNvPr>
          <p:cNvSpPr>
            <a:spLocks xmlns:a="http://schemas.openxmlformats.org/drawingml/2006/main" noGrp="1"/>
          </p:cNvSpPr>
          <p:nvPr/>
        </p:nvSpPr>
        <p:spPr>
          <a:xfrm xmlns:a="http://schemas.openxmlformats.org/drawingml/2006/main">
            <a:off x="742950" y="2371725"/>
            <a:ext cx="3371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Security</a:t>
            </a:r>
          </a:p>
        </p:txBody>
      </p:sp>
      <p:sp>
        <p:nvSpPr>
          <p:cNvPr id="18" name="text">
            <a:extLst xmlns:a="http://schemas.openxmlformats.org/drawingml/2006/main">
              <a:ext uri="{FF2B5EF4-FFF2-40B4-BE49-F238E27FC236}">
                <a16:creationId xmlns:a16="http://schemas.microsoft.com/office/drawing/2014/main" id="{4BDC7751-B54B-4D1E-BBC2-286DABA69215}"/>
              </a:ext>
            </a:extLst>
          </p:cNvPr>
          <p:cNvSpPr>
            <a:spLocks xmlns:a="http://schemas.openxmlformats.org/drawingml/2006/main" noGrp="1"/>
          </p:cNvSpPr>
          <p:nvPr/>
        </p:nvSpPr>
        <p:spPr>
          <a:xfrm xmlns:a="http://schemas.openxmlformats.org/drawingml/2006/main">
            <a:off x="742950" y="2762250"/>
            <a:ext cx="33718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A9C7E1"/>
                </a:solidFill>
                <a:latin typeface="Nimbus Sans"/>
                <a:ea typeface="Nimbus Sans"/>
                <a:cs typeface="Nimbus Sans"/>
              </a:defRPr>
            </a:pPr>
            <a:r>
              <a:rPr sz="1650" b="0">
                <a:solidFill>
                  <a:srgbClr val="A9C7E1"/>
                </a:solidFill>
                <a:latin typeface="Nimbus Sans"/>
                <a:ea typeface="Nimbus Sans"/>
                <a:cs typeface="Nimbus Sans"/>
              </a:rPr>
              <a:t>Who is signing in?</a:t>
            </a:r>
          </a:p>
        </p:txBody>
      </p:sp>
      <p:sp>
        <p:nvSpPr>
          <p:cNvPr id="19" name="glow capability">
            <a:extLst xmlns:a="http://schemas.openxmlformats.org/drawingml/2006/main">
              <a:ext uri="{FF2B5EF4-FFF2-40B4-BE49-F238E27FC236}">
                <a16:creationId xmlns:a16="http://schemas.microsoft.com/office/drawing/2014/main" id="{36041411-93D3-4291-972D-B55D3F2055A5}"/>
              </a:ext>
            </a:extLst>
          </p:cNvPr>
          <p:cNvSpPr>
            <a:spLocks xmlns:a="http://schemas.openxmlformats.org/drawingml/2006/main" noGrp="1"/>
          </p:cNvSpPr>
          <p:nvPr/>
        </p:nvSpPr>
        <p:spPr>
          <a:xfrm xmlns:a="http://schemas.openxmlformats.org/drawingml/2006/main">
            <a:off x="533400" y="3648075"/>
            <a:ext cx="3571875" cy="1009650"/>
          </a:xfrm>
          <a:prstGeom xmlns:a="http://schemas.openxmlformats.org/drawingml/2006/main" prst="roundRect">
            <a:avLst>
              <a:gd name="adj" fmla="val 6604"/>
            </a:avLst>
          </a:prstGeom>
          <a:solidFill xmlns:a="http://schemas.openxmlformats.org/drawingml/2006/main">
            <a:srgbClr val="0D2430"/>
          </a:solidFill>
          <a:ln xmlns:a="http://schemas.openxmlformats.org/drawingml/2006/main" w="15240">
            <a:solidFill>
              <a:srgbClr val="7DD6DD"/>
            </a:solidFill>
          </a:ln>
          <ns9:effectLst xmlns:ns9="http://schemas.openxmlformats.org/drawingml/2006/main">
            <ns9:glow rad="65000">
              <ns9:srgbClr val="7DD6DD">
                <ns9:alpha val="34000"/>
              </ns9:srgbClr>
            </ns9:glow>
          </ns9:effectLst>
        </p:spPr>
      </p:sp>
      <p:sp>
        <p:nvSpPr>
          <p:cNvPr id="20" name="text">
            <a:extLst xmlns:a="http://schemas.openxmlformats.org/drawingml/2006/main">
              <a:ext uri="{FF2B5EF4-FFF2-40B4-BE49-F238E27FC236}">
                <a16:creationId xmlns:a16="http://schemas.microsoft.com/office/drawing/2014/main" id="{557BB072-ABD0-4DFD-9DB5-78C8F6A3FC58}"/>
              </a:ext>
            </a:extLst>
          </p:cNvPr>
          <p:cNvSpPr>
            <a:spLocks xmlns:a="http://schemas.openxmlformats.org/drawingml/2006/main" noGrp="1"/>
          </p:cNvSpPr>
          <p:nvPr/>
        </p:nvSpPr>
        <p:spPr>
          <a:xfrm xmlns:a="http://schemas.openxmlformats.org/drawingml/2006/main">
            <a:off x="742950" y="38004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FinOps</a:t>
            </a:r>
          </a:p>
        </p:txBody>
      </p:sp>
      <p:sp>
        <p:nvSpPr>
          <p:cNvPr id="21" name="text">
            <a:extLst xmlns:a="http://schemas.openxmlformats.org/drawingml/2006/main">
              <a:ext uri="{FF2B5EF4-FFF2-40B4-BE49-F238E27FC236}">
                <a16:creationId xmlns:a16="http://schemas.microsoft.com/office/drawing/2014/main" id="{2179E041-C63B-4413-B5C2-85BD7ADA4A1D}"/>
              </a:ext>
            </a:extLst>
          </p:cNvPr>
          <p:cNvSpPr>
            <a:spLocks xmlns:a="http://schemas.openxmlformats.org/drawingml/2006/main" noGrp="1"/>
          </p:cNvSpPr>
          <p:nvPr/>
        </p:nvSpPr>
        <p:spPr>
          <a:xfrm xmlns:a="http://schemas.openxmlformats.org/drawingml/2006/main">
            <a:off x="742950" y="4191000"/>
            <a:ext cx="3152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A9C7E1"/>
                </a:solidFill>
                <a:latin typeface="Nimbus Sans"/>
                <a:ea typeface="Nimbus Sans"/>
                <a:cs typeface="Nimbus Sans"/>
              </a:defRPr>
            </a:pPr>
            <a:r>
              <a:rPr sz="1500" b="0">
                <a:solidFill>
                  <a:srgbClr val="A9C7E1"/>
                </a:solidFill>
                <a:latin typeface="Nimbus Sans"/>
                <a:ea typeface="Nimbus Sans"/>
                <a:cs typeface="Nimbus Sans"/>
              </a:rPr>
              <a:t>How does cloud spend create value?</a:t>
            </a:r>
          </a:p>
        </p:txBody>
      </p:sp>
      <p:sp>
        <p:nvSpPr>
          <p:cNvPr id="22" name="glow capability">
            <a:extLst xmlns:a="http://schemas.openxmlformats.org/drawingml/2006/main">
              <a:ext uri="{FF2B5EF4-FFF2-40B4-BE49-F238E27FC236}">
                <a16:creationId xmlns:a16="http://schemas.microsoft.com/office/drawing/2014/main" id="{1E788745-16E4-4CD5-9849-975075C5FC47}"/>
              </a:ext>
            </a:extLst>
          </p:cNvPr>
          <p:cNvSpPr>
            <a:spLocks xmlns:a="http://schemas.openxmlformats.org/drawingml/2006/main" noGrp="1"/>
          </p:cNvSpPr>
          <p:nvPr/>
        </p:nvSpPr>
        <p:spPr>
          <a:xfrm xmlns:a="http://schemas.openxmlformats.org/drawingml/2006/main">
            <a:off x="533400" y="5076825"/>
            <a:ext cx="3790950" cy="1009650"/>
          </a:xfrm>
          <a:prstGeom xmlns:a="http://schemas.openxmlformats.org/drawingml/2006/main" prst="roundRect">
            <a:avLst>
              <a:gd name="adj" fmla="val 6604"/>
            </a:avLst>
          </a:prstGeom>
          <a:solidFill xmlns:a="http://schemas.openxmlformats.org/drawingml/2006/main">
            <a:srgbClr val="0D2430"/>
          </a:solidFill>
          <a:ln xmlns:a="http://schemas.openxmlformats.org/drawingml/2006/main" w="15240">
            <a:solidFill>
              <a:srgbClr val="7DD6DD"/>
            </a:solidFill>
          </a:ln>
          <ns10:effectLst xmlns:ns10="http://schemas.openxmlformats.org/drawingml/2006/main">
            <ns10:glow rad="65000">
              <ns10:srgbClr val="7DD6DD">
                <ns10:alpha val="34000"/>
              </ns10:srgbClr>
            </ns10:glow>
          </ns10:effectLst>
        </p:spPr>
      </p:sp>
      <p:sp>
        <p:nvSpPr>
          <p:cNvPr id="23" name="text">
            <a:extLst xmlns:a="http://schemas.openxmlformats.org/drawingml/2006/main">
              <a:ext uri="{FF2B5EF4-FFF2-40B4-BE49-F238E27FC236}">
                <a16:creationId xmlns:a16="http://schemas.microsoft.com/office/drawing/2014/main" id="{A2D9B3CB-449B-45F6-8177-5BE0BF468926}"/>
              </a:ext>
            </a:extLst>
          </p:cNvPr>
          <p:cNvSpPr>
            <a:spLocks xmlns:a="http://schemas.openxmlformats.org/drawingml/2006/main" noGrp="1"/>
          </p:cNvSpPr>
          <p:nvPr/>
        </p:nvSpPr>
        <p:spPr>
          <a:xfrm xmlns:a="http://schemas.openxmlformats.org/drawingml/2006/main">
            <a:off x="742950" y="5229225"/>
            <a:ext cx="3371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Observability</a:t>
            </a:r>
          </a:p>
        </p:txBody>
      </p:sp>
      <p:sp>
        <p:nvSpPr>
          <p:cNvPr id="24" name="text">
            <a:extLst xmlns:a="http://schemas.openxmlformats.org/drawingml/2006/main">
              <a:ext uri="{FF2B5EF4-FFF2-40B4-BE49-F238E27FC236}">
                <a16:creationId xmlns:a16="http://schemas.microsoft.com/office/drawing/2014/main" id="{738946F3-7F9A-44FB-B29A-418FC2497AD2}"/>
              </a:ext>
            </a:extLst>
          </p:cNvPr>
          <p:cNvSpPr>
            <a:spLocks xmlns:a="http://schemas.openxmlformats.org/drawingml/2006/main" noGrp="1"/>
          </p:cNvSpPr>
          <p:nvPr/>
        </p:nvSpPr>
        <p:spPr>
          <a:xfrm xmlns:a="http://schemas.openxmlformats.org/drawingml/2006/main">
            <a:off x="742950" y="5619750"/>
            <a:ext cx="33718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A9C7E1"/>
                </a:solidFill>
                <a:latin typeface="Nimbus Sans"/>
                <a:ea typeface="Nimbus Sans"/>
                <a:cs typeface="Nimbus Sans"/>
              </a:defRPr>
            </a:pPr>
            <a:r>
              <a:rPr sz="1650" b="0">
                <a:solidFill>
                  <a:srgbClr val="A9C7E1"/>
                </a:solidFill>
                <a:latin typeface="Nimbus Sans"/>
                <a:ea typeface="Nimbus Sans"/>
                <a:cs typeface="Nimbus Sans"/>
              </a:rPr>
              <a:t>What happened when it ran?</a:t>
            </a:r>
          </a:p>
        </p:txBody>
      </p:sp>
      <p:sp>
        <p:nvSpPr>
          <p:cNvPr id="25" name="glow capability">
            <a:extLst xmlns:a="http://schemas.openxmlformats.org/drawingml/2006/main">
              <a:ext uri="{FF2B5EF4-FFF2-40B4-BE49-F238E27FC236}">
                <a16:creationId xmlns:a16="http://schemas.microsoft.com/office/drawing/2014/main" id="{11865ED6-0562-4C80-98B9-AAD61E1B7BE8}"/>
              </a:ext>
            </a:extLst>
          </p:cNvPr>
          <p:cNvSpPr>
            <a:spLocks xmlns:a="http://schemas.openxmlformats.org/drawingml/2006/main" noGrp="1"/>
          </p:cNvSpPr>
          <p:nvPr/>
        </p:nvSpPr>
        <p:spPr>
          <a:xfrm xmlns:a="http://schemas.openxmlformats.org/drawingml/2006/main">
            <a:off x="7867650" y="2219325"/>
            <a:ext cx="3790950" cy="1009650"/>
          </a:xfrm>
          <a:prstGeom xmlns:a="http://schemas.openxmlformats.org/drawingml/2006/main" prst="roundRect">
            <a:avLst>
              <a:gd name="adj" fmla="val 6604"/>
            </a:avLst>
          </a:prstGeom>
          <a:solidFill xmlns:a="http://schemas.openxmlformats.org/drawingml/2006/main">
            <a:srgbClr val="0D2430"/>
          </a:solidFill>
          <a:ln xmlns:a="http://schemas.openxmlformats.org/drawingml/2006/main" w="15240">
            <a:solidFill>
              <a:srgbClr val="7DD6DD"/>
            </a:solidFill>
          </a:ln>
          <ns11:effectLst xmlns:ns11="http://schemas.openxmlformats.org/drawingml/2006/main">
            <ns11:glow rad="65000">
              <ns11:srgbClr val="7DD6DD">
                <ns11:alpha val="34000"/>
              </ns11:srgbClr>
            </ns11:glow>
          </ns11:effectLst>
        </p:spPr>
      </p:sp>
      <p:sp>
        <p:nvSpPr>
          <p:cNvPr id="26" name="text">
            <a:extLst xmlns:a="http://schemas.openxmlformats.org/drawingml/2006/main">
              <a:ext uri="{FF2B5EF4-FFF2-40B4-BE49-F238E27FC236}">
                <a16:creationId xmlns:a16="http://schemas.microsoft.com/office/drawing/2014/main" id="{208B431B-27D4-44E6-9211-531D01DFD3A6}"/>
              </a:ext>
            </a:extLst>
          </p:cNvPr>
          <p:cNvSpPr>
            <a:spLocks xmlns:a="http://schemas.openxmlformats.org/drawingml/2006/main" noGrp="1"/>
          </p:cNvSpPr>
          <p:nvPr/>
        </p:nvSpPr>
        <p:spPr>
          <a:xfrm xmlns:a="http://schemas.openxmlformats.org/drawingml/2006/main">
            <a:off x="8077200" y="2371725"/>
            <a:ext cx="3371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Permissions</a:t>
            </a:r>
          </a:p>
        </p:txBody>
      </p:sp>
      <p:sp>
        <p:nvSpPr>
          <p:cNvPr id="27" name="text">
            <a:extLst xmlns:a="http://schemas.openxmlformats.org/drawingml/2006/main">
              <a:ext uri="{FF2B5EF4-FFF2-40B4-BE49-F238E27FC236}">
                <a16:creationId xmlns:a16="http://schemas.microsoft.com/office/drawing/2014/main" id="{CE2FB8E3-C30C-4F4C-8492-1B1F707C8D15}"/>
              </a:ext>
            </a:extLst>
          </p:cNvPr>
          <p:cNvSpPr>
            <a:spLocks xmlns:a="http://schemas.openxmlformats.org/drawingml/2006/main" noGrp="1"/>
          </p:cNvSpPr>
          <p:nvPr/>
        </p:nvSpPr>
        <p:spPr>
          <a:xfrm xmlns:a="http://schemas.openxmlformats.org/drawingml/2006/main">
            <a:off x="8077200" y="2762250"/>
            <a:ext cx="33718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A9C7E1"/>
                </a:solidFill>
                <a:latin typeface="Nimbus Sans"/>
                <a:ea typeface="Nimbus Sans"/>
                <a:cs typeface="Nimbus Sans"/>
              </a:defRPr>
            </a:pPr>
            <a:r>
              <a:rPr sz="1650" b="0">
                <a:solidFill>
                  <a:srgbClr val="A9C7E1"/>
                </a:solidFill>
                <a:latin typeface="Nimbus Sans"/>
                <a:ea typeface="Nimbus Sans"/>
                <a:cs typeface="Nimbus Sans"/>
              </a:rPr>
              <a:t>What may the agent access?</a:t>
            </a:r>
          </a:p>
        </p:txBody>
      </p:sp>
      <p:sp>
        <p:nvSpPr>
          <p:cNvPr id="28" name="glow capability">
            <a:extLst xmlns:a="http://schemas.openxmlformats.org/drawingml/2006/main">
              <a:ext uri="{FF2B5EF4-FFF2-40B4-BE49-F238E27FC236}">
                <a16:creationId xmlns:a16="http://schemas.microsoft.com/office/drawing/2014/main" id="{2AB63857-B71C-40DF-A1CA-3F8B972BC0BD}"/>
              </a:ext>
            </a:extLst>
          </p:cNvPr>
          <p:cNvSpPr>
            <a:spLocks xmlns:a="http://schemas.openxmlformats.org/drawingml/2006/main" noGrp="1"/>
          </p:cNvSpPr>
          <p:nvPr/>
        </p:nvSpPr>
        <p:spPr>
          <a:xfrm xmlns:a="http://schemas.openxmlformats.org/drawingml/2006/main">
            <a:off x="8086725" y="3648075"/>
            <a:ext cx="3571875" cy="1009650"/>
          </a:xfrm>
          <a:prstGeom xmlns:a="http://schemas.openxmlformats.org/drawingml/2006/main" prst="roundRect">
            <a:avLst>
              <a:gd name="adj" fmla="val 6604"/>
            </a:avLst>
          </a:prstGeom>
          <a:solidFill xmlns:a="http://schemas.openxmlformats.org/drawingml/2006/main">
            <a:srgbClr val="0D2430"/>
          </a:solidFill>
          <a:ln xmlns:a="http://schemas.openxmlformats.org/drawingml/2006/main" w="15240">
            <a:solidFill>
              <a:srgbClr val="7DD6DD"/>
            </a:solidFill>
          </a:ln>
          <ns12:effectLst xmlns:ns12="http://schemas.openxmlformats.org/drawingml/2006/main">
            <ns12:glow rad="65000">
              <ns12:srgbClr val="7DD6DD">
                <ns12:alpha val="34000"/>
              </ns12:srgbClr>
            </ns12:glow>
          </ns12:effectLst>
        </p:spPr>
      </p:sp>
      <p:sp>
        <p:nvSpPr>
          <p:cNvPr id="29" name="text">
            <a:extLst xmlns:a="http://schemas.openxmlformats.org/drawingml/2006/main">
              <a:ext uri="{FF2B5EF4-FFF2-40B4-BE49-F238E27FC236}">
                <a16:creationId xmlns:a16="http://schemas.microsoft.com/office/drawing/2014/main" id="{89E01A32-4BB4-425D-954F-0D112E428C1C}"/>
              </a:ext>
            </a:extLst>
          </p:cNvPr>
          <p:cNvSpPr>
            <a:spLocks xmlns:a="http://schemas.openxmlformats.org/drawingml/2006/main" noGrp="1"/>
          </p:cNvSpPr>
          <p:nvPr/>
        </p:nvSpPr>
        <p:spPr>
          <a:xfrm xmlns:a="http://schemas.openxmlformats.org/drawingml/2006/main">
            <a:off x="8296275" y="38004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Connections</a:t>
            </a:r>
          </a:p>
        </p:txBody>
      </p:sp>
      <p:sp>
        <p:nvSpPr>
          <p:cNvPr id="30" name="text">
            <a:extLst xmlns:a="http://schemas.openxmlformats.org/drawingml/2006/main">
              <a:ext uri="{FF2B5EF4-FFF2-40B4-BE49-F238E27FC236}">
                <a16:creationId xmlns:a16="http://schemas.microsoft.com/office/drawing/2014/main" id="{C69C824C-9730-4BA0-BC4F-6023452CC7B6}"/>
              </a:ext>
            </a:extLst>
          </p:cNvPr>
          <p:cNvSpPr>
            <a:spLocks xmlns:a="http://schemas.openxmlformats.org/drawingml/2006/main" noGrp="1"/>
          </p:cNvSpPr>
          <p:nvPr/>
        </p:nvSpPr>
        <p:spPr>
          <a:xfrm xmlns:a="http://schemas.openxmlformats.org/drawingml/2006/main">
            <a:off x="8296275" y="4191000"/>
            <a:ext cx="3152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A9C7E1"/>
                </a:solidFill>
                <a:latin typeface="Nimbus Sans"/>
                <a:ea typeface="Nimbus Sans"/>
                <a:cs typeface="Nimbus Sans"/>
              </a:defRPr>
            </a:pPr>
            <a:r>
              <a:rPr sz="1650" b="0">
                <a:solidFill>
                  <a:srgbClr val="A9C7E1"/>
                </a:solidFill>
                <a:latin typeface="Nimbus Sans"/>
                <a:ea typeface="Nimbus Sans"/>
                <a:cs typeface="Nimbus Sans"/>
              </a:rPr>
              <a:t>Which business tools can it use?</a:t>
            </a:r>
          </a:p>
        </p:txBody>
      </p:sp>
      <p:sp>
        <p:nvSpPr>
          <p:cNvPr id="31" name="glow capability">
            <a:extLst xmlns:a="http://schemas.openxmlformats.org/drawingml/2006/main">
              <a:ext uri="{FF2B5EF4-FFF2-40B4-BE49-F238E27FC236}">
                <a16:creationId xmlns:a16="http://schemas.microsoft.com/office/drawing/2014/main" id="{D9E7416C-051B-4E6E-86E4-42DE32B4D33F}"/>
              </a:ext>
            </a:extLst>
          </p:cNvPr>
          <p:cNvSpPr>
            <a:spLocks xmlns:a="http://schemas.openxmlformats.org/drawingml/2006/main" noGrp="1"/>
          </p:cNvSpPr>
          <p:nvPr/>
        </p:nvSpPr>
        <p:spPr>
          <a:xfrm xmlns:a="http://schemas.openxmlformats.org/drawingml/2006/main">
            <a:off x="7867650" y="5076825"/>
            <a:ext cx="3790950" cy="1009650"/>
          </a:xfrm>
          <a:prstGeom xmlns:a="http://schemas.openxmlformats.org/drawingml/2006/main" prst="roundRect">
            <a:avLst>
              <a:gd name="adj" fmla="val 6604"/>
            </a:avLst>
          </a:prstGeom>
          <a:solidFill xmlns:a="http://schemas.openxmlformats.org/drawingml/2006/main">
            <a:srgbClr val="0D2430"/>
          </a:solidFill>
          <a:ln xmlns:a="http://schemas.openxmlformats.org/drawingml/2006/main" w="15240">
            <a:solidFill>
              <a:srgbClr val="7DD6DD"/>
            </a:solidFill>
          </a:ln>
          <ns13:effectLst xmlns:ns13="http://schemas.openxmlformats.org/drawingml/2006/main">
            <ns13:glow rad="65000">
              <ns13:srgbClr val="7DD6DD">
                <ns13:alpha val="34000"/>
              </ns13:srgbClr>
            </ns13:glow>
          </ns13:effectLst>
        </p:spPr>
      </p:sp>
      <p:sp>
        <p:nvSpPr>
          <p:cNvPr id="32" name="text">
            <a:extLst xmlns:a="http://schemas.openxmlformats.org/drawingml/2006/main">
              <a:ext uri="{FF2B5EF4-FFF2-40B4-BE49-F238E27FC236}">
                <a16:creationId xmlns:a16="http://schemas.microsoft.com/office/drawing/2014/main" id="{C0D9D9EF-ECA9-4482-BD64-1E67DE06C3F8}"/>
              </a:ext>
            </a:extLst>
          </p:cNvPr>
          <p:cNvSpPr>
            <a:spLocks xmlns:a="http://schemas.openxmlformats.org/drawingml/2006/main" noGrp="1"/>
          </p:cNvSpPr>
          <p:nvPr/>
        </p:nvSpPr>
        <p:spPr>
          <a:xfrm xmlns:a="http://schemas.openxmlformats.org/drawingml/2006/main">
            <a:off x="8077200" y="5229225"/>
            <a:ext cx="3371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Deployment</a:t>
            </a:r>
          </a:p>
        </p:txBody>
      </p:sp>
      <p:sp>
        <p:nvSpPr>
          <p:cNvPr id="33" name="text">
            <a:extLst xmlns:a="http://schemas.openxmlformats.org/drawingml/2006/main">
              <a:ext uri="{FF2B5EF4-FFF2-40B4-BE49-F238E27FC236}">
                <a16:creationId xmlns:a16="http://schemas.microsoft.com/office/drawing/2014/main" id="{4167110D-FF43-4787-9C25-39C7DCDD7B8D}"/>
              </a:ext>
            </a:extLst>
          </p:cNvPr>
          <p:cNvSpPr>
            <a:spLocks xmlns:a="http://schemas.openxmlformats.org/drawingml/2006/main" noGrp="1"/>
          </p:cNvSpPr>
          <p:nvPr/>
        </p:nvSpPr>
        <p:spPr>
          <a:xfrm xmlns:a="http://schemas.openxmlformats.org/drawingml/2006/main">
            <a:off x="8077200" y="5619750"/>
            <a:ext cx="33718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A9C7E1"/>
                </a:solidFill>
                <a:latin typeface="Nimbus Sans"/>
                <a:ea typeface="Nimbus Sans"/>
                <a:cs typeface="Nimbus Sans"/>
              </a:defRPr>
            </a:pPr>
            <a:r>
              <a:rPr sz="1650" b="0">
                <a:solidFill>
                  <a:srgbClr val="A9C7E1"/>
                </a:solidFill>
                <a:latin typeface="Nimbus Sans"/>
                <a:ea typeface="Nimbus Sans"/>
                <a:cs typeface="Nimbus Sans"/>
              </a:rPr>
              <a:t>Where will it run?</a:t>
            </a:r>
          </a:p>
        </p:txBody>
      </p:sp>
    </p:spTree>
    <p:extLst>
      <p:ext uri="{BB962C8B-B14F-4D97-AF65-F5344CB8AC3E}">
        <p14:creationId xmlns:p14="http://schemas.microsoft.com/office/powerpoint/2010/main" val="1584151206"/>
      </p:ext>
    </p:extLst>
  </p:cSld>
</p:sld>
</file>

<file path=ppt/slides/slide3.xml><?xml version="1.0" encoding="utf-8"?>
<p:sld xmlns:p="http://schemas.openxmlformats.org/presentationml/2006/main">
  <p:cSld>
    <p:bg>
      <p:bgPr>
        <a:solidFill xmlns:a="http://schemas.openxmlformats.org/drawingml/2006/main">
          <a:srgbClr val="0D2430"/>
        </a:solidFill>
      </p:bgPr>
    </p:bg>
    <p:spTree>
      <p:nvGrpSpPr>
        <p:cNvPr id="1" name=""/>
        <p:cNvGrpSpPr/>
        <p:nvPr/>
      </p:nvGrpSpPr>
      <p:grpSpPr>
        <a:xfrm xmlns:a="http://schemas.openxmlformats.org/drawingml/2006/main"/>
      </p:grpSpPr>
      <p:sp>
        <p:nvSpPr>
          <p:cNvPr id="63" name="box">
            <a:extLst xmlns:a="http://schemas.openxmlformats.org/drawingml/2006/main">
              <a:ext uri="{FF2B5EF4-FFF2-40B4-BE49-F238E27FC236}">
                <a16:creationId xmlns:a16="http://schemas.microsoft.com/office/drawing/2014/main" id="{7D771026-B58E-44F0-961A-67D3922E426C}"/>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385362"/>
          </a:solidFill>
          <a:ln xmlns:a="http://schemas.openxmlformats.org/drawingml/2006/main" w="0">
            <a:noFill/>
          </a:ln>
        </p:spPr>
      </p:sp>
      <p:sp>
        <p:nvSpPr>
          <p:cNvPr id="2" name="text">
            <a:extLst xmlns:a="http://schemas.openxmlformats.org/drawingml/2006/main">
              <a:ext uri="{FF2B5EF4-FFF2-40B4-BE49-F238E27FC236}">
                <a16:creationId xmlns:a16="http://schemas.microsoft.com/office/drawing/2014/main" id="{4EE6216D-0F14-4C19-956E-5393BE8ADE63}"/>
              </a:ext>
            </a:extLst>
          </p:cNvPr>
          <p:cNvSpPr>
            <a:spLocks xmlns:a="http://schemas.openxmlformats.org/drawingml/2006/main" noGrp="1"/>
          </p:cNvSpPr>
          <p:nvPr/>
        </p:nvSpPr>
        <p:spPr>
          <a:xfrm xmlns:a="http://schemas.openxmlformats.org/drawingml/2006/main">
            <a:off x="609600" y="656272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975" b="1">
                <a:solidFill>
                  <a:srgbClr val="7DD6DD"/>
                </a:solidFill>
                <a:latin typeface="Nimbus Sans"/>
                <a:ea typeface="Nimbus Sans"/>
                <a:cs typeface="Nimbus Sans"/>
              </a:defRPr>
            </a:pPr>
            <a:r>
              <a:rPr sz="975" b="1">
                <a:solidFill>
                  <a:srgbClr val="7DD6DD"/>
                </a:solidFill>
                <a:latin typeface="Nimbus Sans"/>
                <a:ea typeface="Nimbus Sans"/>
                <a:cs typeface="Nimbus Sans"/>
              </a:rPr>
              <a:t>GUARDIAN AI  /  CONVERGENCE 2026</a:t>
            </a:r>
          </a:p>
        </p:txBody>
      </p:sp>
      <p:sp>
        <p:nvSpPr>
          <p:cNvPr id="3" name="text">
            <a:extLst xmlns:a="http://schemas.openxmlformats.org/drawingml/2006/main">
              <a:ext uri="{FF2B5EF4-FFF2-40B4-BE49-F238E27FC236}">
                <a16:creationId xmlns:a16="http://schemas.microsoft.com/office/drawing/2014/main" id="{4722F556-6FF4-4828-B3B7-8552D6D003E4}"/>
              </a:ext>
            </a:extLst>
          </p:cNvPr>
          <p:cNvSpPr>
            <a:spLocks xmlns:a="http://schemas.openxmlformats.org/drawingml/2006/main" noGrp="1"/>
          </p:cNvSpPr>
          <p:nvPr/>
        </p:nvSpPr>
        <p:spPr>
          <a:xfrm xmlns:a="http://schemas.openxmlformats.org/drawingml/2006/main">
            <a:off x="11096625" y="65627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7DD6DD"/>
                </a:solidFill>
                <a:latin typeface="Nimbus Sans"/>
                <a:ea typeface="Nimbus Sans"/>
                <a:cs typeface="Nimbus Sans"/>
              </a:defRPr>
            </a:pPr>
            <a:r>
              <a:rPr sz="1050" b="0">
                <a:solidFill>
                  <a:srgbClr val="7DD6DD"/>
                </a:solidFill>
                <a:latin typeface="Nimbus Sans"/>
                <a:ea typeface="Nimbus Sans"/>
                <a:cs typeface="Nimbus Sans"/>
              </a:rPr>
              <a:t>03</a:t>
            </a:r>
          </a:p>
        </p:txBody>
      </p:sp>
      <p:sp>
        <p:nvSpPr>
          <p:cNvPr id="4" name="text">
            <a:extLst xmlns:a="http://schemas.openxmlformats.org/drawingml/2006/main">
              <a:ext uri="{FF2B5EF4-FFF2-40B4-BE49-F238E27FC236}">
                <a16:creationId xmlns:a16="http://schemas.microsoft.com/office/drawing/2014/main" id="{1B678A2D-7317-4C4A-8BF3-EBCED07F63E1}"/>
              </a:ext>
            </a:extLst>
          </p:cNvPr>
          <p:cNvSpPr>
            <a:spLocks xmlns:a="http://schemas.openxmlformats.org/drawingml/2006/main" noGrp="1"/>
          </p:cNvSpPr>
          <p:nvPr/>
        </p:nvSpPr>
        <p:spPr>
          <a:xfrm xmlns:a="http://schemas.openxmlformats.org/drawingml/2006/main">
            <a:off x="400050" y="447675"/>
            <a:ext cx="11391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900" b="1">
                <a:solidFill>
                  <a:srgbClr val="FFFFFF"/>
                </a:solidFill>
                <a:latin typeface="Nimbus Sans"/>
                <a:ea typeface="Nimbus Sans"/>
                <a:cs typeface="Nimbus Sans"/>
              </a:defRPr>
            </a:pPr>
            <a:r>
              <a:rPr sz="3900" b="1">
                <a:solidFill>
                  <a:srgbClr val="FFFFFF"/>
                </a:solidFill>
                <a:latin typeface="Nimbus Sans"/>
                <a:ea typeface="Nimbus Sans"/>
                <a:cs typeface="Nimbus Sans"/>
              </a:rPr>
              <a:t>Repeated setup slows every new agent</a:t>
            </a:r>
          </a:p>
        </p:txBody>
      </p:sp>
      <p:sp>
        <p:nvSpPr>
          <p:cNvPr id="5" name="text">
            <a:extLst xmlns:a="http://schemas.openxmlformats.org/drawingml/2006/main">
              <a:ext uri="{FF2B5EF4-FFF2-40B4-BE49-F238E27FC236}">
                <a16:creationId xmlns:a16="http://schemas.microsoft.com/office/drawing/2014/main" id="{F330CF5B-9D2A-4DB0-8B5D-BEBA95AAAED0}"/>
              </a:ext>
            </a:extLst>
          </p:cNvPr>
          <p:cNvSpPr>
            <a:spLocks xmlns:a="http://schemas.openxmlformats.org/drawingml/2006/main" noGrp="1"/>
          </p:cNvSpPr>
          <p:nvPr/>
        </p:nvSpPr>
        <p:spPr>
          <a:xfrm xmlns:a="http://schemas.openxmlformats.org/drawingml/2006/main">
            <a:off x="400050" y="1143000"/>
            <a:ext cx="1139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0">
                <a:solidFill>
                  <a:srgbClr val="7DD6DD"/>
                </a:solidFill>
                <a:latin typeface="Nimbus Sans"/>
                <a:ea typeface="Nimbus Sans"/>
                <a:cs typeface="Nimbus Sans"/>
              </a:defRPr>
            </a:pPr>
            <a:r>
              <a:rPr sz="2700" b="0">
                <a:solidFill>
                  <a:srgbClr val="7DD6DD"/>
                </a:solidFill>
                <a:latin typeface="Nimbus Sans"/>
                <a:ea typeface="Nimbus Sans"/>
                <a:cs typeface="Nimbus Sans"/>
              </a:rPr>
              <a:t>A shared foundation changes where the work happens.</a:t>
            </a:r>
          </a:p>
        </p:txBody>
      </p:sp>
      <p:sp>
        <p:nvSpPr>
          <p:cNvPr id="6" name="glow coral">
            <a:extLst xmlns:a="http://schemas.openxmlformats.org/drawingml/2006/main">
              <a:ext uri="{FF2B5EF4-FFF2-40B4-BE49-F238E27FC236}">
                <a16:creationId xmlns:a16="http://schemas.microsoft.com/office/drawing/2014/main" id="{9E82E5F2-9539-48FC-B209-A5FCB3CEF407}"/>
              </a:ext>
            </a:extLst>
          </p:cNvPr>
          <p:cNvSpPr>
            <a:spLocks xmlns:a="http://schemas.openxmlformats.org/drawingml/2006/main" noGrp="1"/>
          </p:cNvSpPr>
          <p:nvPr/>
        </p:nvSpPr>
        <p:spPr>
          <a:xfrm xmlns:a="http://schemas.openxmlformats.org/drawingml/2006/main">
            <a:off x="381000" y="2000250"/>
            <a:ext cx="5219700" cy="3762375"/>
          </a:xfrm>
          <a:prstGeom xmlns:a="http://schemas.openxmlformats.org/drawingml/2006/main" prst="roundRect">
            <a:avLst>
              <a:gd name="adj" fmla="val 2532"/>
            </a:avLst>
          </a:prstGeom>
          <a:solidFill xmlns:a="http://schemas.openxmlformats.org/drawingml/2006/main">
            <a:srgbClr val="0D2430"/>
          </a:solidFill>
          <a:ln xmlns:a="http://schemas.openxmlformats.org/drawingml/2006/main" w="15240">
            <a:solidFill>
              <a:srgbClr val="D98979"/>
            </a:solidFill>
          </a:ln>
          <ns0:effectLst xmlns:ns0="http://schemas.openxmlformats.org/drawingml/2006/main">
            <ns0:glow rad="65000">
              <ns0:srgbClr val="D98979">
                <ns0:alpha val="34000"/>
              </ns0:srgbClr>
            </ns0:glow>
          </ns0:effectLst>
        </p:spPr>
      </p:sp>
      <p:sp>
        <p:nvSpPr>
          <p:cNvPr id="7" name="glow aqua">
            <a:extLst xmlns:a="http://schemas.openxmlformats.org/drawingml/2006/main">
              <a:ext uri="{FF2B5EF4-FFF2-40B4-BE49-F238E27FC236}">
                <a16:creationId xmlns:a16="http://schemas.microsoft.com/office/drawing/2014/main" id="{4F1435E9-97B3-441D-AB70-23613F3D21E8}"/>
              </a:ext>
            </a:extLst>
          </p:cNvPr>
          <p:cNvSpPr>
            <a:spLocks xmlns:a="http://schemas.openxmlformats.org/drawingml/2006/main" noGrp="1"/>
          </p:cNvSpPr>
          <p:nvPr/>
        </p:nvSpPr>
        <p:spPr>
          <a:xfrm xmlns:a="http://schemas.openxmlformats.org/drawingml/2006/main">
            <a:off x="6629400" y="2000250"/>
            <a:ext cx="5219700" cy="3762375"/>
          </a:xfrm>
          <a:prstGeom xmlns:a="http://schemas.openxmlformats.org/drawingml/2006/main" prst="roundRect">
            <a:avLst>
              <a:gd name="adj" fmla="val 2532"/>
            </a:avLst>
          </a:prstGeom>
          <a:solidFill xmlns:a="http://schemas.openxmlformats.org/drawingml/2006/main">
            <a:srgbClr val="0D2430"/>
          </a:solidFill>
          <a:ln xmlns:a="http://schemas.openxmlformats.org/drawingml/2006/main" w="15240">
            <a:solidFill>
              <a:srgbClr val="7DD6DD"/>
            </a:solidFill>
          </a:ln>
          <ns1:effectLst xmlns:ns1="http://schemas.openxmlformats.org/drawingml/2006/main">
            <ns1:glow rad="65000">
              <ns1:srgbClr val="7DD6DD">
                <ns1:alpha val="34000"/>
              </ns1:srgbClr>
            </ns1:glow>
          </ns1:effectLst>
        </p:spPr>
      </p:sp>
      <p:sp>
        <p:nvSpPr>
          <p:cNvPr id="8" name="text">
            <a:extLst xmlns:a="http://schemas.openxmlformats.org/drawingml/2006/main">
              <a:ext uri="{FF2B5EF4-FFF2-40B4-BE49-F238E27FC236}">
                <a16:creationId xmlns:a16="http://schemas.microsoft.com/office/drawing/2014/main" id="{5EBA6E3C-3D3C-4A33-9C4D-6846AB1D2CF0}"/>
              </a:ext>
            </a:extLst>
          </p:cNvPr>
          <p:cNvSpPr>
            <a:spLocks xmlns:a="http://schemas.openxmlformats.org/drawingml/2006/main" noGrp="1"/>
          </p:cNvSpPr>
          <p:nvPr/>
        </p:nvSpPr>
        <p:spPr>
          <a:xfrm xmlns:a="http://schemas.openxmlformats.org/drawingml/2006/main">
            <a:off x="581025" y="2143125"/>
            <a:ext cx="4819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1">
                <a:solidFill>
                  <a:srgbClr val="D98979"/>
                </a:solidFill>
                <a:latin typeface="Nimbus Sans"/>
                <a:ea typeface="Nimbus Sans"/>
                <a:cs typeface="Nimbus Sans"/>
              </a:defRPr>
            </a:pPr>
            <a:r>
              <a:rPr sz="1875" b="1">
                <a:solidFill>
                  <a:srgbClr val="D98979"/>
                </a:solidFill>
                <a:latin typeface="Nimbus Sans"/>
                <a:ea typeface="Nimbus Sans"/>
                <a:cs typeface="Nimbus Sans"/>
              </a:rPr>
              <a:t>SEPARATE SETUP FOR EACH TEAM</a:t>
            </a:r>
          </a:p>
        </p:txBody>
      </p:sp>
      <p:sp>
        <p:nvSpPr>
          <p:cNvPr id="9" name="text">
            <a:extLst xmlns:a="http://schemas.openxmlformats.org/drawingml/2006/main">
              <a:ext uri="{FF2B5EF4-FFF2-40B4-BE49-F238E27FC236}">
                <a16:creationId xmlns:a16="http://schemas.microsoft.com/office/drawing/2014/main" id="{836BAFB0-A7B7-4EB0-9473-04869C7FF355}"/>
              </a:ext>
            </a:extLst>
          </p:cNvPr>
          <p:cNvSpPr>
            <a:spLocks xmlns:a="http://schemas.openxmlformats.org/drawingml/2006/main" noGrp="1"/>
          </p:cNvSpPr>
          <p:nvPr/>
        </p:nvSpPr>
        <p:spPr>
          <a:xfrm xmlns:a="http://schemas.openxmlformats.org/drawingml/2006/main">
            <a:off x="6829425" y="2143125"/>
            <a:ext cx="4819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1">
                <a:solidFill>
                  <a:srgbClr val="7DD6DD"/>
                </a:solidFill>
                <a:latin typeface="Nimbus Sans"/>
                <a:ea typeface="Nimbus Sans"/>
                <a:cs typeface="Nimbus Sans"/>
              </a:defRPr>
            </a:pPr>
            <a:r>
              <a:rPr sz="1875" b="1">
                <a:solidFill>
                  <a:srgbClr val="7DD6DD"/>
                </a:solidFill>
                <a:latin typeface="Nimbus Sans"/>
                <a:ea typeface="Nimbus Sans"/>
                <a:cs typeface="Nimbus Sans"/>
              </a:rPr>
              <a:t>SHARED PLATFORM MODEL</a:t>
            </a:r>
          </a:p>
        </p:txBody>
      </p:sp>
      <p:sp>
        <p:nvSpPr>
          <p:cNvPr id="10" name="text">
            <a:extLst xmlns:a="http://schemas.openxmlformats.org/drawingml/2006/main">
              <a:ext uri="{FF2B5EF4-FFF2-40B4-BE49-F238E27FC236}">
                <a16:creationId xmlns:a16="http://schemas.microsoft.com/office/drawing/2014/main" id="{EB2BB524-B6CB-4038-A531-9A19C620235B}"/>
              </a:ext>
            </a:extLst>
          </p:cNvPr>
          <p:cNvSpPr>
            <a:spLocks xmlns:a="http://schemas.openxmlformats.org/drawingml/2006/main" noGrp="1"/>
          </p:cNvSpPr>
          <p:nvPr/>
        </p:nvSpPr>
        <p:spPr>
          <a:xfrm xmlns:a="http://schemas.openxmlformats.org/drawingml/2006/main">
            <a:off x="552450" y="2571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0">
                <a:solidFill>
                  <a:srgbClr val="FFFFFF"/>
                </a:solidFill>
                <a:latin typeface="Nimbus Sans"/>
                <a:ea typeface="Nimbus Sans"/>
                <a:cs typeface="Nimbus Sans"/>
              </a:defRPr>
            </a:pPr>
            <a:r>
              <a:rPr sz="1800" b="0">
                <a:solidFill>
                  <a:srgbClr val="FFFFFF"/>
                </a:solidFill>
                <a:latin typeface="Nimbus Sans"/>
                <a:ea typeface="Nimbus Sans"/>
                <a:cs typeface="Nimbus Sans"/>
              </a:rPr>
              <a:t>Team A</a:t>
            </a:r>
          </a:p>
        </p:txBody>
      </p:sp>
      <p:sp>
        <p:nvSpPr>
          <p:cNvPr id="11" name="box">
            <a:extLst xmlns:a="http://schemas.openxmlformats.org/drawingml/2006/main">
              <a:ext uri="{FF2B5EF4-FFF2-40B4-BE49-F238E27FC236}">
                <a16:creationId xmlns:a16="http://schemas.microsoft.com/office/drawing/2014/main" id="{ED15D079-55D3-4844-9367-7BA00ED09B74}"/>
              </a:ext>
            </a:extLst>
          </p:cNvPr>
          <p:cNvSpPr>
            <a:spLocks xmlns:a="http://schemas.openxmlformats.org/drawingml/2006/main" noGrp="1"/>
          </p:cNvSpPr>
          <p:nvPr/>
        </p:nvSpPr>
        <p:spPr>
          <a:xfrm xmlns:a="http://schemas.openxmlformats.org/drawingml/2006/main">
            <a:off x="552450" y="2952750"/>
            <a:ext cx="1524000" cy="2657475"/>
          </a:xfrm>
          <a:prstGeom xmlns:a="http://schemas.openxmlformats.org/drawingml/2006/main" prst="roundRect">
            <a:avLst>
              <a:gd name="adj" fmla="val 3750"/>
            </a:avLst>
          </a:prstGeom>
          <a:noFill xmlns:a="http://schemas.openxmlformats.org/drawingml/2006/main"/>
          <a:ln xmlns:a="http://schemas.openxmlformats.org/drawingml/2006/main" w="15240">
            <a:solidFill>
              <a:srgbClr val="D98979"/>
            </a:solidFill>
          </a:ln>
        </p:spPr>
      </p:sp>
      <p:sp>
        <p:nvSpPr>
          <p:cNvPr id="12" name="box">
            <a:extLst xmlns:a="http://schemas.openxmlformats.org/drawingml/2006/main">
              <a:ext uri="{FF2B5EF4-FFF2-40B4-BE49-F238E27FC236}">
                <a16:creationId xmlns:a16="http://schemas.microsoft.com/office/drawing/2014/main" id="{93391D74-7EC9-44A4-B629-63F62047058B}"/>
              </a:ext>
            </a:extLst>
          </p:cNvPr>
          <p:cNvSpPr>
            <a:spLocks xmlns:a="http://schemas.openxmlformats.org/drawingml/2006/main" noGrp="1"/>
          </p:cNvSpPr>
          <p:nvPr/>
        </p:nvSpPr>
        <p:spPr>
          <a:xfrm xmlns:a="http://schemas.openxmlformats.org/drawingml/2006/main">
            <a:off x="628650" y="3028950"/>
            <a:ext cx="1371600" cy="809625"/>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F74A5AF8-E662-47D0-A239-DB8DD04F4691}"/>
              </a:ext>
            </a:extLst>
          </p:cNvPr>
          <p:cNvSpPr>
            <a:spLocks xmlns:a="http://schemas.openxmlformats.org/drawingml/2006/main" noGrp="1"/>
          </p:cNvSpPr>
          <p:nvPr/>
        </p:nvSpPr>
        <p:spPr>
          <a:xfrm xmlns:a="http://schemas.openxmlformats.org/drawingml/2006/main">
            <a:off x="723900" y="3124200"/>
            <a:ext cx="1181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Business</a:t>
            </a:r>
          </a:p>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logic</a:t>
            </a:r>
          </a:p>
        </p:txBody>
      </p:sp>
      <p:sp>
        <p:nvSpPr>
          <p:cNvPr id="14" name="box">
            <a:extLst xmlns:a="http://schemas.openxmlformats.org/drawingml/2006/main">
              <a:ext uri="{FF2B5EF4-FFF2-40B4-BE49-F238E27FC236}">
                <a16:creationId xmlns:a16="http://schemas.microsoft.com/office/drawing/2014/main" id="{A623ACD8-15F8-42C7-AA1D-AC0797E6EBAA}"/>
              </a:ext>
            </a:extLst>
          </p:cNvPr>
          <p:cNvSpPr>
            <a:spLocks xmlns:a="http://schemas.openxmlformats.org/drawingml/2006/main" noGrp="1"/>
          </p:cNvSpPr>
          <p:nvPr/>
        </p:nvSpPr>
        <p:spPr>
          <a:xfrm xmlns:a="http://schemas.openxmlformats.org/drawingml/2006/main">
            <a:off x="628650" y="392430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15" name="text">
            <a:extLst xmlns:a="http://schemas.openxmlformats.org/drawingml/2006/main">
              <a:ext uri="{FF2B5EF4-FFF2-40B4-BE49-F238E27FC236}">
                <a16:creationId xmlns:a16="http://schemas.microsoft.com/office/drawing/2014/main" id="{C12E9611-39B3-464A-B4D1-7FE9207401C0}"/>
              </a:ext>
            </a:extLst>
          </p:cNvPr>
          <p:cNvSpPr>
            <a:spLocks xmlns:a="http://schemas.openxmlformats.org/drawingml/2006/main" noGrp="1"/>
          </p:cNvSpPr>
          <p:nvPr/>
        </p:nvSpPr>
        <p:spPr>
          <a:xfrm xmlns:a="http://schemas.openxmlformats.org/drawingml/2006/main">
            <a:off x="666750" y="392430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Access</a:t>
            </a:r>
          </a:p>
        </p:txBody>
      </p:sp>
      <p:sp>
        <p:nvSpPr>
          <p:cNvPr id="16" name="box">
            <a:extLst xmlns:a="http://schemas.openxmlformats.org/drawingml/2006/main">
              <a:ext uri="{FF2B5EF4-FFF2-40B4-BE49-F238E27FC236}">
                <a16:creationId xmlns:a16="http://schemas.microsoft.com/office/drawing/2014/main" id="{D9E48D09-A615-40FF-A0EE-D8F558DBCAF6}"/>
              </a:ext>
            </a:extLst>
          </p:cNvPr>
          <p:cNvSpPr>
            <a:spLocks xmlns:a="http://schemas.openxmlformats.org/drawingml/2006/main" noGrp="1"/>
          </p:cNvSpPr>
          <p:nvPr/>
        </p:nvSpPr>
        <p:spPr>
          <a:xfrm xmlns:a="http://schemas.openxmlformats.org/drawingml/2006/main">
            <a:off x="628650" y="432435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17" name="text">
            <a:extLst xmlns:a="http://schemas.openxmlformats.org/drawingml/2006/main">
              <a:ext uri="{FF2B5EF4-FFF2-40B4-BE49-F238E27FC236}">
                <a16:creationId xmlns:a16="http://schemas.microsoft.com/office/drawing/2014/main" id="{3C2C5D0E-7EA4-4745-B844-25B13D327EE6}"/>
              </a:ext>
            </a:extLst>
          </p:cNvPr>
          <p:cNvSpPr>
            <a:spLocks xmlns:a="http://schemas.openxmlformats.org/drawingml/2006/main" noGrp="1"/>
          </p:cNvSpPr>
          <p:nvPr/>
        </p:nvSpPr>
        <p:spPr>
          <a:xfrm xmlns:a="http://schemas.openxmlformats.org/drawingml/2006/main">
            <a:off x="666750" y="432435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Deployment</a:t>
            </a:r>
          </a:p>
        </p:txBody>
      </p:sp>
      <p:sp>
        <p:nvSpPr>
          <p:cNvPr id="18" name="box">
            <a:extLst xmlns:a="http://schemas.openxmlformats.org/drawingml/2006/main">
              <a:ext uri="{FF2B5EF4-FFF2-40B4-BE49-F238E27FC236}">
                <a16:creationId xmlns:a16="http://schemas.microsoft.com/office/drawing/2014/main" id="{D9B59B50-9637-49DA-B710-862EB42DC350}"/>
              </a:ext>
            </a:extLst>
          </p:cNvPr>
          <p:cNvSpPr>
            <a:spLocks xmlns:a="http://schemas.openxmlformats.org/drawingml/2006/main" noGrp="1"/>
          </p:cNvSpPr>
          <p:nvPr/>
        </p:nvSpPr>
        <p:spPr>
          <a:xfrm xmlns:a="http://schemas.openxmlformats.org/drawingml/2006/main">
            <a:off x="628650" y="472440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19" name="text">
            <a:extLst xmlns:a="http://schemas.openxmlformats.org/drawingml/2006/main">
              <a:ext uri="{FF2B5EF4-FFF2-40B4-BE49-F238E27FC236}">
                <a16:creationId xmlns:a16="http://schemas.microsoft.com/office/drawing/2014/main" id="{4CBAC397-B161-4739-B5AF-D411812CA98F}"/>
              </a:ext>
            </a:extLst>
          </p:cNvPr>
          <p:cNvSpPr>
            <a:spLocks xmlns:a="http://schemas.openxmlformats.org/drawingml/2006/main" noGrp="1"/>
          </p:cNvSpPr>
          <p:nvPr/>
        </p:nvSpPr>
        <p:spPr>
          <a:xfrm xmlns:a="http://schemas.openxmlformats.org/drawingml/2006/main">
            <a:off x="666750" y="472440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Monitoring</a:t>
            </a:r>
          </a:p>
        </p:txBody>
      </p:sp>
      <p:sp>
        <p:nvSpPr>
          <p:cNvPr id="20" name="box">
            <a:extLst xmlns:a="http://schemas.openxmlformats.org/drawingml/2006/main">
              <a:ext uri="{FF2B5EF4-FFF2-40B4-BE49-F238E27FC236}">
                <a16:creationId xmlns:a16="http://schemas.microsoft.com/office/drawing/2014/main" id="{2A13C4C5-02F1-416F-89D2-209BF6305760}"/>
              </a:ext>
            </a:extLst>
          </p:cNvPr>
          <p:cNvSpPr>
            <a:spLocks xmlns:a="http://schemas.openxmlformats.org/drawingml/2006/main" noGrp="1"/>
          </p:cNvSpPr>
          <p:nvPr/>
        </p:nvSpPr>
        <p:spPr>
          <a:xfrm xmlns:a="http://schemas.openxmlformats.org/drawingml/2006/main">
            <a:off x="628650" y="512445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21" name="text">
            <a:extLst xmlns:a="http://schemas.openxmlformats.org/drawingml/2006/main">
              <a:ext uri="{FF2B5EF4-FFF2-40B4-BE49-F238E27FC236}">
                <a16:creationId xmlns:a16="http://schemas.microsoft.com/office/drawing/2014/main" id="{6E68411F-DF09-47DF-B9CF-532CD8790297}"/>
              </a:ext>
            </a:extLst>
          </p:cNvPr>
          <p:cNvSpPr>
            <a:spLocks xmlns:a="http://schemas.openxmlformats.org/drawingml/2006/main" noGrp="1"/>
          </p:cNvSpPr>
          <p:nvPr/>
        </p:nvSpPr>
        <p:spPr>
          <a:xfrm xmlns:a="http://schemas.openxmlformats.org/drawingml/2006/main">
            <a:off x="666750" y="512445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Usage setup</a:t>
            </a:r>
          </a:p>
        </p:txBody>
      </p:sp>
      <p:sp>
        <p:nvSpPr>
          <p:cNvPr id="22" name="text">
            <a:extLst xmlns:a="http://schemas.openxmlformats.org/drawingml/2006/main">
              <a:ext uri="{FF2B5EF4-FFF2-40B4-BE49-F238E27FC236}">
                <a16:creationId xmlns:a16="http://schemas.microsoft.com/office/drawing/2014/main" id="{19DB1BA0-D346-4589-94D0-7B568EDB7F79}"/>
              </a:ext>
            </a:extLst>
          </p:cNvPr>
          <p:cNvSpPr>
            <a:spLocks xmlns:a="http://schemas.openxmlformats.org/drawingml/2006/main" noGrp="1"/>
          </p:cNvSpPr>
          <p:nvPr/>
        </p:nvSpPr>
        <p:spPr>
          <a:xfrm xmlns:a="http://schemas.openxmlformats.org/drawingml/2006/main">
            <a:off x="2209800" y="2571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0">
                <a:solidFill>
                  <a:srgbClr val="FFFFFF"/>
                </a:solidFill>
                <a:latin typeface="Nimbus Sans"/>
                <a:ea typeface="Nimbus Sans"/>
                <a:cs typeface="Nimbus Sans"/>
              </a:defRPr>
            </a:pPr>
            <a:r>
              <a:rPr sz="1800" b="0">
                <a:solidFill>
                  <a:srgbClr val="FFFFFF"/>
                </a:solidFill>
                <a:latin typeface="Nimbus Sans"/>
                <a:ea typeface="Nimbus Sans"/>
                <a:cs typeface="Nimbus Sans"/>
              </a:rPr>
              <a:t>Team B</a:t>
            </a:r>
          </a:p>
        </p:txBody>
      </p:sp>
      <p:sp>
        <p:nvSpPr>
          <p:cNvPr id="23" name="box">
            <a:extLst xmlns:a="http://schemas.openxmlformats.org/drawingml/2006/main">
              <a:ext uri="{FF2B5EF4-FFF2-40B4-BE49-F238E27FC236}">
                <a16:creationId xmlns:a16="http://schemas.microsoft.com/office/drawing/2014/main" id="{9DE014EC-297A-44B8-ADD8-C91488064379}"/>
              </a:ext>
            </a:extLst>
          </p:cNvPr>
          <p:cNvSpPr>
            <a:spLocks xmlns:a="http://schemas.openxmlformats.org/drawingml/2006/main" noGrp="1"/>
          </p:cNvSpPr>
          <p:nvPr/>
        </p:nvSpPr>
        <p:spPr>
          <a:xfrm xmlns:a="http://schemas.openxmlformats.org/drawingml/2006/main">
            <a:off x="2209800" y="2952750"/>
            <a:ext cx="1524000" cy="2657475"/>
          </a:xfrm>
          <a:prstGeom xmlns:a="http://schemas.openxmlformats.org/drawingml/2006/main" prst="roundRect">
            <a:avLst>
              <a:gd name="adj" fmla="val 3750"/>
            </a:avLst>
          </a:prstGeom>
          <a:noFill xmlns:a="http://schemas.openxmlformats.org/drawingml/2006/main"/>
          <a:ln xmlns:a="http://schemas.openxmlformats.org/drawingml/2006/main" w="15240">
            <a:solidFill>
              <a:srgbClr val="D98979"/>
            </a:solidFill>
          </a:ln>
        </p:spPr>
      </p:sp>
      <p:sp>
        <p:nvSpPr>
          <p:cNvPr id="24" name="box">
            <a:extLst xmlns:a="http://schemas.openxmlformats.org/drawingml/2006/main">
              <a:ext uri="{FF2B5EF4-FFF2-40B4-BE49-F238E27FC236}">
                <a16:creationId xmlns:a16="http://schemas.microsoft.com/office/drawing/2014/main" id="{A200810F-D0DE-4651-9B68-D789F39BA99E}"/>
              </a:ext>
            </a:extLst>
          </p:cNvPr>
          <p:cNvSpPr>
            <a:spLocks xmlns:a="http://schemas.openxmlformats.org/drawingml/2006/main" noGrp="1"/>
          </p:cNvSpPr>
          <p:nvPr/>
        </p:nvSpPr>
        <p:spPr>
          <a:xfrm xmlns:a="http://schemas.openxmlformats.org/drawingml/2006/main">
            <a:off x="2286000" y="3028950"/>
            <a:ext cx="1371600" cy="809625"/>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25278693-7698-4134-AD59-60227DC4914B}"/>
              </a:ext>
            </a:extLst>
          </p:cNvPr>
          <p:cNvSpPr>
            <a:spLocks xmlns:a="http://schemas.openxmlformats.org/drawingml/2006/main" noGrp="1"/>
          </p:cNvSpPr>
          <p:nvPr/>
        </p:nvSpPr>
        <p:spPr>
          <a:xfrm xmlns:a="http://schemas.openxmlformats.org/drawingml/2006/main">
            <a:off x="2381250" y="3124200"/>
            <a:ext cx="1181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Business</a:t>
            </a:r>
          </a:p>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logic</a:t>
            </a:r>
          </a:p>
        </p:txBody>
      </p:sp>
      <p:sp>
        <p:nvSpPr>
          <p:cNvPr id="26" name="box">
            <a:extLst xmlns:a="http://schemas.openxmlformats.org/drawingml/2006/main">
              <a:ext uri="{FF2B5EF4-FFF2-40B4-BE49-F238E27FC236}">
                <a16:creationId xmlns:a16="http://schemas.microsoft.com/office/drawing/2014/main" id="{34A17FC7-FF4D-42B6-995D-6EB393F2676A}"/>
              </a:ext>
            </a:extLst>
          </p:cNvPr>
          <p:cNvSpPr>
            <a:spLocks xmlns:a="http://schemas.openxmlformats.org/drawingml/2006/main" noGrp="1"/>
          </p:cNvSpPr>
          <p:nvPr/>
        </p:nvSpPr>
        <p:spPr>
          <a:xfrm xmlns:a="http://schemas.openxmlformats.org/drawingml/2006/main">
            <a:off x="2286000" y="392430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27" name="text">
            <a:extLst xmlns:a="http://schemas.openxmlformats.org/drawingml/2006/main">
              <a:ext uri="{FF2B5EF4-FFF2-40B4-BE49-F238E27FC236}">
                <a16:creationId xmlns:a16="http://schemas.microsoft.com/office/drawing/2014/main" id="{DCDC7B2F-6F88-4FE6-BBC3-732ABD69F81D}"/>
              </a:ext>
            </a:extLst>
          </p:cNvPr>
          <p:cNvSpPr>
            <a:spLocks xmlns:a="http://schemas.openxmlformats.org/drawingml/2006/main" noGrp="1"/>
          </p:cNvSpPr>
          <p:nvPr/>
        </p:nvSpPr>
        <p:spPr>
          <a:xfrm xmlns:a="http://schemas.openxmlformats.org/drawingml/2006/main">
            <a:off x="2324100" y="392430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Access</a:t>
            </a:r>
          </a:p>
        </p:txBody>
      </p:sp>
      <p:sp>
        <p:nvSpPr>
          <p:cNvPr id="28" name="box">
            <a:extLst xmlns:a="http://schemas.openxmlformats.org/drawingml/2006/main">
              <a:ext uri="{FF2B5EF4-FFF2-40B4-BE49-F238E27FC236}">
                <a16:creationId xmlns:a16="http://schemas.microsoft.com/office/drawing/2014/main" id="{38F50FAC-0B56-4689-91BC-9F61A1B06CA8}"/>
              </a:ext>
            </a:extLst>
          </p:cNvPr>
          <p:cNvSpPr>
            <a:spLocks xmlns:a="http://schemas.openxmlformats.org/drawingml/2006/main" noGrp="1"/>
          </p:cNvSpPr>
          <p:nvPr/>
        </p:nvSpPr>
        <p:spPr>
          <a:xfrm xmlns:a="http://schemas.openxmlformats.org/drawingml/2006/main">
            <a:off x="2286000" y="432435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29" name="text">
            <a:extLst xmlns:a="http://schemas.openxmlformats.org/drawingml/2006/main">
              <a:ext uri="{FF2B5EF4-FFF2-40B4-BE49-F238E27FC236}">
                <a16:creationId xmlns:a16="http://schemas.microsoft.com/office/drawing/2014/main" id="{2F037C92-3EC3-49C7-974B-7609D0E64AC4}"/>
              </a:ext>
            </a:extLst>
          </p:cNvPr>
          <p:cNvSpPr>
            <a:spLocks xmlns:a="http://schemas.openxmlformats.org/drawingml/2006/main" noGrp="1"/>
          </p:cNvSpPr>
          <p:nvPr/>
        </p:nvSpPr>
        <p:spPr>
          <a:xfrm xmlns:a="http://schemas.openxmlformats.org/drawingml/2006/main">
            <a:off x="2324100" y="432435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Deployment</a:t>
            </a:r>
          </a:p>
        </p:txBody>
      </p:sp>
      <p:sp>
        <p:nvSpPr>
          <p:cNvPr id="30" name="box">
            <a:extLst xmlns:a="http://schemas.openxmlformats.org/drawingml/2006/main">
              <a:ext uri="{FF2B5EF4-FFF2-40B4-BE49-F238E27FC236}">
                <a16:creationId xmlns:a16="http://schemas.microsoft.com/office/drawing/2014/main" id="{A0C36F92-F6EA-4157-87AE-33F43C38B43F}"/>
              </a:ext>
            </a:extLst>
          </p:cNvPr>
          <p:cNvSpPr>
            <a:spLocks xmlns:a="http://schemas.openxmlformats.org/drawingml/2006/main" noGrp="1"/>
          </p:cNvSpPr>
          <p:nvPr/>
        </p:nvSpPr>
        <p:spPr>
          <a:xfrm xmlns:a="http://schemas.openxmlformats.org/drawingml/2006/main">
            <a:off x="2286000" y="472440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31" name="text">
            <a:extLst xmlns:a="http://schemas.openxmlformats.org/drawingml/2006/main">
              <a:ext uri="{FF2B5EF4-FFF2-40B4-BE49-F238E27FC236}">
                <a16:creationId xmlns:a16="http://schemas.microsoft.com/office/drawing/2014/main" id="{87B8E674-6B41-48A1-AB60-3D5C2DF95CCE}"/>
              </a:ext>
            </a:extLst>
          </p:cNvPr>
          <p:cNvSpPr>
            <a:spLocks xmlns:a="http://schemas.openxmlformats.org/drawingml/2006/main" noGrp="1"/>
          </p:cNvSpPr>
          <p:nvPr/>
        </p:nvSpPr>
        <p:spPr>
          <a:xfrm xmlns:a="http://schemas.openxmlformats.org/drawingml/2006/main">
            <a:off x="2324100" y="472440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Monitoring</a:t>
            </a:r>
          </a:p>
        </p:txBody>
      </p:sp>
      <p:sp>
        <p:nvSpPr>
          <p:cNvPr id="32" name="box">
            <a:extLst xmlns:a="http://schemas.openxmlformats.org/drawingml/2006/main">
              <a:ext uri="{FF2B5EF4-FFF2-40B4-BE49-F238E27FC236}">
                <a16:creationId xmlns:a16="http://schemas.microsoft.com/office/drawing/2014/main" id="{BB46E715-F59B-42D4-8A1D-FECCDB570D27}"/>
              </a:ext>
            </a:extLst>
          </p:cNvPr>
          <p:cNvSpPr>
            <a:spLocks xmlns:a="http://schemas.openxmlformats.org/drawingml/2006/main" noGrp="1"/>
          </p:cNvSpPr>
          <p:nvPr/>
        </p:nvSpPr>
        <p:spPr>
          <a:xfrm xmlns:a="http://schemas.openxmlformats.org/drawingml/2006/main">
            <a:off x="2286000" y="512445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33" name="text">
            <a:extLst xmlns:a="http://schemas.openxmlformats.org/drawingml/2006/main">
              <a:ext uri="{FF2B5EF4-FFF2-40B4-BE49-F238E27FC236}">
                <a16:creationId xmlns:a16="http://schemas.microsoft.com/office/drawing/2014/main" id="{6BA8214A-BE72-4C88-89A0-F4C37D7B86A1}"/>
              </a:ext>
            </a:extLst>
          </p:cNvPr>
          <p:cNvSpPr>
            <a:spLocks xmlns:a="http://schemas.openxmlformats.org/drawingml/2006/main" noGrp="1"/>
          </p:cNvSpPr>
          <p:nvPr/>
        </p:nvSpPr>
        <p:spPr>
          <a:xfrm xmlns:a="http://schemas.openxmlformats.org/drawingml/2006/main">
            <a:off x="2324100" y="512445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Usage setup</a:t>
            </a:r>
          </a:p>
        </p:txBody>
      </p:sp>
      <p:sp>
        <p:nvSpPr>
          <p:cNvPr id="34" name="text">
            <a:extLst xmlns:a="http://schemas.openxmlformats.org/drawingml/2006/main">
              <a:ext uri="{FF2B5EF4-FFF2-40B4-BE49-F238E27FC236}">
                <a16:creationId xmlns:a16="http://schemas.microsoft.com/office/drawing/2014/main" id="{D74C9E22-3F53-40A0-AF2A-964E9CFD5920}"/>
              </a:ext>
            </a:extLst>
          </p:cNvPr>
          <p:cNvSpPr>
            <a:spLocks xmlns:a="http://schemas.openxmlformats.org/drawingml/2006/main" noGrp="1"/>
          </p:cNvSpPr>
          <p:nvPr/>
        </p:nvSpPr>
        <p:spPr>
          <a:xfrm xmlns:a="http://schemas.openxmlformats.org/drawingml/2006/main">
            <a:off x="3867150" y="2571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0">
                <a:solidFill>
                  <a:srgbClr val="FFFFFF"/>
                </a:solidFill>
                <a:latin typeface="Nimbus Sans"/>
                <a:ea typeface="Nimbus Sans"/>
                <a:cs typeface="Nimbus Sans"/>
              </a:defRPr>
            </a:pPr>
            <a:r>
              <a:rPr sz="1800" b="0">
                <a:solidFill>
                  <a:srgbClr val="FFFFFF"/>
                </a:solidFill>
                <a:latin typeface="Nimbus Sans"/>
                <a:ea typeface="Nimbus Sans"/>
                <a:cs typeface="Nimbus Sans"/>
              </a:rPr>
              <a:t>Team C</a:t>
            </a:r>
          </a:p>
        </p:txBody>
      </p:sp>
      <p:sp>
        <p:nvSpPr>
          <p:cNvPr id="35" name="box">
            <a:extLst xmlns:a="http://schemas.openxmlformats.org/drawingml/2006/main">
              <a:ext uri="{FF2B5EF4-FFF2-40B4-BE49-F238E27FC236}">
                <a16:creationId xmlns:a16="http://schemas.microsoft.com/office/drawing/2014/main" id="{6E243DFC-B6E5-4526-AF0A-F89BD94E3634}"/>
              </a:ext>
            </a:extLst>
          </p:cNvPr>
          <p:cNvSpPr>
            <a:spLocks xmlns:a="http://schemas.openxmlformats.org/drawingml/2006/main" noGrp="1"/>
          </p:cNvSpPr>
          <p:nvPr/>
        </p:nvSpPr>
        <p:spPr>
          <a:xfrm xmlns:a="http://schemas.openxmlformats.org/drawingml/2006/main">
            <a:off x="3867150" y="2952750"/>
            <a:ext cx="1524000" cy="2657475"/>
          </a:xfrm>
          <a:prstGeom xmlns:a="http://schemas.openxmlformats.org/drawingml/2006/main" prst="roundRect">
            <a:avLst>
              <a:gd name="adj" fmla="val 3750"/>
            </a:avLst>
          </a:prstGeom>
          <a:noFill xmlns:a="http://schemas.openxmlformats.org/drawingml/2006/main"/>
          <a:ln xmlns:a="http://schemas.openxmlformats.org/drawingml/2006/main" w="15240">
            <a:solidFill>
              <a:srgbClr val="D98979"/>
            </a:solidFill>
          </a:ln>
        </p:spPr>
      </p:sp>
      <p:sp>
        <p:nvSpPr>
          <p:cNvPr id="36" name="box">
            <a:extLst xmlns:a="http://schemas.openxmlformats.org/drawingml/2006/main">
              <a:ext uri="{FF2B5EF4-FFF2-40B4-BE49-F238E27FC236}">
                <a16:creationId xmlns:a16="http://schemas.microsoft.com/office/drawing/2014/main" id="{83461F7E-7595-45F4-870A-F67CC1875AD1}"/>
              </a:ext>
            </a:extLst>
          </p:cNvPr>
          <p:cNvSpPr>
            <a:spLocks xmlns:a="http://schemas.openxmlformats.org/drawingml/2006/main" noGrp="1"/>
          </p:cNvSpPr>
          <p:nvPr/>
        </p:nvSpPr>
        <p:spPr>
          <a:xfrm xmlns:a="http://schemas.openxmlformats.org/drawingml/2006/main">
            <a:off x="3943350" y="3028950"/>
            <a:ext cx="1371600" cy="809625"/>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0">
            <a:noFill/>
          </a:ln>
        </p:spPr>
      </p:sp>
      <p:sp>
        <p:nvSpPr>
          <p:cNvPr id="37" name="text">
            <a:extLst xmlns:a="http://schemas.openxmlformats.org/drawingml/2006/main">
              <a:ext uri="{FF2B5EF4-FFF2-40B4-BE49-F238E27FC236}">
                <a16:creationId xmlns:a16="http://schemas.microsoft.com/office/drawing/2014/main" id="{4A96673F-34B8-48E2-A528-91C20E4CBF31}"/>
              </a:ext>
            </a:extLst>
          </p:cNvPr>
          <p:cNvSpPr>
            <a:spLocks xmlns:a="http://schemas.openxmlformats.org/drawingml/2006/main" noGrp="1"/>
          </p:cNvSpPr>
          <p:nvPr/>
        </p:nvSpPr>
        <p:spPr>
          <a:xfrm xmlns:a="http://schemas.openxmlformats.org/drawingml/2006/main">
            <a:off x="4038600" y="3124200"/>
            <a:ext cx="1181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Business</a:t>
            </a:r>
          </a:p>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logic</a:t>
            </a:r>
          </a:p>
        </p:txBody>
      </p:sp>
      <p:sp>
        <p:nvSpPr>
          <p:cNvPr id="38" name="box">
            <a:extLst xmlns:a="http://schemas.openxmlformats.org/drawingml/2006/main">
              <a:ext uri="{FF2B5EF4-FFF2-40B4-BE49-F238E27FC236}">
                <a16:creationId xmlns:a16="http://schemas.microsoft.com/office/drawing/2014/main" id="{9F57DCC8-0B25-49D4-830F-2B7F6B0D1982}"/>
              </a:ext>
            </a:extLst>
          </p:cNvPr>
          <p:cNvSpPr>
            <a:spLocks xmlns:a="http://schemas.openxmlformats.org/drawingml/2006/main" noGrp="1"/>
          </p:cNvSpPr>
          <p:nvPr/>
        </p:nvSpPr>
        <p:spPr>
          <a:xfrm xmlns:a="http://schemas.openxmlformats.org/drawingml/2006/main">
            <a:off x="3943350" y="392430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39" name="text">
            <a:extLst xmlns:a="http://schemas.openxmlformats.org/drawingml/2006/main">
              <a:ext uri="{FF2B5EF4-FFF2-40B4-BE49-F238E27FC236}">
                <a16:creationId xmlns:a16="http://schemas.microsoft.com/office/drawing/2014/main" id="{1DC3E268-DBC7-4960-896F-5B9962EDBDC8}"/>
              </a:ext>
            </a:extLst>
          </p:cNvPr>
          <p:cNvSpPr>
            <a:spLocks xmlns:a="http://schemas.openxmlformats.org/drawingml/2006/main" noGrp="1"/>
          </p:cNvSpPr>
          <p:nvPr/>
        </p:nvSpPr>
        <p:spPr>
          <a:xfrm xmlns:a="http://schemas.openxmlformats.org/drawingml/2006/main">
            <a:off x="3981450" y="392430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Access</a:t>
            </a:r>
          </a:p>
        </p:txBody>
      </p:sp>
      <p:sp>
        <p:nvSpPr>
          <p:cNvPr id="40" name="box">
            <a:extLst xmlns:a="http://schemas.openxmlformats.org/drawingml/2006/main">
              <a:ext uri="{FF2B5EF4-FFF2-40B4-BE49-F238E27FC236}">
                <a16:creationId xmlns:a16="http://schemas.microsoft.com/office/drawing/2014/main" id="{E4220B0A-DBEC-4C3A-BCB1-2501CEA0E24B}"/>
              </a:ext>
            </a:extLst>
          </p:cNvPr>
          <p:cNvSpPr>
            <a:spLocks xmlns:a="http://schemas.openxmlformats.org/drawingml/2006/main" noGrp="1"/>
          </p:cNvSpPr>
          <p:nvPr/>
        </p:nvSpPr>
        <p:spPr>
          <a:xfrm xmlns:a="http://schemas.openxmlformats.org/drawingml/2006/main">
            <a:off x="3943350" y="432435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41" name="text">
            <a:extLst xmlns:a="http://schemas.openxmlformats.org/drawingml/2006/main">
              <a:ext uri="{FF2B5EF4-FFF2-40B4-BE49-F238E27FC236}">
                <a16:creationId xmlns:a16="http://schemas.microsoft.com/office/drawing/2014/main" id="{F35617E6-1728-4D23-BDFF-C5B50FE92A55}"/>
              </a:ext>
            </a:extLst>
          </p:cNvPr>
          <p:cNvSpPr>
            <a:spLocks xmlns:a="http://schemas.openxmlformats.org/drawingml/2006/main" noGrp="1"/>
          </p:cNvSpPr>
          <p:nvPr/>
        </p:nvSpPr>
        <p:spPr>
          <a:xfrm xmlns:a="http://schemas.openxmlformats.org/drawingml/2006/main">
            <a:off x="3981450" y="432435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Deployment</a:t>
            </a:r>
          </a:p>
        </p:txBody>
      </p:sp>
      <p:sp>
        <p:nvSpPr>
          <p:cNvPr id="42" name="box">
            <a:extLst xmlns:a="http://schemas.openxmlformats.org/drawingml/2006/main">
              <a:ext uri="{FF2B5EF4-FFF2-40B4-BE49-F238E27FC236}">
                <a16:creationId xmlns:a16="http://schemas.microsoft.com/office/drawing/2014/main" id="{0D5BBFCB-2449-4D7F-980E-F71FDFCBFF5B}"/>
              </a:ext>
            </a:extLst>
          </p:cNvPr>
          <p:cNvSpPr>
            <a:spLocks xmlns:a="http://schemas.openxmlformats.org/drawingml/2006/main" noGrp="1"/>
          </p:cNvSpPr>
          <p:nvPr/>
        </p:nvSpPr>
        <p:spPr>
          <a:xfrm xmlns:a="http://schemas.openxmlformats.org/drawingml/2006/main">
            <a:off x="3943350" y="472440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43" name="text">
            <a:extLst xmlns:a="http://schemas.openxmlformats.org/drawingml/2006/main">
              <a:ext uri="{FF2B5EF4-FFF2-40B4-BE49-F238E27FC236}">
                <a16:creationId xmlns:a16="http://schemas.microsoft.com/office/drawing/2014/main" id="{DFFB4A55-E60E-4F40-A538-63ABA59540DC}"/>
              </a:ext>
            </a:extLst>
          </p:cNvPr>
          <p:cNvSpPr>
            <a:spLocks xmlns:a="http://schemas.openxmlformats.org/drawingml/2006/main" noGrp="1"/>
          </p:cNvSpPr>
          <p:nvPr/>
        </p:nvSpPr>
        <p:spPr>
          <a:xfrm xmlns:a="http://schemas.openxmlformats.org/drawingml/2006/main">
            <a:off x="3981450" y="472440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Monitoring</a:t>
            </a:r>
          </a:p>
        </p:txBody>
      </p:sp>
      <p:sp>
        <p:nvSpPr>
          <p:cNvPr id="44" name="box">
            <a:extLst xmlns:a="http://schemas.openxmlformats.org/drawingml/2006/main">
              <a:ext uri="{FF2B5EF4-FFF2-40B4-BE49-F238E27FC236}">
                <a16:creationId xmlns:a16="http://schemas.microsoft.com/office/drawing/2014/main" id="{25D6EB41-0387-4F93-80E2-7A0FEB0AF482}"/>
              </a:ext>
            </a:extLst>
          </p:cNvPr>
          <p:cNvSpPr>
            <a:spLocks xmlns:a="http://schemas.openxmlformats.org/drawingml/2006/main" noGrp="1"/>
          </p:cNvSpPr>
          <p:nvPr/>
        </p:nvSpPr>
        <p:spPr>
          <a:xfrm xmlns:a="http://schemas.openxmlformats.org/drawingml/2006/main">
            <a:off x="3943350" y="5124450"/>
            <a:ext cx="1371600" cy="333375"/>
          </a:xfrm>
          <a:prstGeom xmlns:a="http://schemas.openxmlformats.org/drawingml/2006/main" prst="roundRect">
            <a:avLst>
              <a:gd name="adj" fmla="val 11429"/>
            </a:avLst>
          </a:prstGeom>
          <a:solidFill xmlns:a="http://schemas.openxmlformats.org/drawingml/2006/main">
            <a:srgbClr val="864C42"/>
          </a:solidFill>
          <a:ln xmlns:a="http://schemas.openxmlformats.org/drawingml/2006/main" w="15240">
            <a:solidFill>
              <a:srgbClr val="D98979"/>
            </a:solidFill>
          </a:ln>
        </p:spPr>
      </p:sp>
      <p:sp>
        <p:nvSpPr>
          <p:cNvPr id="45" name="text">
            <a:extLst xmlns:a="http://schemas.openxmlformats.org/drawingml/2006/main">
              <a:ext uri="{FF2B5EF4-FFF2-40B4-BE49-F238E27FC236}">
                <a16:creationId xmlns:a16="http://schemas.microsoft.com/office/drawing/2014/main" id="{707BFC64-4211-4D49-A483-0E2F7BB8559B}"/>
              </a:ext>
            </a:extLst>
          </p:cNvPr>
          <p:cNvSpPr>
            <a:spLocks xmlns:a="http://schemas.openxmlformats.org/drawingml/2006/main" noGrp="1"/>
          </p:cNvSpPr>
          <p:nvPr/>
        </p:nvSpPr>
        <p:spPr>
          <a:xfrm xmlns:a="http://schemas.openxmlformats.org/drawingml/2006/main">
            <a:off x="3981450" y="5124450"/>
            <a:ext cx="129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FFFFFF"/>
                </a:solidFill>
                <a:latin typeface="Nimbus Sans"/>
                <a:ea typeface="Nimbus Sans"/>
                <a:cs typeface="Nimbus Sans"/>
              </a:defRPr>
            </a:pPr>
            <a:r>
              <a:rPr sz="1575" b="0">
                <a:solidFill>
                  <a:srgbClr val="FFFFFF"/>
                </a:solidFill>
                <a:latin typeface="Nimbus Sans"/>
                <a:ea typeface="Nimbus Sans"/>
                <a:cs typeface="Nimbus Sans"/>
              </a:rPr>
              <a:t>Usage setup</a:t>
            </a:r>
          </a:p>
        </p:txBody>
      </p:sp>
      <p:sp>
        <p:nvSpPr>
          <p:cNvPr id="46" name="glow arrow">
            <a:extLst xmlns:a="http://schemas.openxmlformats.org/drawingml/2006/main">
              <a:ext uri="{FF2B5EF4-FFF2-40B4-BE49-F238E27FC236}">
                <a16:creationId xmlns:a16="http://schemas.microsoft.com/office/drawing/2014/main" id="{5D6ACAFA-B368-42F7-85C7-4E6236D113B0}"/>
              </a:ext>
            </a:extLst>
          </p:cNvPr>
          <p:cNvSpPr>
            <a:spLocks xmlns:a="http://schemas.openxmlformats.org/drawingml/2006/main" noGrp="1"/>
          </p:cNvSpPr>
          <p:nvPr/>
        </p:nvSpPr>
        <p:spPr>
          <a:xfrm xmlns:a="http://schemas.openxmlformats.org/drawingml/2006/main">
            <a:off x="5791200" y="3790950"/>
            <a:ext cx="628650" cy="447675"/>
          </a:xfrm>
          <a:prstGeom xmlns:a="http://schemas.openxmlformats.org/drawingml/2006/main" prst="rightArrow">
            <a:avLst/>
          </a:prstGeom>
          <a:solidFill xmlns:a="http://schemas.openxmlformats.org/drawingml/2006/main">
            <a:srgbClr val="34B7C2"/>
          </a:solidFill>
          <a:ln xmlns:a="http://schemas.openxmlformats.org/drawingml/2006/main" w="19050">
            <a:solidFill>
              <a:srgbClr val="7DD6DD"/>
            </a:solidFill>
          </a:ln>
          <ns2:effectLst xmlns:ns2="http://schemas.openxmlformats.org/drawingml/2006/main">
            <ns2:glow rad="65000">
              <ns2:srgbClr val="7DD6DD">
                <ns2:alpha val="34000"/>
              </ns2:srgbClr>
            </ns2:glow>
          </ns2:effectLst>
        </p:spPr>
      </p:sp>
      <p:sp>
        <p:nvSpPr>
          <p:cNvPr id="47" name="text">
            <a:extLst xmlns:a="http://schemas.openxmlformats.org/drawingml/2006/main">
              <a:ext uri="{FF2B5EF4-FFF2-40B4-BE49-F238E27FC236}">
                <a16:creationId xmlns:a16="http://schemas.microsoft.com/office/drawing/2014/main" id="{77F7242E-FCC5-4F65-8DF6-F9F2262AD4CD}"/>
              </a:ext>
            </a:extLst>
          </p:cNvPr>
          <p:cNvSpPr>
            <a:spLocks xmlns:a="http://schemas.openxmlformats.org/drawingml/2006/main" noGrp="1"/>
          </p:cNvSpPr>
          <p:nvPr/>
        </p:nvSpPr>
        <p:spPr>
          <a:xfrm xmlns:a="http://schemas.openxmlformats.org/drawingml/2006/main">
            <a:off x="6819900" y="2828925"/>
            <a:ext cx="1524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Agent A</a:t>
            </a:r>
          </a:p>
        </p:txBody>
      </p:sp>
      <p:sp>
        <p:nvSpPr>
          <p:cNvPr id="48" name="box">
            <a:extLst xmlns:a="http://schemas.openxmlformats.org/drawingml/2006/main">
              <a:ext uri="{FF2B5EF4-FFF2-40B4-BE49-F238E27FC236}">
                <a16:creationId xmlns:a16="http://schemas.microsoft.com/office/drawing/2014/main" id="{963BB296-B4B1-4289-A2E6-6F995E09B898}"/>
              </a:ext>
            </a:extLst>
          </p:cNvPr>
          <p:cNvSpPr>
            <a:spLocks xmlns:a="http://schemas.openxmlformats.org/drawingml/2006/main" noGrp="1"/>
          </p:cNvSpPr>
          <p:nvPr/>
        </p:nvSpPr>
        <p:spPr>
          <a:xfrm xmlns:a="http://schemas.openxmlformats.org/drawingml/2006/main">
            <a:off x="6819900" y="3248025"/>
            <a:ext cx="1524000" cy="2333625"/>
          </a:xfrm>
          <a:prstGeom xmlns:a="http://schemas.openxmlformats.org/drawingml/2006/main" prst="roundRect">
            <a:avLst>
              <a:gd name="adj" fmla="val 4375"/>
            </a:avLst>
          </a:prstGeom>
          <a:solidFill xmlns:a="http://schemas.openxmlformats.org/drawingml/2006/main">
            <a:srgbClr val="0D2430"/>
          </a:solidFill>
          <a:ln xmlns:a="http://schemas.openxmlformats.org/drawingml/2006/main" w="15240">
            <a:solidFill>
              <a:srgbClr val="7DD6DD"/>
            </a:solidFill>
          </a:ln>
        </p:spPr>
      </p:sp>
      <p:sp>
        <p:nvSpPr>
          <p:cNvPr id="49" name="box">
            <a:extLst xmlns:a="http://schemas.openxmlformats.org/drawingml/2006/main">
              <a:ext uri="{FF2B5EF4-FFF2-40B4-BE49-F238E27FC236}">
                <a16:creationId xmlns:a16="http://schemas.microsoft.com/office/drawing/2014/main" id="{E66E6B97-B79D-42A0-8D35-9F7C908F69C0}"/>
              </a:ext>
            </a:extLst>
          </p:cNvPr>
          <p:cNvSpPr>
            <a:spLocks xmlns:a="http://schemas.openxmlformats.org/drawingml/2006/main" noGrp="1"/>
          </p:cNvSpPr>
          <p:nvPr/>
        </p:nvSpPr>
        <p:spPr>
          <a:xfrm xmlns:a="http://schemas.openxmlformats.org/drawingml/2006/main">
            <a:off x="6896100" y="3324225"/>
            <a:ext cx="1371600" cy="1019175"/>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0">
            <a:noFill/>
          </a:ln>
        </p:spPr>
      </p:sp>
      <p:sp>
        <p:nvSpPr>
          <p:cNvPr id="50" name="text">
            <a:extLst xmlns:a="http://schemas.openxmlformats.org/drawingml/2006/main">
              <a:ext uri="{FF2B5EF4-FFF2-40B4-BE49-F238E27FC236}">
                <a16:creationId xmlns:a16="http://schemas.microsoft.com/office/drawing/2014/main" id="{54DE5D65-BEB1-4E6C-B9A1-098E3F8BF14C}"/>
              </a:ext>
            </a:extLst>
          </p:cNvPr>
          <p:cNvSpPr>
            <a:spLocks xmlns:a="http://schemas.openxmlformats.org/drawingml/2006/main" noGrp="1"/>
          </p:cNvSpPr>
          <p:nvPr/>
        </p:nvSpPr>
        <p:spPr>
          <a:xfrm xmlns:a="http://schemas.openxmlformats.org/drawingml/2006/main">
            <a:off x="6991350" y="3467100"/>
            <a:ext cx="1181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Business</a:t>
            </a:r>
          </a:p>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logic</a:t>
            </a:r>
          </a:p>
        </p:txBody>
      </p:sp>
      <p:sp>
        <p:nvSpPr>
          <p:cNvPr id="51" name="text">
            <a:extLst xmlns:a="http://schemas.openxmlformats.org/drawingml/2006/main">
              <a:ext uri="{FF2B5EF4-FFF2-40B4-BE49-F238E27FC236}">
                <a16:creationId xmlns:a16="http://schemas.microsoft.com/office/drawing/2014/main" id="{4F869FB5-228D-4314-A839-772307EB29F4}"/>
              </a:ext>
            </a:extLst>
          </p:cNvPr>
          <p:cNvSpPr>
            <a:spLocks xmlns:a="http://schemas.openxmlformats.org/drawingml/2006/main" noGrp="1"/>
          </p:cNvSpPr>
          <p:nvPr/>
        </p:nvSpPr>
        <p:spPr>
          <a:xfrm xmlns:a="http://schemas.openxmlformats.org/drawingml/2006/main">
            <a:off x="8458200" y="2828925"/>
            <a:ext cx="1524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Agent B</a:t>
            </a:r>
          </a:p>
        </p:txBody>
      </p:sp>
      <p:sp>
        <p:nvSpPr>
          <p:cNvPr id="52" name="box">
            <a:extLst xmlns:a="http://schemas.openxmlformats.org/drawingml/2006/main">
              <a:ext uri="{FF2B5EF4-FFF2-40B4-BE49-F238E27FC236}">
                <a16:creationId xmlns:a16="http://schemas.microsoft.com/office/drawing/2014/main" id="{92CB23DD-EC12-49BF-8F1D-485CE0FF17A6}"/>
              </a:ext>
            </a:extLst>
          </p:cNvPr>
          <p:cNvSpPr>
            <a:spLocks xmlns:a="http://schemas.openxmlformats.org/drawingml/2006/main" noGrp="1"/>
          </p:cNvSpPr>
          <p:nvPr/>
        </p:nvSpPr>
        <p:spPr>
          <a:xfrm xmlns:a="http://schemas.openxmlformats.org/drawingml/2006/main">
            <a:off x="8458200" y="3248025"/>
            <a:ext cx="1524000" cy="2333625"/>
          </a:xfrm>
          <a:prstGeom xmlns:a="http://schemas.openxmlformats.org/drawingml/2006/main" prst="roundRect">
            <a:avLst>
              <a:gd name="adj" fmla="val 4375"/>
            </a:avLst>
          </a:prstGeom>
          <a:solidFill xmlns:a="http://schemas.openxmlformats.org/drawingml/2006/main">
            <a:srgbClr val="0D2430"/>
          </a:solidFill>
          <a:ln xmlns:a="http://schemas.openxmlformats.org/drawingml/2006/main" w="15240">
            <a:solidFill>
              <a:srgbClr val="7DD6DD"/>
            </a:solidFill>
          </a:ln>
        </p:spPr>
      </p:sp>
      <p:sp>
        <p:nvSpPr>
          <p:cNvPr id="53" name="box">
            <a:extLst xmlns:a="http://schemas.openxmlformats.org/drawingml/2006/main">
              <a:ext uri="{FF2B5EF4-FFF2-40B4-BE49-F238E27FC236}">
                <a16:creationId xmlns:a16="http://schemas.microsoft.com/office/drawing/2014/main" id="{398FD9B9-1B49-42A6-BFF3-3D0C8480F5AE}"/>
              </a:ext>
            </a:extLst>
          </p:cNvPr>
          <p:cNvSpPr>
            <a:spLocks xmlns:a="http://schemas.openxmlformats.org/drawingml/2006/main" noGrp="1"/>
          </p:cNvSpPr>
          <p:nvPr/>
        </p:nvSpPr>
        <p:spPr>
          <a:xfrm xmlns:a="http://schemas.openxmlformats.org/drawingml/2006/main">
            <a:off x="8534400" y="3324225"/>
            <a:ext cx="1371600" cy="1019175"/>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0">
            <a:noFill/>
          </a:ln>
        </p:spPr>
      </p:sp>
      <p:sp>
        <p:nvSpPr>
          <p:cNvPr id="54" name="text">
            <a:extLst xmlns:a="http://schemas.openxmlformats.org/drawingml/2006/main">
              <a:ext uri="{FF2B5EF4-FFF2-40B4-BE49-F238E27FC236}">
                <a16:creationId xmlns:a16="http://schemas.microsoft.com/office/drawing/2014/main" id="{7731AD34-83CD-4B32-B4F5-C6962F90D534}"/>
              </a:ext>
            </a:extLst>
          </p:cNvPr>
          <p:cNvSpPr>
            <a:spLocks xmlns:a="http://schemas.openxmlformats.org/drawingml/2006/main" noGrp="1"/>
          </p:cNvSpPr>
          <p:nvPr/>
        </p:nvSpPr>
        <p:spPr>
          <a:xfrm xmlns:a="http://schemas.openxmlformats.org/drawingml/2006/main">
            <a:off x="8629650" y="3467100"/>
            <a:ext cx="1181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Business</a:t>
            </a:r>
          </a:p>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logic</a:t>
            </a:r>
          </a:p>
        </p:txBody>
      </p:sp>
      <p:sp>
        <p:nvSpPr>
          <p:cNvPr id="55" name="text">
            <a:extLst xmlns:a="http://schemas.openxmlformats.org/drawingml/2006/main">
              <a:ext uri="{FF2B5EF4-FFF2-40B4-BE49-F238E27FC236}">
                <a16:creationId xmlns:a16="http://schemas.microsoft.com/office/drawing/2014/main" id="{1D3E84EC-F76F-4A49-96DA-CC65844AA8F2}"/>
              </a:ext>
            </a:extLst>
          </p:cNvPr>
          <p:cNvSpPr>
            <a:spLocks xmlns:a="http://schemas.openxmlformats.org/drawingml/2006/main" noGrp="1"/>
          </p:cNvSpPr>
          <p:nvPr/>
        </p:nvSpPr>
        <p:spPr>
          <a:xfrm xmlns:a="http://schemas.openxmlformats.org/drawingml/2006/main">
            <a:off x="10096500" y="2828925"/>
            <a:ext cx="1524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Agent C</a:t>
            </a:r>
          </a:p>
        </p:txBody>
      </p:sp>
      <p:sp>
        <p:nvSpPr>
          <p:cNvPr id="56" name="box">
            <a:extLst xmlns:a="http://schemas.openxmlformats.org/drawingml/2006/main">
              <a:ext uri="{FF2B5EF4-FFF2-40B4-BE49-F238E27FC236}">
                <a16:creationId xmlns:a16="http://schemas.microsoft.com/office/drawing/2014/main" id="{0E6436A8-AED4-48D0-A8EA-8D84B767072B}"/>
              </a:ext>
            </a:extLst>
          </p:cNvPr>
          <p:cNvSpPr>
            <a:spLocks xmlns:a="http://schemas.openxmlformats.org/drawingml/2006/main" noGrp="1"/>
          </p:cNvSpPr>
          <p:nvPr/>
        </p:nvSpPr>
        <p:spPr>
          <a:xfrm xmlns:a="http://schemas.openxmlformats.org/drawingml/2006/main">
            <a:off x="10096500" y="3248025"/>
            <a:ext cx="1524000" cy="2333625"/>
          </a:xfrm>
          <a:prstGeom xmlns:a="http://schemas.openxmlformats.org/drawingml/2006/main" prst="roundRect">
            <a:avLst>
              <a:gd name="adj" fmla="val 4375"/>
            </a:avLst>
          </a:prstGeom>
          <a:solidFill xmlns:a="http://schemas.openxmlformats.org/drawingml/2006/main">
            <a:srgbClr val="0D2430"/>
          </a:solidFill>
          <a:ln xmlns:a="http://schemas.openxmlformats.org/drawingml/2006/main" w="15240">
            <a:solidFill>
              <a:srgbClr val="7DD6DD"/>
            </a:solidFill>
          </a:ln>
        </p:spPr>
      </p:sp>
      <p:sp>
        <p:nvSpPr>
          <p:cNvPr id="57" name="box">
            <a:extLst xmlns:a="http://schemas.openxmlformats.org/drawingml/2006/main">
              <a:ext uri="{FF2B5EF4-FFF2-40B4-BE49-F238E27FC236}">
                <a16:creationId xmlns:a16="http://schemas.microsoft.com/office/drawing/2014/main" id="{C2DAB326-F6C3-4178-8773-80C08CA5AA62}"/>
              </a:ext>
            </a:extLst>
          </p:cNvPr>
          <p:cNvSpPr>
            <a:spLocks xmlns:a="http://schemas.openxmlformats.org/drawingml/2006/main" noGrp="1"/>
          </p:cNvSpPr>
          <p:nvPr/>
        </p:nvSpPr>
        <p:spPr>
          <a:xfrm xmlns:a="http://schemas.openxmlformats.org/drawingml/2006/main">
            <a:off x="10172700" y="3324225"/>
            <a:ext cx="1371600" cy="1019175"/>
          </a:xfrm>
          <a:prstGeom xmlns:a="http://schemas.openxmlformats.org/drawingml/2006/main" prst="roundRect">
            <a:avLst>
              <a:gd name="adj" fmla="val 3738"/>
            </a:avLst>
          </a:prstGeom>
          <a:solidFill xmlns:a="http://schemas.openxmlformats.org/drawingml/2006/main">
            <a:srgbClr val="FFFFFF"/>
          </a:solidFill>
          <a:ln xmlns:a="http://schemas.openxmlformats.org/drawingml/2006/main" w="0">
            <a:noFill/>
          </a:ln>
        </p:spPr>
      </p:sp>
      <p:sp>
        <p:nvSpPr>
          <p:cNvPr id="58" name="text">
            <a:extLst xmlns:a="http://schemas.openxmlformats.org/drawingml/2006/main">
              <a:ext uri="{FF2B5EF4-FFF2-40B4-BE49-F238E27FC236}">
                <a16:creationId xmlns:a16="http://schemas.microsoft.com/office/drawing/2014/main" id="{C7D26262-CF37-4E83-96D2-46CFE367E01B}"/>
              </a:ext>
            </a:extLst>
          </p:cNvPr>
          <p:cNvSpPr>
            <a:spLocks xmlns:a="http://schemas.openxmlformats.org/drawingml/2006/main" noGrp="1"/>
          </p:cNvSpPr>
          <p:nvPr/>
        </p:nvSpPr>
        <p:spPr>
          <a:xfrm xmlns:a="http://schemas.openxmlformats.org/drawingml/2006/main">
            <a:off x="10267950" y="3467100"/>
            <a:ext cx="1181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Business</a:t>
            </a:r>
          </a:p>
          <a:p xmlns:a="http://schemas.openxmlformats.org/drawingml/2006/main">
            <a:pPr algn="ctr">
              <a:defRPr sz="1875" b="1">
                <a:solidFill>
                  <a:srgbClr val="0D2430"/>
                </a:solidFill>
                <a:latin typeface="Nimbus Sans"/>
                <a:ea typeface="Nimbus Sans"/>
                <a:cs typeface="Nimbus Sans"/>
              </a:defRPr>
            </a:pPr>
            <a:r>
              <a:rPr sz="1875" b="1">
                <a:solidFill>
                  <a:srgbClr val="0D2430"/>
                </a:solidFill>
                <a:latin typeface="Nimbus Sans"/>
                <a:ea typeface="Nimbus Sans"/>
                <a:cs typeface="Nimbus Sans"/>
              </a:rPr>
              <a:t>logic</a:t>
            </a:r>
          </a:p>
        </p:txBody>
      </p:sp>
      <p:sp>
        <p:nvSpPr>
          <p:cNvPr id="59" name="box">
            <a:extLst xmlns:a="http://schemas.openxmlformats.org/drawingml/2006/main">
              <a:ext uri="{FF2B5EF4-FFF2-40B4-BE49-F238E27FC236}">
                <a16:creationId xmlns:a16="http://schemas.microsoft.com/office/drawing/2014/main" id="{C238986A-139C-40E1-827B-D92B708A6AF2}"/>
              </a:ext>
            </a:extLst>
          </p:cNvPr>
          <p:cNvSpPr>
            <a:spLocks xmlns:a="http://schemas.openxmlformats.org/drawingml/2006/main" noGrp="1"/>
          </p:cNvSpPr>
          <p:nvPr/>
        </p:nvSpPr>
        <p:spPr>
          <a:xfrm xmlns:a="http://schemas.openxmlformats.org/drawingml/2006/main">
            <a:off x="6896100" y="4429125"/>
            <a:ext cx="4648200" cy="1066800"/>
          </a:xfrm>
          <a:prstGeom xmlns:a="http://schemas.openxmlformats.org/drawingml/2006/main" prst="roundRect">
            <a:avLst>
              <a:gd name="adj" fmla="val 6250"/>
            </a:avLst>
          </a:prstGeom>
          <a:solidFill xmlns:a="http://schemas.openxmlformats.org/drawingml/2006/main">
            <a:srgbClr val="0D6576"/>
          </a:solidFill>
          <a:ln xmlns:a="http://schemas.openxmlformats.org/drawingml/2006/main" w="15240">
            <a:solidFill>
              <a:srgbClr val="0D6576"/>
            </a:solidFill>
          </a:ln>
        </p:spPr>
      </p:sp>
      <p:sp>
        <p:nvSpPr>
          <p:cNvPr id="60" name="text">
            <a:extLst xmlns:a="http://schemas.openxmlformats.org/drawingml/2006/main">
              <a:ext uri="{FF2B5EF4-FFF2-40B4-BE49-F238E27FC236}">
                <a16:creationId xmlns:a16="http://schemas.microsoft.com/office/drawing/2014/main" id="{FC67D814-A4AB-4FD9-9EEA-88DBF752FA64}"/>
              </a:ext>
            </a:extLst>
          </p:cNvPr>
          <p:cNvSpPr>
            <a:spLocks xmlns:a="http://schemas.openxmlformats.org/drawingml/2006/main" noGrp="1"/>
          </p:cNvSpPr>
          <p:nvPr/>
        </p:nvSpPr>
        <p:spPr>
          <a:xfrm xmlns:a="http://schemas.openxmlformats.org/drawingml/2006/main">
            <a:off x="7029450" y="4591050"/>
            <a:ext cx="4381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Guardian Control Plane:</a:t>
            </a:r>
          </a:p>
          <a:p xmlns:a="http://schemas.openxmlformats.org/drawingml/2006/main">
            <a:pPr algn="ctr">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Reusable enterprise foundation</a:t>
            </a:r>
          </a:p>
        </p:txBody>
      </p:sp>
      <p:sp>
        <p:nvSpPr>
          <p:cNvPr id="61" name="box">
            <a:extLst xmlns:a="http://schemas.openxmlformats.org/drawingml/2006/main">
              <a:ext uri="{FF2B5EF4-FFF2-40B4-BE49-F238E27FC236}">
                <a16:creationId xmlns:a16="http://schemas.microsoft.com/office/drawing/2014/main" id="{5D8F9C1E-3E58-42C9-AEBE-E19210D8EDC5}"/>
              </a:ext>
            </a:extLst>
          </p:cNvPr>
          <p:cNvSpPr>
            <a:spLocks xmlns:a="http://schemas.openxmlformats.org/drawingml/2006/main" noGrp="1"/>
          </p:cNvSpPr>
          <p:nvPr/>
        </p:nvSpPr>
        <p:spPr>
          <a:xfrm xmlns:a="http://schemas.openxmlformats.org/drawingml/2006/main">
            <a:off x="1857375" y="5972175"/>
            <a:ext cx="8477250" cy="381000"/>
          </a:xfrm>
          <a:prstGeom xmlns:a="http://schemas.openxmlformats.org/drawingml/2006/main" prst="roundRect">
            <a:avLst>
              <a:gd name="adj" fmla="val 15000"/>
            </a:avLst>
          </a:prstGeom>
          <a:solidFill xmlns:a="http://schemas.openxmlformats.org/drawingml/2006/main">
            <a:srgbClr val="E6F3F5"/>
          </a:solidFill>
          <a:ln xmlns:a="http://schemas.openxmlformats.org/drawingml/2006/main" w="0">
            <a:noFill/>
          </a:ln>
        </p:spPr>
      </p:sp>
      <p:sp>
        <p:nvSpPr>
          <p:cNvPr id="62" name="text">
            <a:extLst xmlns:a="http://schemas.openxmlformats.org/drawingml/2006/main">
              <a:ext uri="{FF2B5EF4-FFF2-40B4-BE49-F238E27FC236}">
                <a16:creationId xmlns:a16="http://schemas.microsoft.com/office/drawing/2014/main" id="{53AB865E-F3BB-443F-8D55-66556D67593B}"/>
              </a:ext>
            </a:extLst>
          </p:cNvPr>
          <p:cNvSpPr>
            <a:spLocks xmlns:a="http://schemas.openxmlformats.org/drawingml/2006/main" noGrp="1"/>
          </p:cNvSpPr>
          <p:nvPr/>
        </p:nvSpPr>
        <p:spPr>
          <a:xfrm xmlns:a="http://schemas.openxmlformats.org/drawingml/2006/main">
            <a:off x="2000250" y="6019800"/>
            <a:ext cx="8191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0D2430"/>
                </a:solidFill>
                <a:latin typeface="Nimbus Sans"/>
                <a:ea typeface="Nimbus Sans"/>
                <a:cs typeface="Nimbus Sans"/>
              </a:defRPr>
            </a:pPr>
            <a:r>
              <a:rPr sz="1575" b="0">
                <a:solidFill>
                  <a:srgbClr val="0D2430"/>
                </a:solidFill>
                <a:latin typeface="Nimbus Sans"/>
                <a:ea typeface="Nimbus Sans"/>
                <a:cs typeface="Nimbus Sans"/>
              </a:rPr>
              <a:t>Target model: platform teams maintain common capabilities for every agent.</a:t>
            </a:r>
          </a:p>
        </p:txBody>
      </p:sp>
    </p:spTree>
    <p:extLst>
      <p:ext uri="{BB962C8B-B14F-4D97-AF65-F5344CB8AC3E}">
        <p14:creationId xmlns:p14="http://schemas.microsoft.com/office/powerpoint/2010/main" val="16775295"/>
      </p:ext>
    </p:extLst>
  </p:cSld>
</p:sld>
</file>

<file path=ppt/slides/slide4.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24" name="box">
            <a:extLst xmlns:a="http://schemas.openxmlformats.org/drawingml/2006/main">
              <a:ext uri="{FF2B5EF4-FFF2-40B4-BE49-F238E27FC236}">
                <a16:creationId xmlns:a16="http://schemas.microsoft.com/office/drawing/2014/main" id="{CAC84669-DFD5-4D7A-9A22-3DECDC417CC2}"/>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6E2E7"/>
          </a:solidFill>
          <a:ln xmlns:a="http://schemas.openxmlformats.org/drawingml/2006/main" w="0">
            <a:noFill/>
          </a:ln>
        </p:spPr>
      </p:sp>
      <p:sp>
        <p:nvSpPr>
          <p:cNvPr id="2" name="text">
            <a:extLst xmlns:a="http://schemas.openxmlformats.org/drawingml/2006/main">
              <a:ext uri="{FF2B5EF4-FFF2-40B4-BE49-F238E27FC236}">
                <a16:creationId xmlns:a16="http://schemas.microsoft.com/office/drawing/2014/main" id="{48773314-D946-4EC3-B105-B02C6F9F5A39}"/>
              </a:ext>
            </a:extLst>
          </p:cNvPr>
          <p:cNvSpPr>
            <a:spLocks xmlns:a="http://schemas.openxmlformats.org/drawingml/2006/main" noGrp="1"/>
          </p:cNvSpPr>
          <p:nvPr/>
        </p:nvSpPr>
        <p:spPr>
          <a:xfrm xmlns:a="http://schemas.openxmlformats.org/drawingml/2006/main">
            <a:off x="609600" y="656272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975" b="1">
                <a:solidFill>
                  <a:srgbClr val="526A78"/>
                </a:solidFill>
                <a:latin typeface="Nimbus Sans"/>
                <a:ea typeface="Nimbus Sans"/>
                <a:cs typeface="Nimbus Sans"/>
              </a:defRPr>
            </a:pPr>
            <a:r>
              <a:rPr sz="975" b="1">
                <a:solidFill>
                  <a:srgbClr val="526A78"/>
                </a:solidFill>
                <a:latin typeface="Nimbus Sans"/>
                <a:ea typeface="Nimbus Sans"/>
                <a:cs typeface="Nimbus Sans"/>
              </a:rPr>
              <a:t>GUARDIAN AI  /  CONVERGENCE 2026</a:t>
            </a:r>
          </a:p>
        </p:txBody>
      </p:sp>
      <p:sp>
        <p:nvSpPr>
          <p:cNvPr id="3" name="text">
            <a:extLst xmlns:a="http://schemas.openxmlformats.org/drawingml/2006/main">
              <a:ext uri="{FF2B5EF4-FFF2-40B4-BE49-F238E27FC236}">
                <a16:creationId xmlns:a16="http://schemas.microsoft.com/office/drawing/2014/main" id="{D6FEEF00-B740-4E92-87FC-B5D7A853D387}"/>
              </a:ext>
            </a:extLst>
          </p:cNvPr>
          <p:cNvSpPr>
            <a:spLocks xmlns:a="http://schemas.openxmlformats.org/drawingml/2006/main" noGrp="1"/>
          </p:cNvSpPr>
          <p:nvPr/>
        </p:nvSpPr>
        <p:spPr>
          <a:xfrm xmlns:a="http://schemas.openxmlformats.org/drawingml/2006/main">
            <a:off x="11096625" y="65627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526A78"/>
                </a:solidFill>
                <a:latin typeface="Nimbus Sans"/>
                <a:ea typeface="Nimbus Sans"/>
                <a:cs typeface="Nimbus Sans"/>
              </a:defRPr>
            </a:pPr>
            <a:r>
              <a:rPr sz="1050" b="0">
                <a:solidFill>
                  <a:srgbClr val="526A78"/>
                </a:solidFill>
                <a:latin typeface="Nimbus Sans"/>
                <a:ea typeface="Nimbus Sans"/>
                <a:cs typeface="Nimbus Sans"/>
              </a:rPr>
              <a:t>04</a:t>
            </a:r>
          </a:p>
        </p:txBody>
      </p:sp>
      <p:sp>
        <p:nvSpPr>
          <p:cNvPr id="4" name="text">
            <a:extLst xmlns:a="http://schemas.openxmlformats.org/drawingml/2006/main">
              <a:ext uri="{FF2B5EF4-FFF2-40B4-BE49-F238E27FC236}">
                <a16:creationId xmlns:a16="http://schemas.microsoft.com/office/drawing/2014/main" id="{90F0F783-731D-480B-B9DA-35EB46A99ED1}"/>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52E3D"/>
                </a:solidFill>
                <a:latin typeface="Nimbus Sans"/>
                <a:ea typeface="Nimbus Sans"/>
                <a:cs typeface="Nimbus Sans"/>
              </a:defRPr>
            </a:pPr>
            <a:r>
              <a:rPr sz="3150" b="1">
                <a:solidFill>
                  <a:srgbClr val="152E3D"/>
                </a:solidFill>
                <a:latin typeface="Nimbus Sans"/>
                <a:ea typeface="Nimbus Sans"/>
                <a:cs typeface="Nimbus Sans"/>
              </a:rPr>
              <a:t>Enterprise capabilities surround the business logic</a:t>
            </a:r>
          </a:p>
        </p:txBody>
      </p:sp>
      <p:sp>
        <p:nvSpPr>
          <p:cNvPr id="5" name="text">
            <a:extLst xmlns:a="http://schemas.openxmlformats.org/drawingml/2006/main">
              <a:ext uri="{FF2B5EF4-FFF2-40B4-BE49-F238E27FC236}">
                <a16:creationId xmlns:a16="http://schemas.microsoft.com/office/drawing/2014/main" id="{D9EC2F8F-BA6E-421D-B4E7-6D601C9CB25F}"/>
              </a:ext>
            </a:extLst>
          </p:cNvPr>
          <p:cNvSpPr>
            <a:spLocks xmlns:a="http://schemas.openxmlformats.org/drawingml/2006/main" noGrp="1"/>
          </p:cNvSpPr>
          <p:nvPr/>
        </p:nvSpPr>
        <p:spPr>
          <a:xfrm xmlns:a="http://schemas.openxmlformats.org/drawingml/2006/main">
            <a:off x="609600" y="14763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A78"/>
                </a:solidFill>
                <a:latin typeface="Nimbus Sans"/>
                <a:ea typeface="Nimbus Sans"/>
                <a:cs typeface="Nimbus Sans"/>
              </a:defRPr>
            </a:pPr>
            <a:r>
              <a:rPr sz="1725" b="0">
                <a:solidFill>
                  <a:srgbClr val="526A78"/>
                </a:solidFill>
                <a:latin typeface="Nimbus Sans"/>
                <a:ea typeface="Nimbus Sans"/>
                <a:cs typeface="Nimbus Sans"/>
              </a:rPr>
              <a:t>The Control Plane organizes the shared foundation around each agent.</a:t>
            </a:r>
          </a:p>
        </p:txBody>
      </p:sp>
      <p:sp>
        <p:nvSpPr>
          <p:cNvPr id="6" name="box">
            <a:extLst xmlns:a="http://schemas.openxmlformats.org/drawingml/2006/main">
              <a:ext uri="{FF2B5EF4-FFF2-40B4-BE49-F238E27FC236}">
                <a16:creationId xmlns:a16="http://schemas.microsoft.com/office/drawing/2014/main" id="{FD3A925C-568D-4F64-98CC-2160E67E3A67}"/>
              </a:ext>
            </a:extLst>
          </p:cNvPr>
          <p:cNvSpPr>
            <a:spLocks xmlns:a="http://schemas.openxmlformats.org/drawingml/2006/main" noGrp="1"/>
          </p:cNvSpPr>
          <p:nvPr/>
        </p:nvSpPr>
        <p:spPr>
          <a:xfrm xmlns:a="http://schemas.openxmlformats.org/drawingml/2006/main">
            <a:off x="1257300" y="2047875"/>
            <a:ext cx="9677400" cy="3943350"/>
          </a:xfrm>
          <a:prstGeom xmlns:a="http://schemas.openxmlformats.org/drawingml/2006/main" prst="rect">
            <a:avLst/>
          </a:prstGeom>
          <a:solidFill xmlns:a="http://schemas.openxmlformats.org/drawingml/2006/main">
            <a:srgbClr val="0D2430"/>
          </a:solidFill>
          <a:ln xmlns:a="http://schemas.openxmlformats.org/drawingml/2006/main" w="0">
            <a:noFill/>
          </a:ln>
        </p:spPr>
      </p:sp>
      <p:sp>
        <p:nvSpPr>
          <p:cNvPr id="7" name="glow frame">
            <a:extLst xmlns:a="http://schemas.openxmlformats.org/drawingml/2006/main">
              <a:ext uri="{FF2B5EF4-FFF2-40B4-BE49-F238E27FC236}">
                <a16:creationId xmlns:a16="http://schemas.microsoft.com/office/drawing/2014/main" id="{A2C25C7E-A0A9-4783-BEC6-BCC51A3D5B64}"/>
              </a:ext>
            </a:extLst>
          </p:cNvPr>
          <p:cNvSpPr>
            <a:spLocks xmlns:a="http://schemas.openxmlformats.org/drawingml/2006/main" noGrp="1"/>
          </p:cNvSpPr>
          <p:nvPr/>
        </p:nvSpPr>
        <p:spPr>
          <a:xfrm xmlns:a="http://schemas.openxmlformats.org/drawingml/2006/main">
            <a:off x="1333500" y="2143125"/>
            <a:ext cx="9525000" cy="3248025"/>
          </a:xfrm>
          <a:prstGeom xmlns:a="http://schemas.openxmlformats.org/drawingml/2006/main" prst="roundRect">
            <a:avLst>
              <a:gd name="adj" fmla="val 2346"/>
            </a:avLst>
          </a:prstGeom>
          <a:solidFill xmlns:a="http://schemas.openxmlformats.org/drawingml/2006/main">
            <a:srgbClr val="163F4B"/>
          </a:solidFill>
          <a:ln xmlns:a="http://schemas.openxmlformats.org/drawingml/2006/main" w="15240">
            <a:solidFill>
              <a:srgbClr val="0D6576"/>
            </a:solidFill>
          </a:ln>
          <ns0:effectLst xmlns:ns0="http://schemas.openxmlformats.org/drawingml/2006/main">
            <ns0:glow rad="65000">
              <ns0:srgbClr val="7DD6DD">
                <ns0:alpha val="34000"/>
              </ns0:srgbClr>
            </ns0:glow>
          </ns0:effectLst>
        </p:spPr>
      </p:sp>
      <p:sp>
        <p:nvSpPr>
          <p:cNvPr id="8" name="text">
            <a:extLst xmlns:a="http://schemas.openxmlformats.org/drawingml/2006/main">
              <a:ext uri="{FF2B5EF4-FFF2-40B4-BE49-F238E27FC236}">
                <a16:creationId xmlns:a16="http://schemas.microsoft.com/office/drawing/2014/main" id="{738EB190-576E-413E-942B-03209EE789D8}"/>
              </a:ext>
            </a:extLst>
          </p:cNvPr>
          <p:cNvSpPr>
            <a:spLocks xmlns:a="http://schemas.openxmlformats.org/drawingml/2006/main" noGrp="1"/>
          </p:cNvSpPr>
          <p:nvPr/>
        </p:nvSpPr>
        <p:spPr>
          <a:xfrm xmlns:a="http://schemas.openxmlformats.org/drawingml/2006/main">
            <a:off x="1524000" y="2238375"/>
            <a:ext cx="914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1">
                <a:solidFill>
                  <a:srgbClr val="7DD6DD"/>
                </a:solidFill>
                <a:latin typeface="Nimbus Sans"/>
                <a:ea typeface="Nimbus Sans"/>
                <a:cs typeface="Nimbus Sans"/>
              </a:defRPr>
            </a:pPr>
            <a:r>
              <a:rPr sz="1800" b="1">
                <a:solidFill>
                  <a:srgbClr val="7DD6DD"/>
                </a:solidFill>
                <a:latin typeface="Nimbus Sans"/>
                <a:ea typeface="Nimbus Sans"/>
                <a:cs typeface="Nimbus Sans"/>
              </a:rPr>
              <a:t>GUARDIAN CONTROL PLANE</a:t>
            </a:r>
          </a:p>
        </p:txBody>
      </p:sp>
      <p:sp>
        <p:nvSpPr>
          <p:cNvPr id="9" name="glow aqua">
            <a:extLst xmlns:a="http://schemas.openxmlformats.org/drawingml/2006/main">
              <a:ext uri="{FF2B5EF4-FFF2-40B4-BE49-F238E27FC236}">
                <a16:creationId xmlns:a16="http://schemas.microsoft.com/office/drawing/2014/main" id="{5A5BD3C7-01DC-4BC6-82AE-05B68E5AA8E8}"/>
              </a:ext>
            </a:extLst>
          </p:cNvPr>
          <p:cNvSpPr>
            <a:spLocks xmlns:a="http://schemas.openxmlformats.org/drawingml/2006/main" noGrp="1"/>
          </p:cNvSpPr>
          <p:nvPr/>
        </p:nvSpPr>
        <p:spPr>
          <a:xfrm xmlns:a="http://schemas.openxmlformats.org/drawingml/2006/main">
            <a:off x="1466850" y="2657475"/>
            <a:ext cx="3495675" cy="1400175"/>
          </a:xfrm>
          <a:prstGeom xmlns:a="http://schemas.openxmlformats.org/drawingml/2006/main" prst="roundRect">
            <a:avLst>
              <a:gd name="adj" fmla="val 4762"/>
            </a:avLst>
          </a:prstGeom>
          <a:solidFill xmlns:a="http://schemas.openxmlformats.org/drawingml/2006/main">
            <a:srgbClr val="0D2430"/>
          </a:solidFill>
          <a:ln xmlns:a="http://schemas.openxmlformats.org/drawingml/2006/main" w="15240">
            <a:solidFill>
              <a:srgbClr val="0D6576"/>
            </a:solidFill>
          </a:ln>
          <ns1:effectLst xmlns:ns1="http://schemas.openxmlformats.org/drawingml/2006/main">
            <ns1:glow rad="65000">
              <ns1:srgbClr val="7DD6DD">
                <ns1:alpha val="34000"/>
              </ns1:srgbClr>
            </ns1:glow>
          </ns1:effectLst>
        </p:spPr>
      </p:sp>
      <p:sp>
        <p:nvSpPr>
          <p:cNvPr id="10" name="text">
            <a:extLst xmlns:a="http://schemas.openxmlformats.org/drawingml/2006/main">
              <a:ext uri="{FF2B5EF4-FFF2-40B4-BE49-F238E27FC236}">
                <a16:creationId xmlns:a16="http://schemas.microsoft.com/office/drawing/2014/main" id="{C1CB16A6-8225-4EBB-9914-419279EFE172}"/>
              </a:ext>
            </a:extLst>
          </p:cNvPr>
          <p:cNvSpPr>
            <a:spLocks xmlns:a="http://schemas.openxmlformats.org/drawingml/2006/main" noGrp="1"/>
          </p:cNvSpPr>
          <p:nvPr/>
        </p:nvSpPr>
        <p:spPr>
          <a:xfrm xmlns:a="http://schemas.openxmlformats.org/drawingml/2006/main">
            <a:off x="1647825" y="2876550"/>
            <a:ext cx="3133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0">
                <a:solidFill>
                  <a:srgbClr val="FFFFFF"/>
                </a:solidFill>
                <a:latin typeface="Nimbus Sans"/>
                <a:ea typeface="Nimbus Sans"/>
                <a:cs typeface="Nimbus Sans"/>
              </a:defRPr>
            </a:pPr>
            <a:r>
              <a:rPr sz="1800" b="0">
                <a:solidFill>
                  <a:srgbClr val="FFFFFF"/>
                </a:solidFill>
                <a:latin typeface="Nimbus Sans"/>
                <a:ea typeface="Nimbus Sans"/>
                <a:cs typeface="Nimbus Sans"/>
              </a:rPr>
              <a:t>Security: Enterprise sign-in</a:t>
            </a:r>
          </a:p>
          <a:p xmlns:a="http://schemas.openxmlformats.org/drawingml/2006/main">
            <a:pPr algn="ctr">
              <a:defRPr sz="1800" b="0">
                <a:solidFill>
                  <a:srgbClr val="FFFFFF"/>
                </a:solidFill>
                <a:latin typeface="Nimbus Sans"/>
                <a:ea typeface="Nimbus Sans"/>
                <a:cs typeface="Nimbus Sans"/>
              </a:defRPr>
            </a:pPr>
            <a:r>
              <a:rPr sz="1800" b="0">
                <a:solidFill>
                  <a:srgbClr val="FFFFFF"/>
                </a:solidFill>
                <a:latin typeface="Nimbus Sans"/>
                <a:ea typeface="Nimbus Sans"/>
                <a:cs typeface="Nimbus Sans"/>
              </a:rPr>
              <a:t>and safeguards</a:t>
            </a:r>
          </a:p>
        </p:txBody>
      </p:sp>
      <p:sp>
        <p:nvSpPr>
          <p:cNvPr id="11" name="glow business">
            <a:extLst xmlns:a="http://schemas.openxmlformats.org/drawingml/2006/main">
              <a:ext uri="{FF2B5EF4-FFF2-40B4-BE49-F238E27FC236}">
                <a16:creationId xmlns:a16="http://schemas.microsoft.com/office/drawing/2014/main" id="{F96ED917-54D1-4DFD-8F7D-AE2128D913D7}"/>
              </a:ext>
            </a:extLst>
          </p:cNvPr>
          <p:cNvSpPr>
            <a:spLocks xmlns:a="http://schemas.openxmlformats.org/drawingml/2006/main" noGrp="1"/>
          </p:cNvSpPr>
          <p:nvPr/>
        </p:nvSpPr>
        <p:spPr>
          <a:xfrm xmlns:a="http://schemas.openxmlformats.org/drawingml/2006/main">
            <a:off x="5095875" y="2657475"/>
            <a:ext cx="1809750" cy="1400175"/>
          </a:xfrm>
          <a:prstGeom xmlns:a="http://schemas.openxmlformats.org/drawingml/2006/main" prst="roundRect">
            <a:avLst>
              <a:gd name="adj" fmla="val 4762"/>
            </a:avLst>
          </a:prstGeom>
          <a:solidFill xmlns:a="http://schemas.openxmlformats.org/drawingml/2006/main">
            <a:srgbClr val="F0FCFC"/>
          </a:solidFill>
          <a:ln xmlns:a="http://schemas.openxmlformats.org/drawingml/2006/main" w="15240">
            <a:solidFill>
              <a:srgbClr val="7DD6DD"/>
            </a:solidFill>
          </a:ln>
          <ns2:effectLst xmlns:ns2="http://schemas.openxmlformats.org/drawingml/2006/main">
            <ns2:glow rad="65000">
              <ns2:srgbClr val="7DD6DD">
                <ns2:alpha val="34000"/>
              </ns2:srgbClr>
            </ns2:glow>
          </ns2:effectLst>
        </p:spPr>
      </p:sp>
      <p:sp>
        <p:nvSpPr>
          <p:cNvPr id="12" name="text">
            <a:extLst xmlns:a="http://schemas.openxmlformats.org/drawingml/2006/main">
              <a:ext uri="{FF2B5EF4-FFF2-40B4-BE49-F238E27FC236}">
                <a16:creationId xmlns:a16="http://schemas.microsoft.com/office/drawing/2014/main" id="{846F06D7-6293-4326-A26A-DD4ECE04E743}"/>
              </a:ext>
            </a:extLst>
          </p:cNvPr>
          <p:cNvSpPr>
            <a:spLocks xmlns:a="http://schemas.openxmlformats.org/drawingml/2006/main" noGrp="1"/>
          </p:cNvSpPr>
          <p:nvPr/>
        </p:nvSpPr>
        <p:spPr>
          <a:xfrm xmlns:a="http://schemas.openxmlformats.org/drawingml/2006/main">
            <a:off x="5248275" y="2924175"/>
            <a:ext cx="1504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0D2430"/>
                </a:solidFill>
                <a:latin typeface="Nimbus Sans"/>
                <a:ea typeface="Nimbus Sans"/>
                <a:cs typeface="Nimbus Sans"/>
              </a:defRPr>
            </a:pPr>
            <a:r>
              <a:rPr sz="1650" b="1">
                <a:solidFill>
                  <a:srgbClr val="0D2430"/>
                </a:solidFill>
                <a:latin typeface="Nimbus Sans"/>
                <a:ea typeface="Nimbus Sans"/>
                <a:cs typeface="Nimbus Sans"/>
              </a:rPr>
              <a:t>Your agent’s</a:t>
            </a:r>
          </a:p>
          <a:p xmlns:a="http://schemas.openxmlformats.org/drawingml/2006/main">
            <a:pPr algn="ctr">
              <a:defRPr sz="1650" b="1">
                <a:solidFill>
                  <a:srgbClr val="0D2430"/>
                </a:solidFill>
                <a:latin typeface="Nimbus Sans"/>
                <a:ea typeface="Nimbus Sans"/>
                <a:cs typeface="Nimbus Sans"/>
              </a:defRPr>
            </a:pPr>
            <a:r>
              <a:rPr sz="1650" b="1">
                <a:solidFill>
                  <a:srgbClr val="0D2430"/>
                </a:solidFill>
                <a:latin typeface="Nimbus Sans"/>
                <a:ea typeface="Nimbus Sans"/>
                <a:cs typeface="Nimbus Sans"/>
              </a:rPr>
              <a:t>business logic</a:t>
            </a:r>
          </a:p>
        </p:txBody>
      </p:sp>
      <p:sp>
        <p:nvSpPr>
          <p:cNvPr id="13" name="glow aqua">
            <a:extLst xmlns:a="http://schemas.openxmlformats.org/drawingml/2006/main">
              <a:ext uri="{FF2B5EF4-FFF2-40B4-BE49-F238E27FC236}">
                <a16:creationId xmlns:a16="http://schemas.microsoft.com/office/drawing/2014/main" id="{A6A0F80C-8415-437E-9A45-C327E7A47BE8}"/>
              </a:ext>
            </a:extLst>
          </p:cNvPr>
          <p:cNvSpPr>
            <a:spLocks xmlns:a="http://schemas.openxmlformats.org/drawingml/2006/main" noGrp="1"/>
          </p:cNvSpPr>
          <p:nvPr/>
        </p:nvSpPr>
        <p:spPr>
          <a:xfrm xmlns:a="http://schemas.openxmlformats.org/drawingml/2006/main">
            <a:off x="7038975" y="2657475"/>
            <a:ext cx="3686175" cy="1400175"/>
          </a:xfrm>
          <a:prstGeom xmlns:a="http://schemas.openxmlformats.org/drawingml/2006/main" prst="roundRect">
            <a:avLst>
              <a:gd name="adj" fmla="val 4762"/>
            </a:avLst>
          </a:prstGeom>
          <a:solidFill xmlns:a="http://schemas.openxmlformats.org/drawingml/2006/main">
            <a:srgbClr val="0D2430"/>
          </a:solidFill>
          <a:ln xmlns:a="http://schemas.openxmlformats.org/drawingml/2006/main" w="15240">
            <a:solidFill>
              <a:srgbClr val="0D6576"/>
            </a:solidFill>
          </a:ln>
          <ns3:effectLst xmlns:ns3="http://schemas.openxmlformats.org/drawingml/2006/main">
            <ns3:glow rad="65000">
              <ns3:srgbClr val="7DD6DD">
                <ns3:alpha val="34000"/>
              </ns3:srgbClr>
            </ns3:glow>
          </ns3:effectLst>
        </p:spPr>
      </p:sp>
      <p:sp>
        <p:nvSpPr>
          <p:cNvPr id="14" name="text">
            <a:extLst xmlns:a="http://schemas.openxmlformats.org/drawingml/2006/main">
              <a:ext uri="{FF2B5EF4-FFF2-40B4-BE49-F238E27FC236}">
                <a16:creationId xmlns:a16="http://schemas.microsoft.com/office/drawing/2014/main" id="{56097D07-0DE4-4382-9E6B-74932FF97D14}"/>
              </a:ext>
            </a:extLst>
          </p:cNvPr>
          <p:cNvSpPr>
            <a:spLocks xmlns:a="http://schemas.openxmlformats.org/drawingml/2006/main" noGrp="1"/>
          </p:cNvSpPr>
          <p:nvPr/>
        </p:nvSpPr>
        <p:spPr>
          <a:xfrm xmlns:a="http://schemas.openxmlformats.org/drawingml/2006/main">
            <a:off x="7229475" y="2914650"/>
            <a:ext cx="33051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00" b="0">
                <a:solidFill>
                  <a:srgbClr val="FFFFFF"/>
                </a:solidFill>
                <a:latin typeface="Nimbus Sans"/>
                <a:ea typeface="Nimbus Sans"/>
                <a:cs typeface="Nimbus Sans"/>
              </a:defRPr>
            </a:pPr>
            <a:r>
              <a:rPr sz="1800" b="0">
                <a:solidFill>
                  <a:srgbClr val="FFFFFF"/>
                </a:solidFill>
                <a:latin typeface="Nimbus Sans"/>
                <a:ea typeface="Nimbus Sans"/>
                <a:cs typeface="Nimbus Sans"/>
              </a:rPr>
              <a:t>Permissions: Access to</a:t>
            </a:r>
          </a:p>
          <a:p xmlns:a="http://schemas.openxmlformats.org/drawingml/2006/main">
            <a:pPr algn="ctr">
              <a:defRPr sz="1800" b="0">
                <a:solidFill>
                  <a:srgbClr val="FFFFFF"/>
                </a:solidFill>
                <a:latin typeface="Nimbus Sans"/>
                <a:ea typeface="Nimbus Sans"/>
                <a:cs typeface="Nimbus Sans"/>
              </a:defRPr>
            </a:pPr>
            <a:r>
              <a:rPr sz="1800" b="0">
                <a:solidFill>
                  <a:srgbClr val="FFFFFF"/>
                </a:solidFill>
                <a:latin typeface="Nimbus Sans"/>
                <a:ea typeface="Nimbus Sans"/>
                <a:cs typeface="Nimbus Sans"/>
              </a:rPr>
              <a:t>approved tools</a:t>
            </a:r>
          </a:p>
        </p:txBody>
      </p:sp>
      <p:sp>
        <p:nvSpPr>
          <p:cNvPr id="15" name="glow aqua">
            <a:extLst xmlns:a="http://schemas.openxmlformats.org/drawingml/2006/main">
              <a:ext uri="{FF2B5EF4-FFF2-40B4-BE49-F238E27FC236}">
                <a16:creationId xmlns:a16="http://schemas.microsoft.com/office/drawing/2014/main" id="{9339A940-CC02-4E9B-AC9C-4EDA0F1AD421}"/>
              </a:ext>
            </a:extLst>
          </p:cNvPr>
          <p:cNvSpPr>
            <a:spLocks xmlns:a="http://schemas.openxmlformats.org/drawingml/2006/main" noGrp="1"/>
          </p:cNvSpPr>
          <p:nvPr/>
        </p:nvSpPr>
        <p:spPr>
          <a:xfrm xmlns:a="http://schemas.openxmlformats.org/drawingml/2006/main">
            <a:off x="1466850" y="4181475"/>
            <a:ext cx="4457700" cy="628650"/>
          </a:xfrm>
          <a:prstGeom xmlns:a="http://schemas.openxmlformats.org/drawingml/2006/main" prst="roundRect">
            <a:avLst>
              <a:gd name="adj" fmla="val 10606"/>
            </a:avLst>
          </a:prstGeom>
          <a:solidFill xmlns:a="http://schemas.openxmlformats.org/drawingml/2006/main">
            <a:srgbClr val="0D2430"/>
          </a:solidFill>
          <a:ln xmlns:a="http://schemas.openxmlformats.org/drawingml/2006/main" w="15240">
            <a:solidFill>
              <a:srgbClr val="0D6576"/>
            </a:solidFill>
          </a:ln>
          <ns4:effectLst xmlns:ns4="http://schemas.openxmlformats.org/drawingml/2006/main">
            <ns4:glow rad="65000">
              <ns4:srgbClr val="7DD6DD">
                <ns4:alpha val="34000"/>
              </ns4:srgbClr>
            </ns4:glow>
          </ns4:effectLst>
        </p:spPr>
      </p:sp>
      <p:sp>
        <p:nvSpPr>
          <p:cNvPr id="16" name="text">
            <a:extLst xmlns:a="http://schemas.openxmlformats.org/drawingml/2006/main">
              <a:ext uri="{FF2B5EF4-FFF2-40B4-BE49-F238E27FC236}">
                <a16:creationId xmlns:a16="http://schemas.microsoft.com/office/drawing/2014/main" id="{0A78108F-8361-4A0B-8716-0F722AEDF3EB}"/>
              </a:ext>
            </a:extLst>
          </p:cNvPr>
          <p:cNvSpPr>
            <a:spLocks xmlns:a="http://schemas.openxmlformats.org/drawingml/2006/main" noGrp="1"/>
          </p:cNvSpPr>
          <p:nvPr/>
        </p:nvSpPr>
        <p:spPr>
          <a:xfrm xmlns:a="http://schemas.openxmlformats.org/drawingml/2006/main">
            <a:off x="1628775" y="4286250"/>
            <a:ext cx="4133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FFFFFF"/>
                </a:solidFill>
                <a:latin typeface="Nimbus Sans"/>
                <a:ea typeface="Nimbus Sans"/>
                <a:cs typeface="Nimbus Sans"/>
              </a:defRPr>
            </a:pPr>
            <a:r>
              <a:rPr sz="1500" b="0">
                <a:solidFill>
                  <a:srgbClr val="FFFFFF"/>
                </a:solidFill>
                <a:latin typeface="Nimbus Sans"/>
                <a:ea typeface="Nimbus Sans"/>
                <a:cs typeface="Nimbus Sans"/>
              </a:rPr>
              <a:t>Observability: Run history and diagnostic evidence</a:t>
            </a:r>
          </a:p>
        </p:txBody>
      </p:sp>
      <p:sp>
        <p:nvSpPr>
          <p:cNvPr id="17" name="glow aqua">
            <a:extLst xmlns:a="http://schemas.openxmlformats.org/drawingml/2006/main">
              <a:ext uri="{FF2B5EF4-FFF2-40B4-BE49-F238E27FC236}">
                <a16:creationId xmlns:a16="http://schemas.microsoft.com/office/drawing/2014/main" id="{BC776AA0-CB66-4D1C-B7BB-714B22E5153C}"/>
              </a:ext>
            </a:extLst>
          </p:cNvPr>
          <p:cNvSpPr>
            <a:spLocks xmlns:a="http://schemas.openxmlformats.org/drawingml/2006/main" noGrp="1"/>
          </p:cNvSpPr>
          <p:nvPr/>
        </p:nvSpPr>
        <p:spPr>
          <a:xfrm xmlns:a="http://schemas.openxmlformats.org/drawingml/2006/main">
            <a:off x="6057900" y="4181475"/>
            <a:ext cx="4667250" cy="628650"/>
          </a:xfrm>
          <a:prstGeom xmlns:a="http://schemas.openxmlformats.org/drawingml/2006/main" prst="roundRect">
            <a:avLst>
              <a:gd name="adj" fmla="val 10606"/>
            </a:avLst>
          </a:prstGeom>
          <a:solidFill xmlns:a="http://schemas.openxmlformats.org/drawingml/2006/main">
            <a:srgbClr val="0D2430"/>
          </a:solidFill>
          <a:ln xmlns:a="http://schemas.openxmlformats.org/drawingml/2006/main" w="15240">
            <a:solidFill>
              <a:srgbClr val="0D6576"/>
            </a:solidFill>
          </a:ln>
          <ns5:effectLst xmlns:ns5="http://schemas.openxmlformats.org/drawingml/2006/main">
            <ns5:glow rad="65000">
              <ns5:srgbClr val="7DD6DD">
                <ns5:alpha val="34000"/>
              </ns5:srgbClr>
            </ns5:glow>
          </ns5:effectLst>
        </p:spPr>
      </p:sp>
      <p:sp>
        <p:nvSpPr>
          <p:cNvPr id="18" name="text">
            <a:extLst xmlns:a="http://schemas.openxmlformats.org/drawingml/2006/main">
              <a:ext uri="{FF2B5EF4-FFF2-40B4-BE49-F238E27FC236}">
                <a16:creationId xmlns:a16="http://schemas.microsoft.com/office/drawing/2014/main" id="{F7725242-A2CE-45A5-B296-BBBCE0925771}"/>
              </a:ext>
            </a:extLst>
          </p:cNvPr>
          <p:cNvSpPr>
            <a:spLocks xmlns:a="http://schemas.openxmlformats.org/drawingml/2006/main" noGrp="1"/>
          </p:cNvSpPr>
          <p:nvPr/>
        </p:nvSpPr>
        <p:spPr>
          <a:xfrm xmlns:a="http://schemas.openxmlformats.org/drawingml/2006/main">
            <a:off x="6200775" y="4286250"/>
            <a:ext cx="438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FFFFFF"/>
                </a:solidFill>
                <a:latin typeface="Nimbus Sans"/>
                <a:ea typeface="Nimbus Sans"/>
                <a:cs typeface="Nimbus Sans"/>
              </a:defRPr>
            </a:pPr>
            <a:r>
              <a:rPr sz="1500" b="0">
                <a:solidFill>
                  <a:srgbClr val="FFFFFF"/>
                </a:solidFill>
                <a:latin typeface="Nimbus Sans"/>
                <a:ea typeface="Nimbus Sans"/>
                <a:cs typeface="Nimbus Sans"/>
              </a:rPr>
              <a:t>FinOps: Financial accountability and business value</a:t>
            </a:r>
          </a:p>
        </p:txBody>
      </p:sp>
      <p:sp>
        <p:nvSpPr>
          <p:cNvPr id="19" name="glow aqua">
            <a:extLst xmlns:a="http://schemas.openxmlformats.org/drawingml/2006/main">
              <a:ext uri="{FF2B5EF4-FFF2-40B4-BE49-F238E27FC236}">
                <a16:creationId xmlns:a16="http://schemas.microsoft.com/office/drawing/2014/main" id="{EA86B882-02DD-4FAC-884A-36907BF78FF3}"/>
              </a:ext>
            </a:extLst>
          </p:cNvPr>
          <p:cNvSpPr>
            <a:spLocks xmlns:a="http://schemas.openxmlformats.org/drawingml/2006/main" noGrp="1"/>
          </p:cNvSpPr>
          <p:nvPr/>
        </p:nvSpPr>
        <p:spPr>
          <a:xfrm xmlns:a="http://schemas.openxmlformats.org/drawingml/2006/main">
            <a:off x="1466850" y="4914900"/>
            <a:ext cx="9258300" cy="381000"/>
          </a:xfrm>
          <a:prstGeom xmlns:a="http://schemas.openxmlformats.org/drawingml/2006/main" prst="roundRect">
            <a:avLst>
              <a:gd name="adj" fmla="val 12500"/>
            </a:avLst>
          </a:prstGeom>
          <a:solidFill xmlns:a="http://schemas.openxmlformats.org/drawingml/2006/main">
            <a:srgbClr val="0D2430"/>
          </a:solidFill>
          <a:ln xmlns:a="http://schemas.openxmlformats.org/drawingml/2006/main" w="15240">
            <a:solidFill>
              <a:srgbClr val="7DD6DD"/>
            </a:solidFill>
          </a:ln>
          <ns6:effectLst xmlns:ns6="http://schemas.openxmlformats.org/drawingml/2006/main">
            <ns6:glow rad="65000">
              <ns6:srgbClr val="7DD6DD">
                <ns6:alpha val="34000"/>
              </ns6:srgbClr>
            </ns6:glow>
          </ns6:effectLst>
        </p:spPr>
      </p:sp>
      <p:sp>
        <p:nvSpPr>
          <p:cNvPr id="20" name="text">
            <a:extLst xmlns:a="http://schemas.openxmlformats.org/drawingml/2006/main">
              <a:ext uri="{FF2B5EF4-FFF2-40B4-BE49-F238E27FC236}">
                <a16:creationId xmlns:a16="http://schemas.microsoft.com/office/drawing/2014/main" id="{7B85AAD2-9EE6-4347-8A5B-678F074C1BD7}"/>
              </a:ext>
            </a:extLst>
          </p:cNvPr>
          <p:cNvSpPr>
            <a:spLocks xmlns:a="http://schemas.openxmlformats.org/drawingml/2006/main" noGrp="1"/>
          </p:cNvSpPr>
          <p:nvPr/>
        </p:nvSpPr>
        <p:spPr>
          <a:xfrm xmlns:a="http://schemas.openxmlformats.org/drawingml/2006/main">
            <a:off x="1666875" y="4962525"/>
            <a:ext cx="8858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7DD6DD"/>
                </a:solidFill>
                <a:latin typeface="Nimbus Sans"/>
                <a:ea typeface="Nimbus Sans"/>
                <a:cs typeface="Nimbus Sans"/>
              </a:defRPr>
            </a:pPr>
            <a:r>
              <a:rPr sz="1650" b="1">
                <a:solidFill>
                  <a:srgbClr val="7DD6DD"/>
                </a:solidFill>
                <a:latin typeface="Nimbus Sans"/>
                <a:ea typeface="Nimbus Sans"/>
                <a:cs typeface="Nimbus Sans"/>
              </a:rPr>
              <a:t>Reusable tools and deployment automation</a:t>
            </a:r>
          </a:p>
        </p:txBody>
      </p:sp>
      <p:sp>
        <p:nvSpPr>
          <p:cNvPr id="21" name="box">
            <a:extLst xmlns:a="http://schemas.openxmlformats.org/drawingml/2006/main">
              <a:ext uri="{FF2B5EF4-FFF2-40B4-BE49-F238E27FC236}">
                <a16:creationId xmlns:a16="http://schemas.microsoft.com/office/drawing/2014/main" id="{95658753-DB85-41D2-9112-AC0CF2D4F14B}"/>
              </a:ext>
            </a:extLst>
          </p:cNvPr>
          <p:cNvSpPr>
            <a:spLocks xmlns:a="http://schemas.openxmlformats.org/drawingml/2006/main" noGrp="1"/>
          </p:cNvSpPr>
          <p:nvPr/>
        </p:nvSpPr>
        <p:spPr>
          <a:xfrm xmlns:a="http://schemas.openxmlformats.org/drawingml/2006/main">
            <a:off x="1333500" y="5486400"/>
            <a:ext cx="9525000" cy="409575"/>
          </a:xfrm>
          <a:prstGeom xmlns:a="http://schemas.openxmlformats.org/drawingml/2006/main" prst="roundRect">
            <a:avLst>
              <a:gd name="adj" fmla="val 13953"/>
            </a:avLst>
          </a:prstGeom>
          <a:solidFill xmlns:a="http://schemas.openxmlformats.org/drawingml/2006/main">
            <a:srgbClr val="203B4A"/>
          </a:solidFill>
          <a:ln xmlns:a="http://schemas.openxmlformats.org/drawingml/2006/main" w="0">
            <a:noFill/>
          </a:ln>
        </p:spPr>
      </p:sp>
      <p:sp>
        <p:nvSpPr>
          <p:cNvPr id="22" name="text">
            <a:extLst xmlns:a="http://schemas.openxmlformats.org/drawingml/2006/main">
              <a:ext uri="{FF2B5EF4-FFF2-40B4-BE49-F238E27FC236}">
                <a16:creationId xmlns:a16="http://schemas.microsoft.com/office/drawing/2014/main" id="{4D34A879-A3E8-410A-93AC-B4686198E215}"/>
              </a:ext>
            </a:extLst>
          </p:cNvPr>
          <p:cNvSpPr>
            <a:spLocks xmlns:a="http://schemas.openxmlformats.org/drawingml/2006/main" noGrp="1"/>
          </p:cNvSpPr>
          <p:nvPr/>
        </p:nvSpPr>
        <p:spPr>
          <a:xfrm xmlns:a="http://schemas.openxmlformats.org/drawingml/2006/main">
            <a:off x="1524000" y="555307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AWS managed AI services provide the execution foundation</a:t>
            </a:r>
          </a:p>
        </p:txBody>
      </p:sp>
      <p:sp>
        <p:nvSpPr>
          <p:cNvPr id="23" name="text">
            <a:extLst xmlns:a="http://schemas.openxmlformats.org/drawingml/2006/main">
              <a:ext uri="{FF2B5EF4-FFF2-40B4-BE49-F238E27FC236}">
                <a16:creationId xmlns:a16="http://schemas.microsoft.com/office/drawing/2014/main" id="{FAA6AF4B-1027-458E-BE98-39F7FC1C3F31}"/>
              </a:ext>
            </a:extLst>
          </p:cNvPr>
          <p:cNvSpPr>
            <a:spLocks xmlns:a="http://schemas.openxmlformats.org/drawingml/2006/main" noGrp="1"/>
          </p:cNvSpPr>
          <p:nvPr/>
        </p:nvSpPr>
        <p:spPr>
          <a:xfrm xmlns:a="http://schemas.openxmlformats.org/drawingml/2006/main">
            <a:off x="609600" y="61912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526A78"/>
                </a:solidFill>
                <a:latin typeface="Nimbus Sans"/>
                <a:ea typeface="Nimbus Sans"/>
                <a:cs typeface="Nimbus Sans"/>
              </a:defRPr>
            </a:pPr>
            <a:r>
              <a:rPr sz="1425" b="0">
                <a:solidFill>
                  <a:srgbClr val="526A78"/>
                </a:solidFill>
                <a:latin typeface="Nimbus Sans"/>
                <a:ea typeface="Nimbus Sans"/>
                <a:cs typeface="Nimbus Sans"/>
              </a:rPr>
              <a:t>Target model. Permission enforcement, tracing, and FinOps remain at different stages of maturity.</a:t>
            </a:r>
          </a:p>
        </p:txBody>
      </p:sp>
    </p:spTree>
    <p:extLst>
      <p:ext uri="{BB962C8B-B14F-4D97-AF65-F5344CB8AC3E}">
        <p14:creationId xmlns:p14="http://schemas.microsoft.com/office/powerpoint/2010/main" val="915173491"/>
      </p:ext>
    </p:extLst>
  </p:cSld>
</p:sld>
</file>

<file path=ppt/slides/slide5.xml><?xml version="1.0" encoding="utf-8"?>
<p:sld xmlns:p="http://schemas.openxmlformats.org/presentationml/2006/main">
  <p:cSld>
    <p:bg>
      <p:bgPr>
        <a:solidFill xmlns:a="http://schemas.openxmlformats.org/drawingml/2006/main">
          <a:srgbClr val="0D2430"/>
        </a:solidFill>
      </p:bgPr>
    </p:bg>
    <p:spTree>
      <p:nvGrpSpPr>
        <p:cNvPr id="1" name=""/>
        <p:cNvGrpSpPr/>
        <p:nvPr/>
      </p:nvGrpSpPr>
      <p:grpSpPr>
        <a:xfrm xmlns:a="http://schemas.openxmlformats.org/drawingml/2006/main"/>
      </p:grpSpPr>
      <p:sp>
        <p:nvSpPr>
          <p:cNvPr id="28" name="box">
            <a:extLst xmlns:a="http://schemas.openxmlformats.org/drawingml/2006/main">
              <a:ext uri="{FF2B5EF4-FFF2-40B4-BE49-F238E27FC236}">
                <a16:creationId xmlns:a16="http://schemas.microsoft.com/office/drawing/2014/main" id="{A3B3ACCF-BD40-4A97-8F35-58BC6B6A5389}"/>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385362"/>
          </a:solidFill>
          <a:ln xmlns:a="http://schemas.openxmlformats.org/drawingml/2006/main" w="0">
            <a:noFill/>
          </a:ln>
        </p:spPr>
      </p:sp>
      <p:sp>
        <p:nvSpPr>
          <p:cNvPr id="2" name="text">
            <a:extLst xmlns:a="http://schemas.openxmlformats.org/drawingml/2006/main">
              <a:ext uri="{FF2B5EF4-FFF2-40B4-BE49-F238E27FC236}">
                <a16:creationId xmlns:a16="http://schemas.microsoft.com/office/drawing/2014/main" id="{C64771B0-A257-4BD3-8533-1B9AE71783DA}"/>
              </a:ext>
            </a:extLst>
          </p:cNvPr>
          <p:cNvSpPr>
            <a:spLocks xmlns:a="http://schemas.openxmlformats.org/drawingml/2006/main" noGrp="1"/>
          </p:cNvSpPr>
          <p:nvPr/>
        </p:nvSpPr>
        <p:spPr>
          <a:xfrm xmlns:a="http://schemas.openxmlformats.org/drawingml/2006/main">
            <a:off x="609600" y="6562725"/>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975" b="1">
                <a:solidFill>
                  <a:srgbClr val="7DD6DD"/>
                </a:solidFill>
                <a:latin typeface="Nimbus Sans"/>
                <a:ea typeface="Nimbus Sans"/>
                <a:cs typeface="Nimbus Sans"/>
              </a:defRPr>
            </a:pPr>
            <a:r>
              <a:rPr sz="975" b="1">
                <a:solidFill>
                  <a:srgbClr val="7DD6DD"/>
                </a:solidFill>
                <a:latin typeface="Nimbus Sans"/>
                <a:ea typeface="Nimbus Sans"/>
                <a:cs typeface="Nimbus Sans"/>
              </a:rPr>
              <a:t>GUARDIAN AI  /  CONVERGENCE 2026</a:t>
            </a:r>
          </a:p>
        </p:txBody>
      </p:sp>
      <p:sp>
        <p:nvSpPr>
          <p:cNvPr id="3" name="text">
            <a:extLst xmlns:a="http://schemas.openxmlformats.org/drawingml/2006/main">
              <a:ext uri="{FF2B5EF4-FFF2-40B4-BE49-F238E27FC236}">
                <a16:creationId xmlns:a16="http://schemas.microsoft.com/office/drawing/2014/main" id="{66447919-9B53-42B0-A193-CC70170A4BB1}"/>
              </a:ext>
            </a:extLst>
          </p:cNvPr>
          <p:cNvSpPr>
            <a:spLocks xmlns:a="http://schemas.openxmlformats.org/drawingml/2006/main" noGrp="1"/>
          </p:cNvSpPr>
          <p:nvPr/>
        </p:nvSpPr>
        <p:spPr>
          <a:xfrm xmlns:a="http://schemas.openxmlformats.org/drawingml/2006/main">
            <a:off x="11096625" y="656272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050" b="0">
                <a:solidFill>
                  <a:srgbClr val="7DD6DD"/>
                </a:solidFill>
                <a:latin typeface="Nimbus Sans"/>
                <a:ea typeface="Nimbus Sans"/>
                <a:cs typeface="Nimbus Sans"/>
              </a:defRPr>
            </a:pPr>
            <a:r>
              <a:rPr sz="1050" b="0">
                <a:solidFill>
                  <a:srgbClr val="7DD6DD"/>
                </a:solidFill>
                <a:latin typeface="Nimbus Sans"/>
                <a:ea typeface="Nimbus Sans"/>
                <a:cs typeface="Nimbus Sans"/>
              </a:rPr>
              <a:t>05</a:t>
            </a:r>
          </a:p>
        </p:txBody>
      </p:sp>
      <p:sp>
        <p:nvSpPr>
          <p:cNvPr id="4" name="text">
            <a:extLst xmlns:a="http://schemas.openxmlformats.org/drawingml/2006/main">
              <a:ext uri="{FF2B5EF4-FFF2-40B4-BE49-F238E27FC236}">
                <a16:creationId xmlns:a16="http://schemas.microsoft.com/office/drawing/2014/main" id="{886FE5ED-5F88-4943-BBE4-34B2AC6D7885}"/>
              </a:ext>
            </a:extLst>
          </p:cNvPr>
          <p:cNvSpPr>
            <a:spLocks xmlns:a="http://schemas.openxmlformats.org/drawingml/2006/main" noGrp="1"/>
          </p:cNvSpPr>
          <p:nvPr/>
        </p:nvSpPr>
        <p:spPr>
          <a:xfrm xmlns:a="http://schemas.openxmlformats.org/drawingml/2006/main">
            <a:off x="609600" y="4572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Teams can focus on what makes their agent useful</a:t>
            </a:r>
          </a:p>
        </p:txBody>
      </p:sp>
      <p:sp>
        <p:nvSpPr>
          <p:cNvPr id="5" name="text">
            <a:extLst xmlns:a="http://schemas.openxmlformats.org/drawingml/2006/main">
              <a:ext uri="{FF2B5EF4-FFF2-40B4-BE49-F238E27FC236}">
                <a16:creationId xmlns:a16="http://schemas.microsoft.com/office/drawing/2014/main" id="{36AC6917-FF48-4867-8FC4-8001EF2F0483}"/>
              </a:ext>
            </a:extLst>
          </p:cNvPr>
          <p:cNvSpPr>
            <a:spLocks xmlns:a="http://schemas.openxmlformats.org/drawingml/2006/main" noGrp="1"/>
          </p:cNvSpPr>
          <p:nvPr/>
        </p:nvSpPr>
        <p:spPr>
          <a:xfrm xmlns:a="http://schemas.openxmlformats.org/drawingml/2006/main">
            <a:off x="609600" y="13049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7DD6DD"/>
                </a:solidFill>
                <a:latin typeface="Nimbus Sans"/>
                <a:ea typeface="Nimbus Sans"/>
                <a:cs typeface="Nimbus Sans"/>
              </a:defRPr>
            </a:pPr>
            <a:r>
              <a:rPr sz="1725" b="0">
                <a:solidFill>
                  <a:srgbClr val="7DD6DD"/>
                </a:solidFill>
                <a:latin typeface="Nimbus Sans"/>
                <a:ea typeface="Nimbus Sans"/>
                <a:cs typeface="Nimbus Sans"/>
              </a:rPr>
              <a:t>Business expertise stays with the team. Shared setup becomes a platform concern.</a:t>
            </a:r>
          </a:p>
        </p:txBody>
      </p:sp>
      <p:sp>
        <p:nvSpPr>
          <p:cNvPr id="6" name="business panel">
            <a:extLst xmlns:a="http://schemas.openxmlformats.org/drawingml/2006/main">
              <a:ext uri="{FF2B5EF4-FFF2-40B4-BE49-F238E27FC236}">
                <a16:creationId xmlns:a16="http://schemas.microsoft.com/office/drawing/2014/main" id="{693AD547-8171-4F00-856F-05DEDF8F8D82}"/>
              </a:ext>
            </a:extLst>
          </p:cNvPr>
          <p:cNvSpPr>
            <a:spLocks xmlns:a="http://schemas.openxmlformats.org/drawingml/2006/main" noGrp="1"/>
          </p:cNvSpPr>
          <p:nvPr/>
        </p:nvSpPr>
        <p:spPr>
          <a:xfrm xmlns:a="http://schemas.openxmlformats.org/drawingml/2006/main">
            <a:off x="1543050" y="1971675"/>
            <a:ext cx="4457700" cy="3638550"/>
          </a:xfrm>
          <a:prstGeom xmlns:a="http://schemas.openxmlformats.org/drawingml/2006/main" prst="roundRect">
            <a:avLst>
              <a:gd name="adj" fmla="val 2094"/>
            </a:avLst>
          </a:prstGeom>
          <a:solidFill xmlns:a="http://schemas.openxmlformats.org/drawingml/2006/main">
            <a:srgbClr val="E6F3F5"/>
          </a:solidFill>
          <a:ln xmlns:a="http://schemas.openxmlformats.org/drawingml/2006/main" w="0">
            <a:noFill/>
          </a:ln>
        </p:spPr>
      </p:sp>
      <p:sp>
        <p:nvSpPr>
          <p:cNvPr id="7" name="glow platform panel">
            <a:extLst xmlns:a="http://schemas.openxmlformats.org/drawingml/2006/main">
              <a:ext uri="{FF2B5EF4-FFF2-40B4-BE49-F238E27FC236}">
                <a16:creationId xmlns:a16="http://schemas.microsoft.com/office/drawing/2014/main" id="{C564A51B-4321-4819-B5F9-BD46C2BB29DF}"/>
              </a:ext>
            </a:extLst>
          </p:cNvPr>
          <p:cNvSpPr>
            <a:spLocks xmlns:a="http://schemas.openxmlformats.org/drawingml/2006/main" noGrp="1"/>
          </p:cNvSpPr>
          <p:nvPr/>
        </p:nvSpPr>
        <p:spPr>
          <a:xfrm xmlns:a="http://schemas.openxmlformats.org/drawingml/2006/main">
            <a:off x="6191250" y="1971675"/>
            <a:ext cx="4457700" cy="3638550"/>
          </a:xfrm>
          <a:prstGeom xmlns:a="http://schemas.openxmlformats.org/drawingml/2006/main" prst="roundRect">
            <a:avLst>
              <a:gd name="adj" fmla="val 2094"/>
            </a:avLst>
          </a:prstGeom>
          <a:solidFill xmlns:a="http://schemas.openxmlformats.org/drawingml/2006/main">
            <a:srgbClr val="163F4B"/>
          </a:solidFill>
          <a:ln xmlns:a="http://schemas.openxmlformats.org/drawingml/2006/main" w="15240">
            <a:solidFill>
              <a:srgbClr val="7DD6DD"/>
            </a:solidFill>
          </a:ln>
          <ns0:effectLst xmlns:ns0="http://schemas.openxmlformats.org/drawingml/2006/main">
            <ns0:glow rad="65000">
              <ns0:srgbClr val="7DD6DD">
                <ns0:alpha val="34000"/>
              </ns0:srgbClr>
            </ns0:glow>
          </ns0:effectLst>
        </p:spPr>
      </p:sp>
      <p:sp>
        <p:nvSpPr>
          <p:cNvPr id="8" name="text">
            <a:extLst xmlns:a="http://schemas.openxmlformats.org/drawingml/2006/main">
              <a:ext uri="{FF2B5EF4-FFF2-40B4-BE49-F238E27FC236}">
                <a16:creationId xmlns:a16="http://schemas.microsoft.com/office/drawing/2014/main" id="{8CB92D53-B8E3-4C4A-80D1-5CEAAFF2EE57}"/>
              </a:ext>
            </a:extLst>
          </p:cNvPr>
          <p:cNvSpPr>
            <a:spLocks xmlns:a="http://schemas.openxmlformats.org/drawingml/2006/main" noGrp="1"/>
          </p:cNvSpPr>
          <p:nvPr/>
        </p:nvSpPr>
        <p:spPr>
          <a:xfrm xmlns:a="http://schemas.openxmlformats.org/drawingml/2006/main">
            <a:off x="1714500" y="2133600"/>
            <a:ext cx="4114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75" b="1">
                <a:solidFill>
                  <a:srgbClr val="0D2430"/>
                </a:solidFill>
                <a:latin typeface="Nimbus Sans"/>
                <a:ea typeface="Nimbus Sans"/>
                <a:cs typeface="Nimbus Sans"/>
              </a:defRPr>
            </a:pPr>
            <a:r>
              <a:rPr sz="2175" b="1">
                <a:solidFill>
                  <a:srgbClr val="0D2430"/>
                </a:solidFill>
                <a:latin typeface="Nimbus Sans"/>
                <a:ea typeface="Nimbus Sans"/>
                <a:cs typeface="Nimbus Sans"/>
              </a:rPr>
              <a:t>BUSINESS TEAM</a:t>
            </a:r>
          </a:p>
        </p:txBody>
      </p:sp>
      <p:sp>
        <p:nvSpPr>
          <p:cNvPr id="9" name="text">
            <a:extLst xmlns:a="http://schemas.openxmlformats.org/drawingml/2006/main">
              <a:ext uri="{FF2B5EF4-FFF2-40B4-BE49-F238E27FC236}">
                <a16:creationId xmlns:a16="http://schemas.microsoft.com/office/drawing/2014/main" id="{577CDB03-5F99-4865-B457-15CF93FC10B7}"/>
              </a:ext>
            </a:extLst>
          </p:cNvPr>
          <p:cNvSpPr>
            <a:spLocks xmlns:a="http://schemas.openxmlformats.org/drawingml/2006/main" noGrp="1"/>
          </p:cNvSpPr>
          <p:nvPr/>
        </p:nvSpPr>
        <p:spPr>
          <a:xfrm xmlns:a="http://schemas.openxmlformats.org/drawingml/2006/main">
            <a:off x="6362700" y="2133600"/>
            <a:ext cx="4114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75" b="1">
                <a:solidFill>
                  <a:srgbClr val="7DD6DD"/>
                </a:solidFill>
                <a:latin typeface="Nimbus Sans"/>
                <a:ea typeface="Nimbus Sans"/>
                <a:cs typeface="Nimbus Sans"/>
              </a:defRPr>
            </a:pPr>
            <a:r>
              <a:rPr sz="2175" b="1">
                <a:solidFill>
                  <a:srgbClr val="7DD6DD"/>
                </a:solidFill>
                <a:latin typeface="Nimbus Sans"/>
                <a:ea typeface="Nimbus Sans"/>
                <a:cs typeface="Nimbus Sans"/>
              </a:rPr>
              <a:t>PLATFORM TEAM</a:t>
            </a:r>
          </a:p>
        </p:txBody>
      </p:sp>
      <p:sp>
        <p:nvSpPr>
          <p:cNvPr id="10" name="business responsibility">
            <a:extLst xmlns:a="http://schemas.openxmlformats.org/drawingml/2006/main">
              <a:ext uri="{FF2B5EF4-FFF2-40B4-BE49-F238E27FC236}">
                <a16:creationId xmlns:a16="http://schemas.microsoft.com/office/drawing/2014/main" id="{CA8B622D-54BC-4C46-98BC-06E00FE95FDC}"/>
              </a:ext>
            </a:extLst>
          </p:cNvPr>
          <p:cNvSpPr>
            <a:spLocks xmlns:a="http://schemas.openxmlformats.org/drawingml/2006/main" noGrp="1"/>
          </p:cNvSpPr>
          <p:nvPr/>
        </p:nvSpPr>
        <p:spPr>
          <a:xfrm xmlns:a="http://schemas.openxmlformats.org/drawingml/2006/main">
            <a:off x="1743075" y="2676525"/>
            <a:ext cx="4057650" cy="590550"/>
          </a:xfrm>
          <a:prstGeom xmlns:a="http://schemas.openxmlformats.org/drawingml/2006/main" prst="roundRect">
            <a:avLst>
              <a:gd name="adj" fmla="val 9677"/>
            </a:avLst>
          </a:prstGeom>
          <a:solidFill xmlns:a="http://schemas.openxmlformats.org/drawingml/2006/main">
            <a:srgbClr val="E6F3F5"/>
          </a:solidFill>
          <a:ln xmlns:a="http://schemas.openxmlformats.org/drawingml/2006/main" w="15240">
            <a:solidFill>
              <a:srgbClr val="203B4A"/>
            </a:solidFill>
          </a:ln>
        </p:spPr>
      </p:sp>
      <p:sp>
        <p:nvSpPr>
          <p:cNvPr id="11" name="text">
            <a:extLst xmlns:a="http://schemas.openxmlformats.org/drawingml/2006/main">
              <a:ext uri="{FF2B5EF4-FFF2-40B4-BE49-F238E27FC236}">
                <a16:creationId xmlns:a16="http://schemas.microsoft.com/office/drawing/2014/main" id="{9D1E56FC-F038-4A70-BDB0-6CE45A7E7F21}"/>
              </a:ext>
            </a:extLst>
          </p:cNvPr>
          <p:cNvSpPr>
            <a:spLocks xmlns:a="http://schemas.openxmlformats.org/drawingml/2006/main" noGrp="1"/>
          </p:cNvSpPr>
          <p:nvPr/>
        </p:nvSpPr>
        <p:spPr>
          <a:xfrm xmlns:a="http://schemas.openxmlformats.org/drawingml/2006/main">
            <a:off x="1876425" y="2762250"/>
            <a:ext cx="3790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0D2430"/>
                </a:solidFill>
                <a:latin typeface="Nimbus Sans"/>
                <a:ea typeface="Nimbus Sans"/>
                <a:cs typeface="Nimbus Sans"/>
              </a:defRPr>
            </a:pPr>
            <a:r>
              <a:rPr sz="1875" b="0">
                <a:solidFill>
                  <a:srgbClr val="0D2430"/>
                </a:solidFill>
                <a:latin typeface="Nimbus Sans"/>
                <a:ea typeface="Nimbus Sans"/>
                <a:cs typeface="Nimbus Sans"/>
              </a:rPr>
              <a:t>Define the business outcome</a:t>
            </a:r>
          </a:p>
        </p:txBody>
      </p:sp>
      <p:sp>
        <p:nvSpPr>
          <p:cNvPr id="12" name="glow platform responsibility">
            <a:extLst xmlns:a="http://schemas.openxmlformats.org/drawingml/2006/main">
              <a:ext uri="{FF2B5EF4-FFF2-40B4-BE49-F238E27FC236}">
                <a16:creationId xmlns:a16="http://schemas.microsoft.com/office/drawing/2014/main" id="{58F42DB0-BCF8-4277-BF61-56C487DF60A3}"/>
              </a:ext>
            </a:extLst>
          </p:cNvPr>
          <p:cNvSpPr>
            <a:spLocks xmlns:a="http://schemas.openxmlformats.org/drawingml/2006/main" noGrp="1"/>
          </p:cNvSpPr>
          <p:nvPr/>
        </p:nvSpPr>
        <p:spPr>
          <a:xfrm xmlns:a="http://schemas.openxmlformats.org/drawingml/2006/main">
            <a:off x="6391275" y="2676525"/>
            <a:ext cx="4057650" cy="590550"/>
          </a:xfrm>
          <a:prstGeom xmlns:a="http://schemas.openxmlformats.org/drawingml/2006/main" prst="roundRect">
            <a:avLst>
              <a:gd name="adj" fmla="val 9677"/>
            </a:avLst>
          </a:prstGeom>
          <a:solidFill xmlns:a="http://schemas.openxmlformats.org/drawingml/2006/main">
            <a:srgbClr val="0D2430"/>
          </a:solidFill>
          <a:ln xmlns:a="http://schemas.openxmlformats.org/drawingml/2006/main" w="15240">
            <a:solidFill>
              <a:srgbClr val="7DD6DD"/>
            </a:solidFill>
          </a:ln>
          <ns1:effectLst xmlns:ns1="http://schemas.openxmlformats.org/drawingml/2006/main">
            <ns1:glow rad="65000">
              <ns1:srgbClr val="7DD6DD">
                <ns1:alpha val="34000"/>
              </ns1:srgbClr>
            </ns1:glow>
          </ns1:effectLst>
        </p:spPr>
      </p:sp>
      <p:sp>
        <p:nvSpPr>
          <p:cNvPr id="13" name="text">
            <a:extLst xmlns:a="http://schemas.openxmlformats.org/drawingml/2006/main">
              <a:ext uri="{FF2B5EF4-FFF2-40B4-BE49-F238E27FC236}">
                <a16:creationId xmlns:a16="http://schemas.microsoft.com/office/drawing/2014/main" id="{EC610F12-B02D-4E0D-95D1-16DE5518D32C}"/>
              </a:ext>
            </a:extLst>
          </p:cNvPr>
          <p:cNvSpPr>
            <a:spLocks xmlns:a="http://schemas.openxmlformats.org/drawingml/2006/main" noGrp="1"/>
          </p:cNvSpPr>
          <p:nvPr/>
        </p:nvSpPr>
        <p:spPr>
          <a:xfrm xmlns:a="http://schemas.openxmlformats.org/drawingml/2006/main">
            <a:off x="6524625" y="2762250"/>
            <a:ext cx="3790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7DD6DD"/>
                </a:solidFill>
                <a:latin typeface="Nimbus Sans"/>
                <a:ea typeface="Nimbus Sans"/>
                <a:cs typeface="Nimbus Sans"/>
              </a:defRPr>
            </a:pPr>
            <a:r>
              <a:rPr sz="1875" b="0">
                <a:solidFill>
                  <a:srgbClr val="7DD6DD"/>
                </a:solidFill>
                <a:latin typeface="Nimbus Sans"/>
                <a:ea typeface="Nimbus Sans"/>
                <a:cs typeface="Nimbus Sans"/>
              </a:rPr>
              <a:t>Maintain shared integrations</a:t>
            </a:r>
          </a:p>
        </p:txBody>
      </p:sp>
      <p:sp>
        <p:nvSpPr>
          <p:cNvPr id="14" name="business responsibility">
            <a:extLst xmlns:a="http://schemas.openxmlformats.org/drawingml/2006/main">
              <a:ext uri="{FF2B5EF4-FFF2-40B4-BE49-F238E27FC236}">
                <a16:creationId xmlns:a16="http://schemas.microsoft.com/office/drawing/2014/main" id="{CE082BFF-591C-4643-B069-2EF6A3DCA8EE}"/>
              </a:ext>
            </a:extLst>
          </p:cNvPr>
          <p:cNvSpPr>
            <a:spLocks xmlns:a="http://schemas.openxmlformats.org/drawingml/2006/main" noGrp="1"/>
          </p:cNvSpPr>
          <p:nvPr/>
        </p:nvSpPr>
        <p:spPr>
          <a:xfrm xmlns:a="http://schemas.openxmlformats.org/drawingml/2006/main">
            <a:off x="1743075" y="3371850"/>
            <a:ext cx="4057650" cy="590550"/>
          </a:xfrm>
          <a:prstGeom xmlns:a="http://schemas.openxmlformats.org/drawingml/2006/main" prst="roundRect">
            <a:avLst>
              <a:gd name="adj" fmla="val 9677"/>
            </a:avLst>
          </a:prstGeom>
          <a:solidFill xmlns:a="http://schemas.openxmlformats.org/drawingml/2006/main">
            <a:srgbClr val="E6F3F5"/>
          </a:solidFill>
          <a:ln xmlns:a="http://schemas.openxmlformats.org/drawingml/2006/main" w="15240">
            <a:solidFill>
              <a:srgbClr val="203B4A"/>
            </a:solidFill>
          </a:ln>
        </p:spPr>
      </p:sp>
      <p:sp>
        <p:nvSpPr>
          <p:cNvPr id="15" name="text">
            <a:extLst xmlns:a="http://schemas.openxmlformats.org/drawingml/2006/main">
              <a:ext uri="{FF2B5EF4-FFF2-40B4-BE49-F238E27FC236}">
                <a16:creationId xmlns:a16="http://schemas.microsoft.com/office/drawing/2014/main" id="{30C4FB48-1CE7-4588-BE9F-423BCB9C8621}"/>
              </a:ext>
            </a:extLst>
          </p:cNvPr>
          <p:cNvSpPr>
            <a:spLocks xmlns:a="http://schemas.openxmlformats.org/drawingml/2006/main" noGrp="1"/>
          </p:cNvSpPr>
          <p:nvPr/>
        </p:nvSpPr>
        <p:spPr>
          <a:xfrm xmlns:a="http://schemas.openxmlformats.org/drawingml/2006/main">
            <a:off x="1876425" y="3457575"/>
            <a:ext cx="3790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0D2430"/>
                </a:solidFill>
                <a:latin typeface="Nimbus Sans"/>
                <a:ea typeface="Nimbus Sans"/>
                <a:cs typeface="Nimbus Sans"/>
              </a:defRPr>
            </a:pPr>
            <a:r>
              <a:rPr sz="1875" b="0">
                <a:solidFill>
                  <a:srgbClr val="0D2430"/>
                </a:solidFill>
                <a:latin typeface="Nimbus Sans"/>
                <a:ea typeface="Nimbus Sans"/>
                <a:cs typeface="Nimbus Sans"/>
              </a:rPr>
              <a:t>Design the agent’s behavior</a:t>
            </a:r>
          </a:p>
        </p:txBody>
      </p:sp>
      <p:sp>
        <p:nvSpPr>
          <p:cNvPr id="16" name="glow platform responsibility">
            <a:extLst xmlns:a="http://schemas.openxmlformats.org/drawingml/2006/main">
              <a:ext uri="{FF2B5EF4-FFF2-40B4-BE49-F238E27FC236}">
                <a16:creationId xmlns:a16="http://schemas.microsoft.com/office/drawing/2014/main" id="{FC8678EA-4B84-4711-B355-CF0066872797}"/>
              </a:ext>
            </a:extLst>
          </p:cNvPr>
          <p:cNvSpPr>
            <a:spLocks xmlns:a="http://schemas.openxmlformats.org/drawingml/2006/main" noGrp="1"/>
          </p:cNvSpPr>
          <p:nvPr/>
        </p:nvSpPr>
        <p:spPr>
          <a:xfrm xmlns:a="http://schemas.openxmlformats.org/drawingml/2006/main">
            <a:off x="6391275" y="3371850"/>
            <a:ext cx="4057650" cy="590550"/>
          </a:xfrm>
          <a:prstGeom xmlns:a="http://schemas.openxmlformats.org/drawingml/2006/main" prst="roundRect">
            <a:avLst>
              <a:gd name="adj" fmla="val 9677"/>
            </a:avLst>
          </a:prstGeom>
          <a:solidFill xmlns:a="http://schemas.openxmlformats.org/drawingml/2006/main">
            <a:srgbClr val="0D2430"/>
          </a:solidFill>
          <a:ln xmlns:a="http://schemas.openxmlformats.org/drawingml/2006/main" w="15240">
            <a:solidFill>
              <a:srgbClr val="7DD6DD"/>
            </a:solidFill>
          </a:ln>
          <ns2:effectLst xmlns:ns2="http://schemas.openxmlformats.org/drawingml/2006/main">
            <ns2:glow rad="65000">
              <ns2:srgbClr val="7DD6DD">
                <ns2:alpha val="34000"/>
              </ns2:srgbClr>
            </ns2:glow>
          </ns2:effectLst>
        </p:spPr>
      </p:sp>
      <p:sp>
        <p:nvSpPr>
          <p:cNvPr id="17" name="text">
            <a:extLst xmlns:a="http://schemas.openxmlformats.org/drawingml/2006/main">
              <a:ext uri="{FF2B5EF4-FFF2-40B4-BE49-F238E27FC236}">
                <a16:creationId xmlns:a16="http://schemas.microsoft.com/office/drawing/2014/main" id="{2E93DDA6-107D-496A-BA1E-27712D94B35F}"/>
              </a:ext>
            </a:extLst>
          </p:cNvPr>
          <p:cNvSpPr>
            <a:spLocks xmlns:a="http://schemas.openxmlformats.org/drawingml/2006/main" noGrp="1"/>
          </p:cNvSpPr>
          <p:nvPr/>
        </p:nvSpPr>
        <p:spPr>
          <a:xfrm xmlns:a="http://schemas.openxmlformats.org/drawingml/2006/main">
            <a:off x="6524625" y="3457575"/>
            <a:ext cx="3790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7DD6DD"/>
                </a:solidFill>
                <a:latin typeface="Nimbus Sans"/>
                <a:ea typeface="Nimbus Sans"/>
                <a:cs typeface="Nimbus Sans"/>
              </a:defRPr>
            </a:pPr>
            <a:r>
              <a:rPr sz="1875" b="0">
                <a:solidFill>
                  <a:srgbClr val="7DD6DD"/>
                </a:solidFill>
                <a:latin typeface="Nimbus Sans"/>
                <a:ea typeface="Nimbus Sans"/>
                <a:cs typeface="Nimbus Sans"/>
              </a:rPr>
              <a:t>Provide deployment workflows</a:t>
            </a:r>
          </a:p>
        </p:txBody>
      </p:sp>
      <p:sp>
        <p:nvSpPr>
          <p:cNvPr id="18" name="business responsibility">
            <a:extLst xmlns:a="http://schemas.openxmlformats.org/drawingml/2006/main">
              <a:ext uri="{FF2B5EF4-FFF2-40B4-BE49-F238E27FC236}">
                <a16:creationId xmlns:a16="http://schemas.microsoft.com/office/drawing/2014/main" id="{D01C1069-703D-43A7-92E8-EDA88C388706}"/>
              </a:ext>
            </a:extLst>
          </p:cNvPr>
          <p:cNvSpPr>
            <a:spLocks xmlns:a="http://schemas.openxmlformats.org/drawingml/2006/main" noGrp="1"/>
          </p:cNvSpPr>
          <p:nvPr/>
        </p:nvSpPr>
        <p:spPr>
          <a:xfrm xmlns:a="http://schemas.openxmlformats.org/drawingml/2006/main">
            <a:off x="1743075" y="4067175"/>
            <a:ext cx="4057650" cy="590550"/>
          </a:xfrm>
          <a:prstGeom xmlns:a="http://schemas.openxmlformats.org/drawingml/2006/main" prst="roundRect">
            <a:avLst>
              <a:gd name="adj" fmla="val 9677"/>
            </a:avLst>
          </a:prstGeom>
          <a:solidFill xmlns:a="http://schemas.openxmlformats.org/drawingml/2006/main">
            <a:srgbClr val="E6F3F5"/>
          </a:solidFill>
          <a:ln xmlns:a="http://schemas.openxmlformats.org/drawingml/2006/main" w="15240">
            <a:solidFill>
              <a:srgbClr val="203B4A"/>
            </a:solidFill>
          </a:ln>
        </p:spPr>
      </p:sp>
      <p:sp>
        <p:nvSpPr>
          <p:cNvPr id="19" name="text">
            <a:extLst xmlns:a="http://schemas.openxmlformats.org/drawingml/2006/main">
              <a:ext uri="{FF2B5EF4-FFF2-40B4-BE49-F238E27FC236}">
                <a16:creationId xmlns:a16="http://schemas.microsoft.com/office/drawing/2014/main" id="{B4DB081F-FBBC-4383-86E8-90B027DA9146}"/>
              </a:ext>
            </a:extLst>
          </p:cNvPr>
          <p:cNvSpPr>
            <a:spLocks xmlns:a="http://schemas.openxmlformats.org/drawingml/2006/main" noGrp="1"/>
          </p:cNvSpPr>
          <p:nvPr/>
        </p:nvSpPr>
        <p:spPr>
          <a:xfrm xmlns:a="http://schemas.openxmlformats.org/drawingml/2006/main">
            <a:off x="1876425" y="4152900"/>
            <a:ext cx="3790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0D2430"/>
                </a:solidFill>
                <a:latin typeface="Nimbus Sans"/>
                <a:ea typeface="Nimbus Sans"/>
                <a:cs typeface="Nimbus Sans"/>
              </a:defRPr>
            </a:pPr>
            <a:r>
              <a:rPr sz="1875" b="0">
                <a:solidFill>
                  <a:srgbClr val="0D2430"/>
                </a:solidFill>
                <a:latin typeface="Nimbus Sans"/>
                <a:ea typeface="Nimbus Sans"/>
                <a:cs typeface="Nimbus Sans"/>
              </a:rPr>
              <a:t>Connect domain knowledge</a:t>
            </a:r>
          </a:p>
        </p:txBody>
      </p:sp>
      <p:sp>
        <p:nvSpPr>
          <p:cNvPr id="20" name="glow platform responsibility">
            <a:extLst xmlns:a="http://schemas.openxmlformats.org/drawingml/2006/main">
              <a:ext uri="{FF2B5EF4-FFF2-40B4-BE49-F238E27FC236}">
                <a16:creationId xmlns:a16="http://schemas.microsoft.com/office/drawing/2014/main" id="{4AE97268-FC3A-4508-B9E6-F0B5C79279D6}"/>
              </a:ext>
            </a:extLst>
          </p:cNvPr>
          <p:cNvSpPr>
            <a:spLocks xmlns:a="http://schemas.openxmlformats.org/drawingml/2006/main" noGrp="1"/>
          </p:cNvSpPr>
          <p:nvPr/>
        </p:nvSpPr>
        <p:spPr>
          <a:xfrm xmlns:a="http://schemas.openxmlformats.org/drawingml/2006/main">
            <a:off x="6391275" y="4067175"/>
            <a:ext cx="4057650" cy="590550"/>
          </a:xfrm>
          <a:prstGeom xmlns:a="http://schemas.openxmlformats.org/drawingml/2006/main" prst="roundRect">
            <a:avLst>
              <a:gd name="adj" fmla="val 9677"/>
            </a:avLst>
          </a:prstGeom>
          <a:solidFill xmlns:a="http://schemas.openxmlformats.org/drawingml/2006/main">
            <a:srgbClr val="0D2430"/>
          </a:solidFill>
          <a:ln xmlns:a="http://schemas.openxmlformats.org/drawingml/2006/main" w="15240">
            <a:solidFill>
              <a:srgbClr val="7DD6DD"/>
            </a:solidFill>
          </a:ln>
          <ns3:effectLst xmlns:ns3="http://schemas.openxmlformats.org/drawingml/2006/main">
            <ns3:glow rad="65000">
              <ns3:srgbClr val="7DD6DD">
                <ns3:alpha val="34000"/>
              </ns3:srgbClr>
            </ns3:glow>
          </ns3:effectLst>
        </p:spPr>
      </p:sp>
      <p:sp>
        <p:nvSpPr>
          <p:cNvPr id="21" name="text">
            <a:extLst xmlns:a="http://schemas.openxmlformats.org/drawingml/2006/main">
              <a:ext uri="{FF2B5EF4-FFF2-40B4-BE49-F238E27FC236}">
                <a16:creationId xmlns:a16="http://schemas.microsoft.com/office/drawing/2014/main" id="{C22FA6FC-C718-447D-AF70-6C1B75D99164}"/>
              </a:ext>
            </a:extLst>
          </p:cNvPr>
          <p:cNvSpPr>
            <a:spLocks xmlns:a="http://schemas.openxmlformats.org/drawingml/2006/main" noGrp="1"/>
          </p:cNvSpPr>
          <p:nvPr/>
        </p:nvSpPr>
        <p:spPr>
          <a:xfrm xmlns:a="http://schemas.openxmlformats.org/drawingml/2006/main">
            <a:off x="6524625" y="4152900"/>
            <a:ext cx="3790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7DD6DD"/>
                </a:solidFill>
                <a:latin typeface="Nimbus Sans"/>
                <a:ea typeface="Nimbus Sans"/>
                <a:cs typeface="Nimbus Sans"/>
              </a:defRPr>
            </a:pPr>
            <a:r>
              <a:rPr sz="1875" b="0">
                <a:solidFill>
                  <a:srgbClr val="7DD6DD"/>
                </a:solidFill>
                <a:latin typeface="Nimbus Sans"/>
                <a:ea typeface="Nimbus Sans"/>
                <a:cs typeface="Nimbus Sans"/>
              </a:rPr>
              <a:t>Strengthen common controls</a:t>
            </a:r>
          </a:p>
        </p:txBody>
      </p:sp>
      <p:sp>
        <p:nvSpPr>
          <p:cNvPr id="22" name="business responsibility">
            <a:extLst xmlns:a="http://schemas.openxmlformats.org/drawingml/2006/main">
              <a:ext uri="{FF2B5EF4-FFF2-40B4-BE49-F238E27FC236}">
                <a16:creationId xmlns:a16="http://schemas.microsoft.com/office/drawing/2014/main" id="{BBF7AD27-B4D8-4202-9D51-8B9798DF305E}"/>
              </a:ext>
            </a:extLst>
          </p:cNvPr>
          <p:cNvSpPr>
            <a:spLocks xmlns:a="http://schemas.openxmlformats.org/drawingml/2006/main" noGrp="1"/>
          </p:cNvSpPr>
          <p:nvPr/>
        </p:nvSpPr>
        <p:spPr>
          <a:xfrm xmlns:a="http://schemas.openxmlformats.org/drawingml/2006/main">
            <a:off x="1743075" y="4762500"/>
            <a:ext cx="4057650" cy="590550"/>
          </a:xfrm>
          <a:prstGeom xmlns:a="http://schemas.openxmlformats.org/drawingml/2006/main" prst="roundRect">
            <a:avLst>
              <a:gd name="adj" fmla="val 9677"/>
            </a:avLst>
          </a:prstGeom>
          <a:solidFill xmlns:a="http://schemas.openxmlformats.org/drawingml/2006/main">
            <a:srgbClr val="E6F3F5"/>
          </a:solidFill>
          <a:ln xmlns:a="http://schemas.openxmlformats.org/drawingml/2006/main" w="15240">
            <a:solidFill>
              <a:srgbClr val="203B4A"/>
            </a:solidFill>
          </a:ln>
        </p:spPr>
      </p:sp>
      <p:sp>
        <p:nvSpPr>
          <p:cNvPr id="23" name="text">
            <a:extLst xmlns:a="http://schemas.openxmlformats.org/drawingml/2006/main">
              <a:ext uri="{FF2B5EF4-FFF2-40B4-BE49-F238E27FC236}">
                <a16:creationId xmlns:a16="http://schemas.microsoft.com/office/drawing/2014/main" id="{4579AEDA-4016-4FAB-AF17-DAD996CDA88E}"/>
              </a:ext>
            </a:extLst>
          </p:cNvPr>
          <p:cNvSpPr>
            <a:spLocks xmlns:a="http://schemas.openxmlformats.org/drawingml/2006/main" noGrp="1"/>
          </p:cNvSpPr>
          <p:nvPr/>
        </p:nvSpPr>
        <p:spPr>
          <a:xfrm xmlns:a="http://schemas.openxmlformats.org/drawingml/2006/main">
            <a:off x="1876425" y="4848225"/>
            <a:ext cx="3790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0D2430"/>
                </a:solidFill>
                <a:latin typeface="Nimbus Sans"/>
                <a:ea typeface="Nimbus Sans"/>
                <a:cs typeface="Nimbus Sans"/>
              </a:defRPr>
            </a:pPr>
            <a:r>
              <a:rPr sz="1875" b="0">
                <a:solidFill>
                  <a:srgbClr val="0D2430"/>
                </a:solidFill>
                <a:latin typeface="Nimbus Sans"/>
                <a:ea typeface="Nimbus Sans"/>
                <a:cs typeface="Nimbus Sans"/>
              </a:rPr>
              <a:t>Test answer quality</a:t>
            </a:r>
          </a:p>
        </p:txBody>
      </p:sp>
      <p:sp>
        <p:nvSpPr>
          <p:cNvPr id="24" name="glow platform responsibility">
            <a:extLst xmlns:a="http://schemas.openxmlformats.org/drawingml/2006/main">
              <a:ext uri="{FF2B5EF4-FFF2-40B4-BE49-F238E27FC236}">
                <a16:creationId xmlns:a16="http://schemas.microsoft.com/office/drawing/2014/main" id="{71E1868B-56BD-43AA-A54A-CC5703E3AEF6}"/>
              </a:ext>
            </a:extLst>
          </p:cNvPr>
          <p:cNvSpPr>
            <a:spLocks xmlns:a="http://schemas.openxmlformats.org/drawingml/2006/main" noGrp="1"/>
          </p:cNvSpPr>
          <p:nvPr/>
        </p:nvSpPr>
        <p:spPr>
          <a:xfrm xmlns:a="http://schemas.openxmlformats.org/drawingml/2006/main">
            <a:off x="6391275" y="4762500"/>
            <a:ext cx="4057650" cy="590550"/>
          </a:xfrm>
          <a:prstGeom xmlns:a="http://schemas.openxmlformats.org/drawingml/2006/main" prst="roundRect">
            <a:avLst>
              <a:gd name="adj" fmla="val 9677"/>
            </a:avLst>
          </a:prstGeom>
          <a:solidFill xmlns:a="http://schemas.openxmlformats.org/drawingml/2006/main">
            <a:srgbClr val="0D2430"/>
          </a:solidFill>
          <a:ln xmlns:a="http://schemas.openxmlformats.org/drawingml/2006/main" w="15240">
            <a:solidFill>
              <a:srgbClr val="7DD6DD"/>
            </a:solidFill>
          </a:ln>
          <ns4:effectLst xmlns:ns4="http://schemas.openxmlformats.org/drawingml/2006/main">
            <ns4:glow rad="65000">
              <ns4:srgbClr val="7DD6DD">
                <ns4:alpha val="34000"/>
              </ns4:srgbClr>
            </ns4:glow>
          </ns4:effectLst>
        </p:spPr>
      </p:sp>
      <p:sp>
        <p:nvSpPr>
          <p:cNvPr id="25" name="text">
            <a:extLst xmlns:a="http://schemas.openxmlformats.org/drawingml/2006/main">
              <a:ext uri="{FF2B5EF4-FFF2-40B4-BE49-F238E27FC236}">
                <a16:creationId xmlns:a16="http://schemas.microsoft.com/office/drawing/2014/main" id="{EDB736F7-771C-4624-B8CB-F204027E3012}"/>
              </a:ext>
            </a:extLst>
          </p:cNvPr>
          <p:cNvSpPr>
            <a:spLocks xmlns:a="http://schemas.openxmlformats.org/drawingml/2006/main" noGrp="1"/>
          </p:cNvSpPr>
          <p:nvPr/>
        </p:nvSpPr>
        <p:spPr>
          <a:xfrm xmlns:a="http://schemas.openxmlformats.org/drawingml/2006/main">
            <a:off x="6524625" y="4848225"/>
            <a:ext cx="3790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7DD6DD"/>
                </a:solidFill>
                <a:latin typeface="Nimbus Sans"/>
                <a:ea typeface="Nimbus Sans"/>
                <a:cs typeface="Nimbus Sans"/>
              </a:defRPr>
            </a:pPr>
            <a:r>
              <a:rPr sz="1875" b="0">
                <a:solidFill>
                  <a:srgbClr val="7DD6DD"/>
                </a:solidFill>
                <a:latin typeface="Nimbus Sans"/>
                <a:ea typeface="Nimbus Sans"/>
                <a:cs typeface="Nimbus Sans"/>
              </a:rPr>
              <a:t>Extend visibility and FinOps</a:t>
            </a:r>
          </a:p>
        </p:txBody>
      </p:sp>
      <p:sp>
        <p:nvSpPr>
          <p:cNvPr id="26" name="goal">
            <a:extLst xmlns:a="http://schemas.openxmlformats.org/drawingml/2006/main">
              <a:ext uri="{FF2B5EF4-FFF2-40B4-BE49-F238E27FC236}">
                <a16:creationId xmlns:a16="http://schemas.microsoft.com/office/drawing/2014/main" id="{F4ECC0E6-D93F-4BF1-B2B9-F39D9D9793F6}"/>
              </a:ext>
            </a:extLst>
          </p:cNvPr>
          <p:cNvSpPr>
            <a:spLocks xmlns:a="http://schemas.openxmlformats.org/drawingml/2006/main" noGrp="1"/>
          </p:cNvSpPr>
          <p:nvPr/>
        </p:nvSpPr>
        <p:spPr>
          <a:xfrm xmlns:a="http://schemas.openxmlformats.org/drawingml/2006/main">
            <a:off x="609600" y="5848350"/>
            <a:ext cx="10972800" cy="466725"/>
          </a:xfrm>
          <a:prstGeom xmlns:a="http://schemas.openxmlformats.org/drawingml/2006/main" prst="roundRect">
            <a:avLst>
              <a:gd name="adj" fmla="val 12245"/>
            </a:avLst>
          </a:prstGeom>
          <a:solidFill xmlns:a="http://schemas.openxmlformats.org/drawingml/2006/main">
            <a:srgbClr val="203B4A"/>
          </a:solidFill>
          <a:ln xmlns:a="http://schemas.openxmlformats.org/drawingml/2006/main" w="15240">
            <a:solidFill>
              <a:srgbClr val="385362"/>
            </a:solidFill>
          </a:ln>
        </p:spPr>
      </p:sp>
      <p:sp>
        <p:nvSpPr>
          <p:cNvPr id="27" name="text">
            <a:extLst xmlns:a="http://schemas.openxmlformats.org/drawingml/2006/main">
              <a:ext uri="{FF2B5EF4-FFF2-40B4-BE49-F238E27FC236}">
                <a16:creationId xmlns:a16="http://schemas.microsoft.com/office/drawing/2014/main" id="{866AC7B3-89D0-4E2C-B067-080D26A9D4E4}"/>
              </a:ext>
            </a:extLst>
          </p:cNvPr>
          <p:cNvSpPr>
            <a:spLocks xmlns:a="http://schemas.openxmlformats.org/drawingml/2006/main" noGrp="1"/>
          </p:cNvSpPr>
          <p:nvPr/>
        </p:nvSpPr>
        <p:spPr>
          <a:xfrm xmlns:a="http://schemas.openxmlformats.org/drawingml/2006/main">
            <a:off x="790575" y="5915025"/>
            <a:ext cx="10610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The goal: less repeated infrastructure work and more time improving the business experience.</a:t>
            </a:r>
          </a:p>
        </p:txBody>
      </p:sp>
    </p:spTree>
    <p:extLst>
      <p:ext uri="{BB962C8B-B14F-4D97-AF65-F5344CB8AC3E}">
        <p14:creationId xmlns:p14="http://schemas.microsoft.com/office/powerpoint/2010/main" val="844390995"/>
      </p:ext>
    </p:extLst>
  </p:cSld>
</p:sld>
</file>

<file path=ppt/slides/slide6.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26" name="Text A guided path to a development depl">
            <a:extLst xmlns:a="http://schemas.openxmlformats.org/drawingml/2006/main">
              <a:ext uri="{FF2B5EF4-FFF2-40B4-BE49-F238E27FC236}">
                <a16:creationId xmlns:a16="http://schemas.microsoft.com/office/drawing/2014/main" id="{343C51F3-DDDE-4B14-8DC6-2F3325928C22}"/>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52E3D"/>
                </a:solidFill>
                <a:latin typeface="Nimbus Sans"/>
                <a:ea typeface="Nimbus Sans"/>
                <a:cs typeface="Nimbus Sans"/>
              </a:defRPr>
            </a:pPr>
            <a:r>
              <a:rPr sz="3150" b="1">
                <a:solidFill>
                  <a:srgbClr val="152E3D"/>
                </a:solidFill>
                <a:latin typeface="Nimbus Sans"/>
                <a:ea typeface="Nimbus Sans"/>
                <a:cs typeface="Nimbus Sans"/>
              </a:rPr>
              <a:t>A guided path to a development deployment</a:t>
            </a:r>
          </a:p>
        </p:txBody>
      </p:sp>
      <p:sp>
        <p:nvSpPr>
          <p:cNvPr id="2" name="Text Self-service replaces several ticke">
            <a:extLst xmlns:a="http://schemas.openxmlformats.org/drawingml/2006/main">
              <a:ext uri="{FF2B5EF4-FFF2-40B4-BE49-F238E27FC236}">
                <a16:creationId xmlns:a16="http://schemas.microsoft.com/office/drawing/2014/main" id="{2C71722E-421D-4490-B0FF-3B2EFF4FB74F}"/>
              </a:ext>
            </a:extLst>
          </p:cNvPr>
          <p:cNvSpPr>
            <a:spLocks xmlns:a="http://schemas.openxmlformats.org/drawingml/2006/main" noGrp="1"/>
          </p:cNvSpPr>
          <p:nvPr/>
        </p:nvSpPr>
        <p:spPr>
          <a:xfrm xmlns:a="http://schemas.openxmlformats.org/drawingml/2006/main">
            <a:off x="609600" y="14763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A78"/>
                </a:solidFill>
                <a:latin typeface="Nimbus Sans"/>
                <a:ea typeface="Nimbus Sans"/>
                <a:cs typeface="Nimbus Sans"/>
              </a:defRPr>
            </a:pPr>
            <a:r>
              <a:rPr sz="1725" b="0">
                <a:solidFill>
                  <a:srgbClr val="526A78"/>
                </a:solidFill>
                <a:latin typeface="Nimbus Sans"/>
                <a:ea typeface="Nimbus Sans"/>
                <a:cs typeface="Nimbus Sans"/>
              </a:rPr>
              <a:t>Self-service replaces several ticket-and-wait steps.</a:t>
            </a:r>
          </a:p>
        </p:txBody>
      </p:sp>
      <p:sp>
        <p:nvSpPr>
          <p:cNvPr id="3" name="">
            <a:extLst xmlns:a="http://schemas.openxmlformats.org/drawingml/2006/main">
              <a:ext uri="{FF2B5EF4-FFF2-40B4-BE49-F238E27FC236}">
                <a16:creationId xmlns:a16="http://schemas.microsoft.com/office/drawing/2014/main" id="{7275A9BA-0BC0-412A-9CED-67F7DB58FE8E}"/>
              </a:ext>
            </a:extLst>
          </p:cNvPr>
          <p:cNvSpPr>
            <a:spLocks xmlns:a="http://schemas.openxmlformats.org/drawingml/2006/main" noGrp="1"/>
          </p:cNvSpPr>
          <p:nvPr/>
        </p:nvSpPr>
        <p:spPr>
          <a:xfrm xmlns:a="http://schemas.openxmlformats.org/drawingml/2006/main">
            <a:off x="609600" y="6448425"/>
            <a:ext cx="10972800" cy="0"/>
          </a:xfrm>
          <a:prstGeom xmlns:a="http://schemas.openxmlformats.org/drawingml/2006/main" prst="line">
            <a:avLst/>
          </a:prstGeom>
          <a:noFill xmlns:a="http://schemas.openxmlformats.org/drawingml/2006/main"/>
          <a:ln xmlns:a="http://schemas.openxmlformats.org/drawingml/2006/main" w="11430">
            <a:solidFill>
              <a:srgbClr val="D6E2E7"/>
            </a:solidFill>
          </a:ln>
        </p:spPr>
      </p:sp>
      <p:sp>
        <p:nvSpPr>
          <p:cNvPr id="4" name="Text GUARDIAN AI  /  CONVERGENCE 2026">
            <a:extLst xmlns:a="http://schemas.openxmlformats.org/drawingml/2006/main">
              <a:ext uri="{FF2B5EF4-FFF2-40B4-BE49-F238E27FC236}">
                <a16:creationId xmlns:a16="http://schemas.microsoft.com/office/drawing/2014/main" id="{9AD6CC65-F473-4EF0-973D-1855CF930551}"/>
              </a:ext>
            </a:extLst>
          </p:cNvPr>
          <p:cNvSpPr>
            <a:spLocks xmlns:a="http://schemas.openxmlformats.org/drawingml/2006/main" noGrp="1"/>
          </p:cNvSpPr>
          <p:nvPr/>
        </p:nvSpPr>
        <p:spPr>
          <a:xfrm xmlns:a="http://schemas.openxmlformats.org/drawingml/2006/main">
            <a:off x="609600" y="658177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526A78"/>
                </a:solidFill>
                <a:latin typeface="Nimbus Sans"/>
                <a:ea typeface="Nimbus Sans"/>
                <a:cs typeface="Nimbus Sans"/>
              </a:defRPr>
            </a:pPr>
            <a:r>
              <a:rPr sz="975" b="1">
                <a:solidFill>
                  <a:srgbClr val="526A78"/>
                </a:solidFill>
                <a:latin typeface="Nimbus Sans"/>
                <a:ea typeface="Nimbus Sans"/>
                <a:cs typeface="Nimbus Sans"/>
              </a:rPr>
              <a:t>GUARDIAN AI  /  CONVERGENCE 2026</a:t>
            </a:r>
          </a:p>
        </p:txBody>
      </p:sp>
      <p:sp>
        <p:nvSpPr>
          <p:cNvPr id="5" name="Text 06">
            <a:extLst xmlns:a="http://schemas.openxmlformats.org/drawingml/2006/main">
              <a:ext uri="{FF2B5EF4-FFF2-40B4-BE49-F238E27FC236}">
                <a16:creationId xmlns:a16="http://schemas.microsoft.com/office/drawing/2014/main" id="{4E510D2E-31EF-4029-89D4-3CA943FA852B}"/>
              </a:ext>
            </a:extLst>
          </p:cNvPr>
          <p:cNvSpPr>
            <a:spLocks xmlns:a="http://schemas.openxmlformats.org/drawingml/2006/main" noGrp="1"/>
          </p:cNvSpPr>
          <p:nvPr/>
        </p:nvSpPr>
        <p:spPr>
          <a:xfrm xmlns:a="http://schemas.openxmlformats.org/drawingml/2006/main">
            <a:off x="11096625" y="65722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A78"/>
                </a:solidFill>
                <a:latin typeface="Nimbus Sans"/>
                <a:ea typeface="Nimbus Sans"/>
                <a:cs typeface="Nimbus Sans"/>
              </a:defRPr>
            </a:pPr>
            <a:r>
              <a:rPr sz="1050" b="0">
                <a:solidFill>
                  <a:srgbClr val="526A78"/>
                </a:solidFill>
                <a:latin typeface="Nimbus Sans"/>
                <a:ea typeface="Nimbus Sans"/>
                <a:cs typeface="Nimbus Sans"/>
              </a:rPr>
              <a:t>06</a:t>
            </a:r>
          </a:p>
        </p:txBody>
      </p:sp>
      <p:sp>
        <p:nvSpPr>
          <p:cNvPr id="6" name="Text 1">
            <a:extLst xmlns:a="http://schemas.openxmlformats.org/drawingml/2006/main">
              <a:ext uri="{FF2B5EF4-FFF2-40B4-BE49-F238E27FC236}">
                <a16:creationId xmlns:a16="http://schemas.microsoft.com/office/drawing/2014/main" id="{DB165CAF-77E9-455C-A16D-3888843633D1}"/>
              </a:ext>
            </a:extLst>
          </p:cNvPr>
          <p:cNvSpPr>
            <a:spLocks xmlns:a="http://schemas.openxmlformats.org/drawingml/2006/main" noGrp="1"/>
          </p:cNvSpPr>
          <p:nvPr/>
        </p:nvSpPr>
        <p:spPr>
          <a:xfrm xmlns:a="http://schemas.openxmlformats.org/drawingml/2006/main">
            <a:off x="609600" y="229552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187D91"/>
                </a:solidFill>
                <a:latin typeface="Nimbus Sans"/>
                <a:ea typeface="Nimbus Sans"/>
                <a:cs typeface="Nimbus Sans"/>
              </a:defRPr>
            </a:pPr>
            <a:r>
              <a:rPr sz="3675" b="1">
                <a:solidFill>
                  <a:srgbClr val="187D91"/>
                </a:solidFill>
                <a:latin typeface="Nimbus Sans"/>
                <a:ea typeface="Nimbus Sans"/>
                <a:cs typeface="Nimbus Sans"/>
              </a:rPr>
              <a:t>1</a:t>
            </a:r>
          </a:p>
        </p:txBody>
      </p:sp>
      <p:sp>
        <p:nvSpPr>
          <p:cNvPr id="7" name="diagram">
            <a:extLst xmlns:a="http://schemas.openxmlformats.org/drawingml/2006/main">
              <a:ext uri="{FF2B5EF4-FFF2-40B4-BE49-F238E27FC236}">
                <a16:creationId xmlns:a16="http://schemas.microsoft.com/office/drawing/2014/main" id="{AF1C6CB2-C4D6-4C79-ADE8-1E70D4FB6077}"/>
              </a:ext>
            </a:extLst>
          </p:cNvPr>
          <p:cNvSpPr>
            <a:spLocks xmlns:a="http://schemas.openxmlformats.org/drawingml/2006/main" noGrp="1"/>
          </p:cNvSpPr>
          <p:nvPr/>
        </p:nvSpPr>
        <p:spPr>
          <a:xfrm xmlns:a="http://schemas.openxmlformats.org/drawingml/2006/main">
            <a:off x="609600" y="3076575"/>
            <a:ext cx="2457450" cy="1857375"/>
          </a:xfrm>
          <a:prstGeom xmlns:a="http://schemas.openxmlformats.org/drawingml/2006/main" prst="roundRect">
            <a:avLst>
              <a:gd name="adj" fmla="val 7179"/>
            </a:avLst>
          </a:prstGeom>
          <a:solidFill xmlns:a="http://schemas.openxmlformats.org/drawingml/2006/main">
            <a:srgbClr val="FFFFFF"/>
          </a:solidFill>
          <a:ln xmlns:a="http://schemas.openxmlformats.org/drawingml/2006/main" w="15240">
            <a:solidFill>
              <a:srgbClr val="D6E2E7"/>
            </a:solidFill>
          </a:ln>
        </p:spPr>
      </p:sp>
      <p:sp>
        <p:nvSpPr>
          <p:cNvPr id="8" name="Text Create">
            <a:extLst xmlns:a="http://schemas.openxmlformats.org/drawingml/2006/main">
              <a:ext uri="{FF2B5EF4-FFF2-40B4-BE49-F238E27FC236}">
                <a16:creationId xmlns:a16="http://schemas.microsoft.com/office/drawing/2014/main" id="{DCC44BAB-AA66-45BD-93CE-D2CAF8C28A9F}"/>
              </a:ext>
            </a:extLst>
          </p:cNvPr>
          <p:cNvSpPr>
            <a:spLocks xmlns:a="http://schemas.openxmlformats.org/drawingml/2006/main" noGrp="1"/>
          </p:cNvSpPr>
          <p:nvPr/>
        </p:nvSpPr>
        <p:spPr>
          <a:xfrm xmlns:a="http://schemas.openxmlformats.org/drawingml/2006/main">
            <a:off x="781050" y="32480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3B4A"/>
                </a:solidFill>
                <a:latin typeface="Nimbus Sans"/>
                <a:ea typeface="Nimbus Sans"/>
                <a:cs typeface="Nimbus Sans"/>
              </a:defRPr>
            </a:pPr>
            <a:r>
              <a:rPr sz="2025" b="1">
                <a:solidFill>
                  <a:srgbClr val="203B4A"/>
                </a:solidFill>
                <a:latin typeface="Nimbus Sans"/>
                <a:ea typeface="Nimbus Sans"/>
                <a:cs typeface="Nimbus Sans"/>
              </a:rPr>
              <a:t>Create</a:t>
            </a:r>
          </a:p>
        </p:txBody>
      </p:sp>
      <p:sp>
        <p:nvSpPr>
          <p:cNvPr id="9" name="Text Use a guided agent wizard">
            <a:extLst xmlns:a="http://schemas.openxmlformats.org/drawingml/2006/main">
              <a:ext uri="{FF2B5EF4-FFF2-40B4-BE49-F238E27FC236}">
                <a16:creationId xmlns:a16="http://schemas.microsoft.com/office/drawing/2014/main" id="{7F6CE7E4-CF81-4CF6-8DDE-DDB43929DA53}"/>
              </a:ext>
            </a:extLst>
          </p:cNvPr>
          <p:cNvSpPr>
            <a:spLocks xmlns:a="http://schemas.openxmlformats.org/drawingml/2006/main" noGrp="1"/>
          </p:cNvSpPr>
          <p:nvPr/>
        </p:nvSpPr>
        <p:spPr>
          <a:xfrm xmlns:a="http://schemas.openxmlformats.org/drawingml/2006/main">
            <a:off x="781050" y="3867150"/>
            <a:ext cx="2114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Use a guided agent wizard</a:t>
            </a:r>
          </a:p>
        </p:txBody>
      </p:sp>
      <p:sp>
        <p:nvSpPr>
          <p:cNvPr id="10" name="Text 2">
            <a:extLst xmlns:a="http://schemas.openxmlformats.org/drawingml/2006/main">
              <a:ext uri="{FF2B5EF4-FFF2-40B4-BE49-F238E27FC236}">
                <a16:creationId xmlns:a16="http://schemas.microsoft.com/office/drawing/2014/main" id="{4C4E905D-F445-4B20-BF77-3783EDCEB7D4}"/>
              </a:ext>
            </a:extLst>
          </p:cNvPr>
          <p:cNvSpPr>
            <a:spLocks xmlns:a="http://schemas.openxmlformats.org/drawingml/2006/main" noGrp="1"/>
          </p:cNvSpPr>
          <p:nvPr/>
        </p:nvSpPr>
        <p:spPr>
          <a:xfrm xmlns:a="http://schemas.openxmlformats.org/drawingml/2006/main">
            <a:off x="3409950" y="229552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187D91"/>
                </a:solidFill>
                <a:latin typeface="Nimbus Sans"/>
                <a:ea typeface="Nimbus Sans"/>
                <a:cs typeface="Nimbus Sans"/>
              </a:defRPr>
            </a:pPr>
            <a:r>
              <a:rPr sz="3675" b="1">
                <a:solidFill>
                  <a:srgbClr val="187D91"/>
                </a:solidFill>
                <a:latin typeface="Nimbus Sans"/>
                <a:ea typeface="Nimbus Sans"/>
                <a:cs typeface="Nimbus Sans"/>
              </a:rPr>
              <a:t>2</a:t>
            </a:r>
          </a:p>
        </p:txBody>
      </p:sp>
      <p:sp>
        <p:nvSpPr>
          <p:cNvPr id="11" name="diagram">
            <a:extLst xmlns:a="http://schemas.openxmlformats.org/drawingml/2006/main">
              <a:ext uri="{FF2B5EF4-FFF2-40B4-BE49-F238E27FC236}">
                <a16:creationId xmlns:a16="http://schemas.microsoft.com/office/drawing/2014/main" id="{D280CE0D-D1EC-4487-99C9-2E8D88D7CCAD}"/>
              </a:ext>
            </a:extLst>
          </p:cNvPr>
          <p:cNvSpPr>
            <a:spLocks xmlns:a="http://schemas.openxmlformats.org/drawingml/2006/main" noGrp="1"/>
          </p:cNvSpPr>
          <p:nvPr/>
        </p:nvSpPr>
        <p:spPr>
          <a:xfrm xmlns:a="http://schemas.openxmlformats.org/drawingml/2006/main">
            <a:off x="3409950" y="3076575"/>
            <a:ext cx="2457450" cy="1857375"/>
          </a:xfrm>
          <a:prstGeom xmlns:a="http://schemas.openxmlformats.org/drawingml/2006/main" prst="roundRect">
            <a:avLst>
              <a:gd name="adj" fmla="val 7179"/>
            </a:avLst>
          </a:prstGeom>
          <a:solidFill xmlns:a="http://schemas.openxmlformats.org/drawingml/2006/main">
            <a:srgbClr val="FFFFFF"/>
          </a:solidFill>
          <a:ln xmlns:a="http://schemas.openxmlformats.org/drawingml/2006/main" w="15240">
            <a:solidFill>
              <a:srgbClr val="D6E2E7"/>
            </a:solidFill>
          </a:ln>
        </p:spPr>
      </p:sp>
      <p:sp>
        <p:nvSpPr>
          <p:cNvPr id="12" name="Text Register and review">
            <a:extLst xmlns:a="http://schemas.openxmlformats.org/drawingml/2006/main">
              <a:ext uri="{FF2B5EF4-FFF2-40B4-BE49-F238E27FC236}">
                <a16:creationId xmlns:a16="http://schemas.microsoft.com/office/drawing/2014/main" id="{F63AF528-99C1-429E-94E2-68768F8FAB04}"/>
              </a:ext>
            </a:extLst>
          </p:cNvPr>
          <p:cNvSpPr>
            <a:spLocks xmlns:a="http://schemas.openxmlformats.org/drawingml/2006/main" noGrp="1"/>
          </p:cNvSpPr>
          <p:nvPr/>
        </p:nvSpPr>
        <p:spPr>
          <a:xfrm xmlns:a="http://schemas.openxmlformats.org/drawingml/2006/main">
            <a:off x="3581400" y="32480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3B4A"/>
                </a:solidFill>
                <a:latin typeface="Nimbus Sans"/>
                <a:ea typeface="Nimbus Sans"/>
                <a:cs typeface="Nimbus Sans"/>
              </a:defRPr>
            </a:pPr>
            <a:r>
              <a:rPr sz="2025" b="1">
                <a:solidFill>
                  <a:srgbClr val="203B4A"/>
                </a:solidFill>
                <a:latin typeface="Nimbus Sans"/>
                <a:ea typeface="Nimbus Sans"/>
                <a:cs typeface="Nimbus Sans"/>
              </a:rPr>
              <a:t>Register and review</a:t>
            </a:r>
          </a:p>
        </p:txBody>
      </p:sp>
      <p:sp>
        <p:nvSpPr>
          <p:cNvPr id="13" name="Text Capture the agent and review reques">
            <a:extLst xmlns:a="http://schemas.openxmlformats.org/drawingml/2006/main">
              <a:ext uri="{FF2B5EF4-FFF2-40B4-BE49-F238E27FC236}">
                <a16:creationId xmlns:a16="http://schemas.microsoft.com/office/drawing/2014/main" id="{1C28B951-2053-4686-B3F0-249F289C3634}"/>
              </a:ext>
            </a:extLst>
          </p:cNvPr>
          <p:cNvSpPr>
            <a:spLocks xmlns:a="http://schemas.openxmlformats.org/drawingml/2006/main" noGrp="1"/>
          </p:cNvSpPr>
          <p:nvPr/>
        </p:nvSpPr>
        <p:spPr>
          <a:xfrm xmlns:a="http://schemas.openxmlformats.org/drawingml/2006/main">
            <a:off x="3581400" y="3867150"/>
            <a:ext cx="2114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Capture the agent and review request</a:t>
            </a:r>
          </a:p>
        </p:txBody>
      </p:sp>
      <p:cxnSp>
        <p:nvCxnSpPr>
          <p:cNvPr id="39" name=""/>
          <p:cNvCxnSpPr>
            <a:stCxn xmlns:a="http://schemas.openxmlformats.org/drawingml/2006/main" id="7" idx="3"/>
            <a:endCxn xmlns:a="http://schemas.openxmlformats.org/drawingml/2006/main" id="11" idx="1"/>
          </p:cNvCxnSpPr>
          <p:nvPr/>
        </p:nvCxnSpPr>
        <p:spPr>
          <a:xfrm xmlns:a="http://schemas.openxmlformats.org/drawingml/2006/main">
            <a:off x="3067050" y="4005263"/>
            <a:ext cx="342900" cy="0"/>
          </a:xfrm>
          <a:prstGeom xmlns:a="http://schemas.openxmlformats.org/drawingml/2006/main" prst="straightConnector1">
            <a:avLst/>
          </a:prstGeom>
          <a:ln xmlns:a="http://schemas.openxmlformats.org/drawingml/2006/main" w="23813">
            <a:solidFill>
              <a:srgbClr val="187D91"/>
            </a:solidFill>
            <a:tailEnd type="triangle" w="sm" len="sm"/>
          </a:ln>
        </p:spPr>
      </p:cxnSp>
      <p:sp>
        <p:nvSpPr>
          <p:cNvPr id="15" name="Text 3">
            <a:extLst xmlns:a="http://schemas.openxmlformats.org/drawingml/2006/main">
              <a:ext uri="{FF2B5EF4-FFF2-40B4-BE49-F238E27FC236}">
                <a16:creationId xmlns:a16="http://schemas.microsoft.com/office/drawing/2014/main" id="{34246A19-12A5-4FC8-AB60-8297FE3BA583}"/>
              </a:ext>
            </a:extLst>
          </p:cNvPr>
          <p:cNvSpPr>
            <a:spLocks xmlns:a="http://schemas.openxmlformats.org/drawingml/2006/main" noGrp="1"/>
          </p:cNvSpPr>
          <p:nvPr/>
        </p:nvSpPr>
        <p:spPr>
          <a:xfrm xmlns:a="http://schemas.openxmlformats.org/drawingml/2006/main">
            <a:off x="6210300" y="229552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187D91"/>
                </a:solidFill>
                <a:latin typeface="Nimbus Sans"/>
                <a:ea typeface="Nimbus Sans"/>
                <a:cs typeface="Nimbus Sans"/>
              </a:defRPr>
            </a:pPr>
            <a:r>
              <a:rPr sz="3675" b="1">
                <a:solidFill>
                  <a:srgbClr val="187D91"/>
                </a:solidFill>
                <a:latin typeface="Nimbus Sans"/>
                <a:ea typeface="Nimbus Sans"/>
                <a:cs typeface="Nimbus Sans"/>
              </a:rPr>
              <a:t>3</a:t>
            </a:r>
          </a:p>
        </p:txBody>
      </p:sp>
      <p:sp>
        <p:nvSpPr>
          <p:cNvPr id="16" name="diagram">
            <a:extLst xmlns:a="http://schemas.openxmlformats.org/drawingml/2006/main">
              <a:ext uri="{FF2B5EF4-FFF2-40B4-BE49-F238E27FC236}">
                <a16:creationId xmlns:a16="http://schemas.microsoft.com/office/drawing/2014/main" id="{C943F235-389C-44F2-84C0-EEFB09526811}"/>
              </a:ext>
            </a:extLst>
          </p:cNvPr>
          <p:cNvSpPr>
            <a:spLocks xmlns:a="http://schemas.openxmlformats.org/drawingml/2006/main" noGrp="1"/>
          </p:cNvSpPr>
          <p:nvPr/>
        </p:nvSpPr>
        <p:spPr>
          <a:xfrm xmlns:a="http://schemas.openxmlformats.org/drawingml/2006/main">
            <a:off x="6210300" y="3076575"/>
            <a:ext cx="2457450" cy="1857375"/>
          </a:xfrm>
          <a:prstGeom xmlns:a="http://schemas.openxmlformats.org/drawingml/2006/main" prst="roundRect">
            <a:avLst>
              <a:gd name="adj" fmla="val 7179"/>
            </a:avLst>
          </a:prstGeom>
          <a:solidFill xmlns:a="http://schemas.openxmlformats.org/drawingml/2006/main">
            <a:srgbClr val="152E3D"/>
          </a:solidFill>
          <a:ln xmlns:a="http://schemas.openxmlformats.org/drawingml/2006/main" w="0">
            <a:noFill/>
          </a:ln>
        </p:spPr>
      </p:sp>
      <p:sp>
        <p:nvSpPr>
          <p:cNvPr id="17" name="Text Deploy to dev">
            <a:extLst xmlns:a="http://schemas.openxmlformats.org/drawingml/2006/main">
              <a:ext uri="{FF2B5EF4-FFF2-40B4-BE49-F238E27FC236}">
                <a16:creationId xmlns:a16="http://schemas.microsoft.com/office/drawing/2014/main" id="{A5129247-F8F6-4A18-BB50-EAF5A5F6C408}"/>
              </a:ext>
            </a:extLst>
          </p:cNvPr>
          <p:cNvSpPr>
            <a:spLocks xmlns:a="http://schemas.openxmlformats.org/drawingml/2006/main" noGrp="1"/>
          </p:cNvSpPr>
          <p:nvPr/>
        </p:nvSpPr>
        <p:spPr>
          <a:xfrm xmlns:a="http://schemas.openxmlformats.org/drawingml/2006/main">
            <a:off x="6381750" y="32480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Deploy to dev</a:t>
            </a:r>
          </a:p>
        </p:txBody>
      </p:sp>
      <p:sp>
        <p:nvSpPr>
          <p:cNvPr id="18" name="Text Start deployment and follow live lo">
            <a:extLst xmlns:a="http://schemas.openxmlformats.org/drawingml/2006/main">
              <a:ext uri="{FF2B5EF4-FFF2-40B4-BE49-F238E27FC236}">
                <a16:creationId xmlns:a16="http://schemas.microsoft.com/office/drawing/2014/main" id="{ECC0E827-BAEE-409F-BE2C-D31DD29A90B7}"/>
              </a:ext>
            </a:extLst>
          </p:cNvPr>
          <p:cNvSpPr>
            <a:spLocks xmlns:a="http://schemas.openxmlformats.org/drawingml/2006/main" noGrp="1"/>
          </p:cNvSpPr>
          <p:nvPr/>
        </p:nvSpPr>
        <p:spPr>
          <a:xfrm xmlns:a="http://schemas.openxmlformats.org/drawingml/2006/main">
            <a:off x="6381750" y="3867150"/>
            <a:ext cx="2114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7DD6DD"/>
                </a:solidFill>
                <a:latin typeface="Nimbus Sans"/>
                <a:ea typeface="Nimbus Sans"/>
                <a:cs typeface="Nimbus Sans"/>
              </a:defRPr>
            </a:pPr>
            <a:r>
              <a:rPr sz="1650" b="0">
                <a:solidFill>
                  <a:srgbClr val="7DD6DD"/>
                </a:solidFill>
                <a:latin typeface="Nimbus Sans"/>
                <a:ea typeface="Nimbus Sans"/>
                <a:cs typeface="Nimbus Sans"/>
              </a:rPr>
              <a:t>Start deployment and follow live logs</a:t>
            </a:r>
          </a:p>
        </p:txBody>
      </p:sp>
      <p:cxnSp>
        <p:nvCxnSpPr>
          <p:cNvPr id="44" name=""/>
          <p:cNvCxnSpPr>
            <a:stCxn xmlns:a="http://schemas.openxmlformats.org/drawingml/2006/main" id="11" idx="3"/>
            <a:endCxn xmlns:a="http://schemas.openxmlformats.org/drawingml/2006/main" id="16" idx="1"/>
          </p:cNvCxnSpPr>
          <p:nvPr/>
        </p:nvCxnSpPr>
        <p:spPr>
          <a:xfrm xmlns:a="http://schemas.openxmlformats.org/drawingml/2006/main">
            <a:off x="5867400" y="4005263"/>
            <a:ext cx="342900" cy="0"/>
          </a:xfrm>
          <a:prstGeom xmlns:a="http://schemas.openxmlformats.org/drawingml/2006/main" prst="straightConnector1">
            <a:avLst/>
          </a:prstGeom>
          <a:ln xmlns:a="http://schemas.openxmlformats.org/drawingml/2006/main" w="23813">
            <a:solidFill>
              <a:srgbClr val="187D91"/>
            </a:solidFill>
            <a:tailEnd type="triangle" w="sm" len="sm"/>
          </a:ln>
        </p:spPr>
      </p:cxnSp>
      <p:sp>
        <p:nvSpPr>
          <p:cNvPr id="20" name="Text 4">
            <a:extLst xmlns:a="http://schemas.openxmlformats.org/drawingml/2006/main">
              <a:ext uri="{FF2B5EF4-FFF2-40B4-BE49-F238E27FC236}">
                <a16:creationId xmlns:a16="http://schemas.microsoft.com/office/drawing/2014/main" id="{09EAE4DF-E32A-4908-987E-2EE4ED8A0B81}"/>
              </a:ext>
            </a:extLst>
          </p:cNvPr>
          <p:cNvSpPr>
            <a:spLocks xmlns:a="http://schemas.openxmlformats.org/drawingml/2006/main" noGrp="1"/>
          </p:cNvSpPr>
          <p:nvPr/>
        </p:nvSpPr>
        <p:spPr>
          <a:xfrm xmlns:a="http://schemas.openxmlformats.org/drawingml/2006/main">
            <a:off x="9010650" y="229552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187D91"/>
                </a:solidFill>
                <a:latin typeface="Nimbus Sans"/>
                <a:ea typeface="Nimbus Sans"/>
                <a:cs typeface="Nimbus Sans"/>
              </a:defRPr>
            </a:pPr>
            <a:r>
              <a:rPr sz="3675" b="1">
                <a:solidFill>
                  <a:srgbClr val="187D91"/>
                </a:solidFill>
                <a:latin typeface="Nimbus Sans"/>
                <a:ea typeface="Nimbus Sans"/>
                <a:cs typeface="Nimbus Sans"/>
              </a:rPr>
              <a:t>4</a:t>
            </a:r>
          </a:p>
        </p:txBody>
      </p:sp>
      <p:sp>
        <p:nvSpPr>
          <p:cNvPr id="21" name="diagram">
            <a:extLst xmlns:a="http://schemas.openxmlformats.org/drawingml/2006/main">
              <a:ext uri="{FF2B5EF4-FFF2-40B4-BE49-F238E27FC236}">
                <a16:creationId xmlns:a16="http://schemas.microsoft.com/office/drawing/2014/main" id="{F4EAF141-7E4C-48A7-95B5-64777137AC9D}"/>
              </a:ext>
            </a:extLst>
          </p:cNvPr>
          <p:cNvSpPr>
            <a:spLocks xmlns:a="http://schemas.openxmlformats.org/drawingml/2006/main" noGrp="1"/>
          </p:cNvSpPr>
          <p:nvPr/>
        </p:nvSpPr>
        <p:spPr>
          <a:xfrm xmlns:a="http://schemas.openxmlformats.org/drawingml/2006/main">
            <a:off x="9010650" y="3076575"/>
            <a:ext cx="2457450" cy="1857375"/>
          </a:xfrm>
          <a:prstGeom xmlns:a="http://schemas.openxmlformats.org/drawingml/2006/main" prst="roundRect">
            <a:avLst>
              <a:gd name="adj" fmla="val 7179"/>
            </a:avLst>
          </a:prstGeom>
          <a:solidFill xmlns:a="http://schemas.openxmlformats.org/drawingml/2006/main">
            <a:srgbClr val="FFFFFF"/>
          </a:solidFill>
          <a:ln xmlns:a="http://schemas.openxmlformats.org/drawingml/2006/main" w="15240">
            <a:solidFill>
              <a:srgbClr val="D6E2E7"/>
            </a:solidFill>
          </a:ln>
        </p:spPr>
      </p:sp>
      <p:sp>
        <p:nvSpPr>
          <p:cNvPr id="22" name="Text Test and learn">
            <a:extLst xmlns:a="http://schemas.openxmlformats.org/drawingml/2006/main">
              <a:ext uri="{FF2B5EF4-FFF2-40B4-BE49-F238E27FC236}">
                <a16:creationId xmlns:a16="http://schemas.microsoft.com/office/drawing/2014/main" id="{B94BE381-1FFC-4C31-BAEB-6993A8B9EFC1}"/>
              </a:ext>
            </a:extLst>
          </p:cNvPr>
          <p:cNvSpPr>
            <a:spLocks xmlns:a="http://schemas.openxmlformats.org/drawingml/2006/main" noGrp="1"/>
          </p:cNvSpPr>
          <p:nvPr/>
        </p:nvSpPr>
        <p:spPr>
          <a:xfrm xmlns:a="http://schemas.openxmlformats.org/drawingml/2006/main">
            <a:off x="9182100" y="32480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3B4A"/>
                </a:solidFill>
                <a:latin typeface="Nimbus Sans"/>
                <a:ea typeface="Nimbus Sans"/>
                <a:cs typeface="Nimbus Sans"/>
              </a:defRPr>
            </a:pPr>
            <a:r>
              <a:rPr sz="2025" b="1">
                <a:solidFill>
                  <a:srgbClr val="203B4A"/>
                </a:solidFill>
                <a:latin typeface="Nimbus Sans"/>
                <a:ea typeface="Nimbus Sans"/>
                <a:cs typeface="Nimbus Sans"/>
              </a:rPr>
              <a:t>Test and learn</a:t>
            </a:r>
          </a:p>
        </p:txBody>
      </p:sp>
      <p:sp>
        <p:nvSpPr>
          <p:cNvPr id="23" name="Text Invoke the agent and inspect run hi">
            <a:extLst xmlns:a="http://schemas.openxmlformats.org/drawingml/2006/main">
              <a:ext uri="{FF2B5EF4-FFF2-40B4-BE49-F238E27FC236}">
                <a16:creationId xmlns:a16="http://schemas.microsoft.com/office/drawing/2014/main" id="{5916CA08-2AA0-49E9-8943-DFBE3C7D0B17}"/>
              </a:ext>
            </a:extLst>
          </p:cNvPr>
          <p:cNvSpPr>
            <a:spLocks xmlns:a="http://schemas.openxmlformats.org/drawingml/2006/main" noGrp="1"/>
          </p:cNvSpPr>
          <p:nvPr/>
        </p:nvSpPr>
        <p:spPr>
          <a:xfrm xmlns:a="http://schemas.openxmlformats.org/drawingml/2006/main">
            <a:off x="9182100" y="3867150"/>
            <a:ext cx="2114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Invoke the agent and inspect run history</a:t>
            </a:r>
          </a:p>
        </p:txBody>
      </p:sp>
      <p:cxnSp>
        <p:nvCxnSpPr>
          <p:cNvPr id="49" name=""/>
          <p:cNvCxnSpPr>
            <a:stCxn xmlns:a="http://schemas.openxmlformats.org/drawingml/2006/main" id="16" idx="3"/>
            <a:endCxn xmlns:a="http://schemas.openxmlformats.org/drawingml/2006/main" id="21" idx="1"/>
          </p:cNvCxnSpPr>
          <p:nvPr/>
        </p:nvCxnSpPr>
        <p:spPr>
          <a:xfrm xmlns:a="http://schemas.openxmlformats.org/drawingml/2006/main">
            <a:off x="8667750" y="4005263"/>
            <a:ext cx="342900" cy="0"/>
          </a:xfrm>
          <a:prstGeom xmlns:a="http://schemas.openxmlformats.org/drawingml/2006/main" prst="straightConnector1">
            <a:avLst/>
          </a:prstGeom>
          <a:ln xmlns:a="http://schemas.openxmlformats.org/drawingml/2006/main" w="23813">
            <a:solidFill>
              <a:srgbClr val="187D91"/>
            </a:solidFill>
            <a:tailEnd type="triangle" w="sm" len="sm"/>
          </a:ln>
        </p:spPr>
      </p:cxnSp>
      <p:sp>
        <p:nvSpPr>
          <p:cNvPr id="25" name="Text Development deployment is available">
            <a:extLst xmlns:a="http://schemas.openxmlformats.org/drawingml/2006/main">
              <a:ext uri="{FF2B5EF4-FFF2-40B4-BE49-F238E27FC236}">
                <a16:creationId xmlns:a16="http://schemas.microsoft.com/office/drawing/2014/main" id="{A56EB3FF-47DB-4F24-8518-D7C8E7BBD1B6}"/>
              </a:ext>
            </a:extLst>
          </p:cNvPr>
          <p:cNvSpPr>
            <a:spLocks xmlns:a="http://schemas.openxmlformats.org/drawingml/2006/main" noGrp="1"/>
          </p:cNvSpPr>
          <p:nvPr/>
        </p:nvSpPr>
        <p:spPr>
          <a:xfrm xmlns:a="http://schemas.openxmlformats.org/drawingml/2006/main">
            <a:off x="609600" y="5791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A78"/>
                </a:solidFill>
                <a:latin typeface="Nimbus Sans"/>
                <a:ea typeface="Nimbus Sans"/>
                <a:cs typeface="Nimbus Sans"/>
              </a:defRPr>
            </a:pPr>
            <a:r>
              <a:rPr sz="1425" b="0">
                <a:solidFill>
                  <a:srgbClr val="526A78"/>
                </a:solidFill>
                <a:latin typeface="Nimbus Sans"/>
                <a:ea typeface="Nimbus Sans"/>
                <a:cs typeface="Nimbus Sans"/>
              </a:rPr>
              <a:t>Development deployment is available. Enforced approvals and production promotion are next.</a:t>
            </a:r>
          </a:p>
        </p:txBody>
      </p:sp>
    </p:spTree>
    <p:extLst>
      <p:ext uri="{BB962C8B-B14F-4D97-AF65-F5344CB8AC3E}">
        <p14:creationId xmlns:p14="http://schemas.microsoft.com/office/powerpoint/2010/main" val="286525430"/>
      </p:ext>
    </p:extLst>
  </p:cSld>
</p:sld>
</file>

<file path=ppt/slides/slide7.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22" name="Text Security and permissions have a com">
            <a:extLst xmlns:a="http://schemas.openxmlformats.org/drawingml/2006/main">
              <a:ext uri="{FF2B5EF4-FFF2-40B4-BE49-F238E27FC236}">
                <a16:creationId xmlns:a16="http://schemas.microsoft.com/office/drawing/2014/main" id="{5A632F3E-66D9-4716-9E4A-5070979EB745}"/>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52E3D"/>
                </a:solidFill>
                <a:latin typeface="Nimbus Sans"/>
                <a:ea typeface="Nimbus Sans"/>
                <a:cs typeface="Nimbus Sans"/>
              </a:defRPr>
            </a:pPr>
            <a:r>
              <a:rPr sz="3150" b="1">
                <a:solidFill>
                  <a:srgbClr val="152E3D"/>
                </a:solidFill>
                <a:latin typeface="Nimbus Sans"/>
                <a:ea typeface="Nimbus Sans"/>
                <a:cs typeface="Nimbus Sans"/>
              </a:rPr>
              <a:t>Security and permissions have a common home</a:t>
            </a:r>
          </a:p>
        </p:txBody>
      </p:sp>
      <p:sp>
        <p:nvSpPr>
          <p:cNvPr id="2" name="Text A reusable foundation for identity,">
            <a:extLst xmlns:a="http://schemas.openxmlformats.org/drawingml/2006/main">
              <a:ext uri="{FF2B5EF4-FFF2-40B4-BE49-F238E27FC236}">
                <a16:creationId xmlns:a16="http://schemas.microsoft.com/office/drawing/2014/main" id="{9EBFC1FE-AD51-45A3-B172-94FA7C215CEC}"/>
              </a:ext>
            </a:extLst>
          </p:cNvPr>
          <p:cNvSpPr>
            <a:spLocks xmlns:a="http://schemas.openxmlformats.org/drawingml/2006/main" noGrp="1"/>
          </p:cNvSpPr>
          <p:nvPr/>
        </p:nvSpPr>
        <p:spPr>
          <a:xfrm xmlns:a="http://schemas.openxmlformats.org/drawingml/2006/main">
            <a:off x="609600" y="14763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A78"/>
                </a:solidFill>
                <a:latin typeface="Nimbus Sans"/>
                <a:ea typeface="Nimbus Sans"/>
                <a:cs typeface="Nimbus Sans"/>
              </a:defRPr>
            </a:pPr>
            <a:r>
              <a:rPr sz="1725" b="0">
                <a:solidFill>
                  <a:srgbClr val="526A78"/>
                </a:solidFill>
                <a:latin typeface="Nimbus Sans"/>
                <a:ea typeface="Nimbus Sans"/>
                <a:cs typeface="Nimbus Sans"/>
              </a:rPr>
              <a:t>A reusable foundation for identity, ownership, and tool access.</a:t>
            </a:r>
          </a:p>
        </p:txBody>
      </p:sp>
      <p:sp>
        <p:nvSpPr>
          <p:cNvPr id="3" name="">
            <a:extLst xmlns:a="http://schemas.openxmlformats.org/drawingml/2006/main">
              <a:ext uri="{FF2B5EF4-FFF2-40B4-BE49-F238E27FC236}">
                <a16:creationId xmlns:a16="http://schemas.microsoft.com/office/drawing/2014/main" id="{BED74685-7367-4074-B45C-8D76137FBE34}"/>
              </a:ext>
            </a:extLst>
          </p:cNvPr>
          <p:cNvSpPr>
            <a:spLocks xmlns:a="http://schemas.openxmlformats.org/drawingml/2006/main" noGrp="1"/>
          </p:cNvSpPr>
          <p:nvPr/>
        </p:nvSpPr>
        <p:spPr>
          <a:xfrm xmlns:a="http://schemas.openxmlformats.org/drawingml/2006/main">
            <a:off x="609600" y="6448425"/>
            <a:ext cx="10972800" cy="0"/>
          </a:xfrm>
          <a:prstGeom xmlns:a="http://schemas.openxmlformats.org/drawingml/2006/main" prst="line">
            <a:avLst/>
          </a:prstGeom>
          <a:noFill xmlns:a="http://schemas.openxmlformats.org/drawingml/2006/main"/>
          <a:ln xmlns:a="http://schemas.openxmlformats.org/drawingml/2006/main" w="11430">
            <a:solidFill>
              <a:srgbClr val="D6E2E7"/>
            </a:solidFill>
          </a:ln>
        </p:spPr>
      </p:sp>
      <p:sp>
        <p:nvSpPr>
          <p:cNvPr id="4" name="Text GUARDIAN AI  /  CONVERGENCE 2026">
            <a:extLst xmlns:a="http://schemas.openxmlformats.org/drawingml/2006/main">
              <a:ext uri="{FF2B5EF4-FFF2-40B4-BE49-F238E27FC236}">
                <a16:creationId xmlns:a16="http://schemas.microsoft.com/office/drawing/2014/main" id="{C2C69577-195E-4B01-A454-6D4B787101B8}"/>
              </a:ext>
            </a:extLst>
          </p:cNvPr>
          <p:cNvSpPr>
            <a:spLocks xmlns:a="http://schemas.openxmlformats.org/drawingml/2006/main" noGrp="1"/>
          </p:cNvSpPr>
          <p:nvPr/>
        </p:nvSpPr>
        <p:spPr>
          <a:xfrm xmlns:a="http://schemas.openxmlformats.org/drawingml/2006/main">
            <a:off x="609600" y="658177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526A78"/>
                </a:solidFill>
                <a:latin typeface="Nimbus Sans"/>
                <a:ea typeface="Nimbus Sans"/>
                <a:cs typeface="Nimbus Sans"/>
              </a:defRPr>
            </a:pPr>
            <a:r>
              <a:rPr sz="975" b="1">
                <a:solidFill>
                  <a:srgbClr val="526A78"/>
                </a:solidFill>
                <a:latin typeface="Nimbus Sans"/>
                <a:ea typeface="Nimbus Sans"/>
                <a:cs typeface="Nimbus Sans"/>
              </a:rPr>
              <a:t>GUARDIAN AI  /  CONVERGENCE 2026</a:t>
            </a:r>
          </a:p>
        </p:txBody>
      </p:sp>
      <p:sp>
        <p:nvSpPr>
          <p:cNvPr id="5" name="Text 07">
            <a:extLst xmlns:a="http://schemas.openxmlformats.org/drawingml/2006/main">
              <a:ext uri="{FF2B5EF4-FFF2-40B4-BE49-F238E27FC236}">
                <a16:creationId xmlns:a16="http://schemas.microsoft.com/office/drawing/2014/main" id="{7FFAC98C-2752-43E3-A05B-90494D3F13CB}"/>
              </a:ext>
            </a:extLst>
          </p:cNvPr>
          <p:cNvSpPr>
            <a:spLocks xmlns:a="http://schemas.openxmlformats.org/drawingml/2006/main" noGrp="1"/>
          </p:cNvSpPr>
          <p:nvPr/>
        </p:nvSpPr>
        <p:spPr>
          <a:xfrm xmlns:a="http://schemas.openxmlformats.org/drawingml/2006/main">
            <a:off x="11096625" y="65722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A78"/>
                </a:solidFill>
                <a:latin typeface="Nimbus Sans"/>
                <a:ea typeface="Nimbus Sans"/>
                <a:cs typeface="Nimbus Sans"/>
              </a:defRPr>
            </a:pPr>
            <a:r>
              <a:rPr sz="1050" b="0">
                <a:solidFill>
                  <a:srgbClr val="526A78"/>
                </a:solidFill>
                <a:latin typeface="Nimbus Sans"/>
                <a:ea typeface="Nimbus Sans"/>
                <a:cs typeface="Nimbus Sans"/>
              </a:rPr>
              <a:t>07</a:t>
            </a:r>
          </a:p>
        </p:txBody>
      </p:sp>
      <p:sp>
        <p:nvSpPr>
          <p:cNvPr id="6" name="diagram">
            <a:extLst xmlns:a="http://schemas.openxmlformats.org/drawingml/2006/main">
              <a:ext uri="{FF2B5EF4-FFF2-40B4-BE49-F238E27FC236}">
                <a16:creationId xmlns:a16="http://schemas.microsoft.com/office/drawing/2014/main" id="{2FB9F96D-FADA-41A8-A1EE-DC53608BCBDE}"/>
              </a:ext>
            </a:extLst>
          </p:cNvPr>
          <p:cNvSpPr>
            <a:spLocks xmlns:a="http://schemas.openxmlformats.org/drawingml/2006/main" noGrp="1"/>
          </p:cNvSpPr>
          <p:nvPr/>
        </p:nvSpPr>
        <p:spPr>
          <a:xfrm xmlns:a="http://schemas.openxmlformats.org/drawingml/2006/main">
            <a:off x="609600" y="2428875"/>
            <a:ext cx="3409950" cy="1895475"/>
          </a:xfrm>
          <a:prstGeom xmlns:a="http://schemas.openxmlformats.org/drawingml/2006/main" prst="roundRect">
            <a:avLst>
              <a:gd name="adj" fmla="val 7035"/>
            </a:avLst>
          </a:prstGeom>
          <a:solidFill xmlns:a="http://schemas.openxmlformats.org/drawingml/2006/main">
            <a:srgbClr val="FFFFFF"/>
          </a:solidFill>
          <a:ln xmlns:a="http://schemas.openxmlformats.org/drawingml/2006/main" w="15240">
            <a:solidFill>
              <a:srgbClr val="D6E2E7"/>
            </a:solidFill>
          </a:ln>
        </p:spPr>
      </p:sp>
      <p:sp>
        <p:nvSpPr>
          <p:cNvPr id="7" name="Text Who are you?">
            <a:extLst xmlns:a="http://schemas.openxmlformats.org/drawingml/2006/main">
              <a:ext uri="{FF2B5EF4-FFF2-40B4-BE49-F238E27FC236}">
                <a16:creationId xmlns:a16="http://schemas.microsoft.com/office/drawing/2014/main" id="{9C974BD4-D23E-4A7D-9689-7B9C63FE3851}"/>
              </a:ext>
            </a:extLst>
          </p:cNvPr>
          <p:cNvSpPr>
            <a:spLocks xmlns:a="http://schemas.openxmlformats.org/drawingml/2006/main" noGrp="1"/>
          </p:cNvSpPr>
          <p:nvPr/>
        </p:nvSpPr>
        <p:spPr>
          <a:xfrm xmlns:a="http://schemas.openxmlformats.org/drawingml/2006/main">
            <a:off x="781050" y="2600325"/>
            <a:ext cx="3067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3B4A"/>
                </a:solidFill>
                <a:latin typeface="Nimbus Sans"/>
                <a:ea typeface="Nimbus Sans"/>
                <a:cs typeface="Nimbus Sans"/>
              </a:defRPr>
            </a:pPr>
            <a:r>
              <a:rPr sz="2025" b="1">
                <a:solidFill>
                  <a:srgbClr val="203B4A"/>
                </a:solidFill>
                <a:latin typeface="Nimbus Sans"/>
                <a:ea typeface="Nimbus Sans"/>
                <a:cs typeface="Nimbus Sans"/>
              </a:rPr>
              <a:t>Who are you?</a:t>
            </a:r>
          </a:p>
        </p:txBody>
      </p:sp>
      <p:sp>
        <p:nvSpPr>
          <p:cNvPr id="8" name="Text Enterprise sign-in">
            <a:extLst xmlns:a="http://schemas.openxmlformats.org/drawingml/2006/main">
              <a:ext uri="{FF2B5EF4-FFF2-40B4-BE49-F238E27FC236}">
                <a16:creationId xmlns:a16="http://schemas.microsoft.com/office/drawing/2014/main" id="{C3D6C186-B033-4CC4-B946-48BEBA2ACF08}"/>
              </a:ext>
            </a:extLst>
          </p:cNvPr>
          <p:cNvSpPr>
            <a:spLocks xmlns:a="http://schemas.openxmlformats.org/drawingml/2006/main" noGrp="1"/>
          </p:cNvSpPr>
          <p:nvPr/>
        </p:nvSpPr>
        <p:spPr>
          <a:xfrm xmlns:a="http://schemas.openxmlformats.org/drawingml/2006/main">
            <a:off x="781050" y="3219450"/>
            <a:ext cx="30670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Enterprise sign-in</a:t>
            </a:r>
          </a:p>
        </p:txBody>
      </p:sp>
      <p:sp>
        <p:nvSpPr>
          <p:cNvPr id="9" name="Text Microsoft Entra">
            <a:extLst xmlns:a="http://schemas.openxmlformats.org/drawingml/2006/main">
              <a:ext uri="{FF2B5EF4-FFF2-40B4-BE49-F238E27FC236}">
                <a16:creationId xmlns:a16="http://schemas.microsoft.com/office/drawing/2014/main" id="{ECBECBB9-CEE7-4769-ADC5-0C01943BB4D0}"/>
              </a:ext>
            </a:extLst>
          </p:cNvPr>
          <p:cNvSpPr>
            <a:spLocks xmlns:a="http://schemas.openxmlformats.org/drawingml/2006/main" noGrp="1"/>
          </p:cNvSpPr>
          <p:nvPr/>
        </p:nvSpPr>
        <p:spPr>
          <a:xfrm xmlns:a="http://schemas.openxmlformats.org/drawingml/2006/main">
            <a:off x="609600" y="4686300"/>
            <a:ext cx="3409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1">
                <a:solidFill>
                  <a:srgbClr val="187D91"/>
                </a:solidFill>
                <a:latin typeface="Nimbus Sans"/>
                <a:ea typeface="Nimbus Sans"/>
                <a:cs typeface="Nimbus Sans"/>
              </a:defRPr>
            </a:pPr>
            <a:r>
              <a:rPr sz="1875" b="1">
                <a:solidFill>
                  <a:srgbClr val="187D91"/>
                </a:solidFill>
                <a:latin typeface="Nimbus Sans"/>
                <a:ea typeface="Nimbus Sans"/>
                <a:cs typeface="Nimbus Sans"/>
              </a:rPr>
              <a:t>Microsoft Entra</a:t>
            </a:r>
          </a:p>
        </p:txBody>
      </p:sp>
      <p:sp>
        <p:nvSpPr>
          <p:cNvPr id="10" name="diagram">
            <a:extLst xmlns:a="http://schemas.openxmlformats.org/drawingml/2006/main">
              <a:ext uri="{FF2B5EF4-FFF2-40B4-BE49-F238E27FC236}">
                <a16:creationId xmlns:a16="http://schemas.microsoft.com/office/drawing/2014/main" id="{6D55EE72-AAB6-4F4F-B757-460310643B91}"/>
              </a:ext>
            </a:extLst>
          </p:cNvPr>
          <p:cNvSpPr>
            <a:spLocks xmlns:a="http://schemas.openxmlformats.org/drawingml/2006/main" noGrp="1"/>
          </p:cNvSpPr>
          <p:nvPr/>
        </p:nvSpPr>
        <p:spPr>
          <a:xfrm xmlns:a="http://schemas.openxmlformats.org/drawingml/2006/main">
            <a:off x="4391025" y="2428875"/>
            <a:ext cx="3409950" cy="1895475"/>
          </a:xfrm>
          <a:prstGeom xmlns:a="http://schemas.openxmlformats.org/drawingml/2006/main" prst="roundRect">
            <a:avLst>
              <a:gd name="adj" fmla="val 7035"/>
            </a:avLst>
          </a:prstGeom>
          <a:solidFill xmlns:a="http://schemas.openxmlformats.org/drawingml/2006/main">
            <a:srgbClr val="FFFFFF"/>
          </a:solidFill>
          <a:ln xmlns:a="http://schemas.openxmlformats.org/drawingml/2006/main" w="15240">
            <a:solidFill>
              <a:srgbClr val="D6E2E7"/>
            </a:solidFill>
          </a:ln>
        </p:spPr>
      </p:sp>
      <p:sp>
        <p:nvSpPr>
          <p:cNvPr id="11" name="Text Which team owns it?">
            <a:extLst xmlns:a="http://schemas.openxmlformats.org/drawingml/2006/main">
              <a:ext uri="{FF2B5EF4-FFF2-40B4-BE49-F238E27FC236}">
                <a16:creationId xmlns:a16="http://schemas.microsoft.com/office/drawing/2014/main" id="{34710100-DE60-4C45-8FC9-5F98D319B2F3}"/>
              </a:ext>
            </a:extLst>
          </p:cNvPr>
          <p:cNvSpPr>
            <a:spLocks xmlns:a="http://schemas.openxmlformats.org/drawingml/2006/main" noGrp="1"/>
          </p:cNvSpPr>
          <p:nvPr/>
        </p:nvSpPr>
        <p:spPr>
          <a:xfrm xmlns:a="http://schemas.openxmlformats.org/drawingml/2006/main">
            <a:off x="4562475" y="2600325"/>
            <a:ext cx="3067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3B4A"/>
                </a:solidFill>
                <a:latin typeface="Nimbus Sans"/>
                <a:ea typeface="Nimbus Sans"/>
                <a:cs typeface="Nimbus Sans"/>
              </a:defRPr>
            </a:pPr>
            <a:r>
              <a:rPr sz="2025" b="1">
                <a:solidFill>
                  <a:srgbClr val="203B4A"/>
                </a:solidFill>
                <a:latin typeface="Nimbus Sans"/>
                <a:ea typeface="Nimbus Sans"/>
                <a:cs typeface="Nimbus Sans"/>
              </a:rPr>
              <a:t>Which team owns it?</a:t>
            </a:r>
          </a:p>
        </p:txBody>
      </p:sp>
      <p:sp>
        <p:nvSpPr>
          <p:cNvPr id="12" name="Text Organization and project roles">
            <a:extLst xmlns:a="http://schemas.openxmlformats.org/drawingml/2006/main">
              <a:ext uri="{FF2B5EF4-FFF2-40B4-BE49-F238E27FC236}">
                <a16:creationId xmlns:a16="http://schemas.microsoft.com/office/drawing/2014/main" id="{29B9708E-2AC3-4795-9F69-0123D232B5ED}"/>
              </a:ext>
            </a:extLst>
          </p:cNvPr>
          <p:cNvSpPr>
            <a:spLocks xmlns:a="http://schemas.openxmlformats.org/drawingml/2006/main" noGrp="1"/>
          </p:cNvSpPr>
          <p:nvPr/>
        </p:nvSpPr>
        <p:spPr>
          <a:xfrm xmlns:a="http://schemas.openxmlformats.org/drawingml/2006/main">
            <a:off x="4562475" y="3219450"/>
            <a:ext cx="30670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Organization and project roles</a:t>
            </a:r>
          </a:p>
        </p:txBody>
      </p:sp>
      <p:cxnSp>
        <p:nvCxnSpPr>
          <p:cNvPr id="34" name=""/>
          <p:cNvCxnSpPr>
            <a:stCxn xmlns:a="http://schemas.openxmlformats.org/drawingml/2006/main" id="6" idx="3"/>
            <a:endCxn xmlns:a="http://schemas.openxmlformats.org/drawingml/2006/main" id="10" idx="1"/>
          </p:cNvCxnSpPr>
          <p:nvPr/>
        </p:nvCxnSpPr>
        <p:spPr>
          <a:xfrm xmlns:a="http://schemas.openxmlformats.org/drawingml/2006/main">
            <a:off x="4019550" y="3376613"/>
            <a:ext cx="371475" cy="0"/>
          </a:xfrm>
          <a:prstGeom xmlns:a="http://schemas.openxmlformats.org/drawingml/2006/main" prst="straightConnector1">
            <a:avLst/>
          </a:prstGeom>
          <a:ln xmlns:a="http://schemas.openxmlformats.org/drawingml/2006/main" w="23813">
            <a:solidFill>
              <a:srgbClr val="187D91"/>
            </a:solidFill>
            <a:tailEnd type="triangle" w="sm" len="sm"/>
          </a:ln>
        </p:spPr>
      </p:cxnSp>
      <p:sp>
        <p:nvSpPr>
          <p:cNvPr id="14" name="Text Guardian workspaces">
            <a:extLst xmlns:a="http://schemas.openxmlformats.org/drawingml/2006/main">
              <a:ext uri="{FF2B5EF4-FFF2-40B4-BE49-F238E27FC236}">
                <a16:creationId xmlns:a16="http://schemas.microsoft.com/office/drawing/2014/main" id="{AF87C997-3979-405C-A3C9-D64C3A29973A}"/>
              </a:ext>
            </a:extLst>
          </p:cNvPr>
          <p:cNvSpPr>
            <a:spLocks xmlns:a="http://schemas.openxmlformats.org/drawingml/2006/main" noGrp="1"/>
          </p:cNvSpPr>
          <p:nvPr/>
        </p:nvSpPr>
        <p:spPr>
          <a:xfrm xmlns:a="http://schemas.openxmlformats.org/drawingml/2006/main">
            <a:off x="4391025" y="4686300"/>
            <a:ext cx="3409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1">
                <a:solidFill>
                  <a:srgbClr val="187D91"/>
                </a:solidFill>
                <a:latin typeface="Nimbus Sans"/>
                <a:ea typeface="Nimbus Sans"/>
                <a:cs typeface="Nimbus Sans"/>
              </a:defRPr>
            </a:pPr>
            <a:r>
              <a:rPr sz="1875" b="1">
                <a:solidFill>
                  <a:srgbClr val="187D91"/>
                </a:solidFill>
                <a:latin typeface="Nimbus Sans"/>
                <a:ea typeface="Nimbus Sans"/>
                <a:cs typeface="Nimbus Sans"/>
              </a:rPr>
              <a:t>Guardian workspaces</a:t>
            </a:r>
          </a:p>
        </p:txBody>
      </p:sp>
      <p:sp>
        <p:nvSpPr>
          <p:cNvPr id="15" name="diagram">
            <a:extLst xmlns:a="http://schemas.openxmlformats.org/drawingml/2006/main">
              <a:ext uri="{FF2B5EF4-FFF2-40B4-BE49-F238E27FC236}">
                <a16:creationId xmlns:a16="http://schemas.microsoft.com/office/drawing/2014/main" id="{757D57A5-6E82-4511-9C03-5897F0DA67E8}"/>
              </a:ext>
            </a:extLst>
          </p:cNvPr>
          <p:cNvSpPr>
            <a:spLocks xmlns:a="http://schemas.openxmlformats.org/drawingml/2006/main" noGrp="1"/>
          </p:cNvSpPr>
          <p:nvPr/>
        </p:nvSpPr>
        <p:spPr>
          <a:xfrm xmlns:a="http://schemas.openxmlformats.org/drawingml/2006/main">
            <a:off x="8172450" y="2428875"/>
            <a:ext cx="3409950" cy="1895475"/>
          </a:xfrm>
          <a:prstGeom xmlns:a="http://schemas.openxmlformats.org/drawingml/2006/main" prst="roundRect">
            <a:avLst>
              <a:gd name="adj" fmla="val 7035"/>
            </a:avLst>
          </a:prstGeom>
          <a:solidFill xmlns:a="http://schemas.openxmlformats.org/drawingml/2006/main">
            <a:srgbClr val="FFFFFF"/>
          </a:solidFill>
          <a:ln xmlns:a="http://schemas.openxmlformats.org/drawingml/2006/main" w="15240">
            <a:solidFill>
              <a:srgbClr val="D6E2E7"/>
            </a:solidFill>
          </a:ln>
        </p:spPr>
      </p:sp>
      <p:sp>
        <p:nvSpPr>
          <p:cNvPr id="16" name="Text What may it use?">
            <a:extLst xmlns:a="http://schemas.openxmlformats.org/drawingml/2006/main">
              <a:ext uri="{FF2B5EF4-FFF2-40B4-BE49-F238E27FC236}">
                <a16:creationId xmlns:a16="http://schemas.microsoft.com/office/drawing/2014/main" id="{5C60A178-56EE-4417-832E-920C209835D7}"/>
              </a:ext>
            </a:extLst>
          </p:cNvPr>
          <p:cNvSpPr>
            <a:spLocks xmlns:a="http://schemas.openxmlformats.org/drawingml/2006/main" noGrp="1"/>
          </p:cNvSpPr>
          <p:nvPr/>
        </p:nvSpPr>
        <p:spPr>
          <a:xfrm xmlns:a="http://schemas.openxmlformats.org/drawingml/2006/main">
            <a:off x="8343900" y="2600325"/>
            <a:ext cx="3067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3B4A"/>
                </a:solidFill>
                <a:latin typeface="Nimbus Sans"/>
                <a:ea typeface="Nimbus Sans"/>
                <a:cs typeface="Nimbus Sans"/>
              </a:defRPr>
            </a:pPr>
            <a:r>
              <a:rPr sz="2025" b="1">
                <a:solidFill>
                  <a:srgbClr val="203B4A"/>
                </a:solidFill>
                <a:latin typeface="Nimbus Sans"/>
                <a:ea typeface="Nimbus Sans"/>
                <a:cs typeface="Nimbus Sans"/>
              </a:rPr>
              <a:t>What may it use?</a:t>
            </a:r>
          </a:p>
        </p:txBody>
      </p:sp>
      <p:sp>
        <p:nvSpPr>
          <p:cNvPr id="17" name="Text Agent tool grants and policies">
            <a:extLst xmlns:a="http://schemas.openxmlformats.org/drawingml/2006/main">
              <a:ext uri="{FF2B5EF4-FFF2-40B4-BE49-F238E27FC236}">
                <a16:creationId xmlns:a16="http://schemas.microsoft.com/office/drawing/2014/main" id="{161AFF04-39C0-4EBB-9134-8A371DEE3E79}"/>
              </a:ext>
            </a:extLst>
          </p:cNvPr>
          <p:cNvSpPr>
            <a:spLocks xmlns:a="http://schemas.openxmlformats.org/drawingml/2006/main" noGrp="1"/>
          </p:cNvSpPr>
          <p:nvPr/>
        </p:nvSpPr>
        <p:spPr>
          <a:xfrm xmlns:a="http://schemas.openxmlformats.org/drawingml/2006/main">
            <a:off x="8343900" y="3219450"/>
            <a:ext cx="30670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Agent tool grants and policies</a:t>
            </a:r>
          </a:p>
        </p:txBody>
      </p:sp>
      <p:cxnSp>
        <p:nvCxnSpPr>
          <p:cNvPr id="39" name=""/>
          <p:cNvCxnSpPr>
            <a:stCxn xmlns:a="http://schemas.openxmlformats.org/drawingml/2006/main" id="10" idx="3"/>
            <a:endCxn xmlns:a="http://schemas.openxmlformats.org/drawingml/2006/main" id="15" idx="1"/>
          </p:cNvCxnSpPr>
          <p:nvPr/>
        </p:nvCxnSpPr>
        <p:spPr>
          <a:xfrm xmlns:a="http://schemas.openxmlformats.org/drawingml/2006/main">
            <a:off x="7800975" y="3376613"/>
            <a:ext cx="371475" cy="0"/>
          </a:xfrm>
          <a:prstGeom xmlns:a="http://schemas.openxmlformats.org/drawingml/2006/main" prst="straightConnector1">
            <a:avLst/>
          </a:prstGeom>
          <a:ln xmlns:a="http://schemas.openxmlformats.org/drawingml/2006/main" w="23813">
            <a:solidFill>
              <a:srgbClr val="187D91"/>
            </a:solidFill>
            <a:tailEnd type="triangle" w="sm" len="sm"/>
          </a:ln>
        </p:spPr>
      </p:cxnSp>
      <p:sp>
        <p:nvSpPr>
          <p:cNvPr id="19" name="Text Approved tool access">
            <a:extLst xmlns:a="http://schemas.openxmlformats.org/drawingml/2006/main">
              <a:ext uri="{FF2B5EF4-FFF2-40B4-BE49-F238E27FC236}">
                <a16:creationId xmlns:a16="http://schemas.microsoft.com/office/drawing/2014/main" id="{9CA0020D-18EC-431A-9EBD-687E277DA3B5}"/>
              </a:ext>
            </a:extLst>
          </p:cNvPr>
          <p:cNvSpPr>
            <a:spLocks xmlns:a="http://schemas.openxmlformats.org/drawingml/2006/main" noGrp="1"/>
          </p:cNvSpPr>
          <p:nvPr/>
        </p:nvSpPr>
        <p:spPr>
          <a:xfrm xmlns:a="http://schemas.openxmlformats.org/drawingml/2006/main">
            <a:off x="8172450" y="4686300"/>
            <a:ext cx="3409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1">
                <a:solidFill>
                  <a:srgbClr val="187D91"/>
                </a:solidFill>
                <a:latin typeface="Nimbus Sans"/>
                <a:ea typeface="Nimbus Sans"/>
                <a:cs typeface="Nimbus Sans"/>
              </a:defRPr>
            </a:pPr>
            <a:r>
              <a:rPr sz="1875" b="1">
                <a:solidFill>
                  <a:srgbClr val="187D91"/>
                </a:solidFill>
                <a:latin typeface="Nimbus Sans"/>
                <a:ea typeface="Nimbus Sans"/>
                <a:cs typeface="Nimbus Sans"/>
              </a:rPr>
              <a:t>Approved tool access</a:t>
            </a:r>
          </a:p>
        </p:txBody>
      </p:sp>
      <p:sp>
        <p:nvSpPr>
          <p:cNvPr id="20" name="diagram">
            <a:extLst xmlns:a="http://schemas.openxmlformats.org/drawingml/2006/main">
              <a:ext uri="{FF2B5EF4-FFF2-40B4-BE49-F238E27FC236}">
                <a16:creationId xmlns:a16="http://schemas.microsoft.com/office/drawing/2014/main" id="{6182B40F-1267-46A7-A2E0-F85F82D6C61C}"/>
              </a:ext>
            </a:extLst>
          </p:cNvPr>
          <p:cNvSpPr>
            <a:spLocks xmlns:a="http://schemas.openxmlformats.org/drawingml/2006/main" noGrp="1"/>
          </p:cNvSpPr>
          <p:nvPr/>
        </p:nvSpPr>
        <p:spPr>
          <a:xfrm xmlns:a="http://schemas.openxmlformats.org/drawingml/2006/main">
            <a:off x="609600" y="5476875"/>
            <a:ext cx="10972800" cy="628650"/>
          </a:xfrm>
          <a:prstGeom xmlns:a="http://schemas.openxmlformats.org/drawingml/2006/main" prst="roundRect">
            <a:avLst>
              <a:gd name="adj" fmla="val 15152"/>
            </a:avLst>
          </a:prstGeom>
          <a:solidFill xmlns:a="http://schemas.openxmlformats.org/drawingml/2006/main">
            <a:srgbClr val="FFF3E8"/>
          </a:solidFill>
          <a:ln xmlns:a="http://schemas.openxmlformats.org/drawingml/2006/main" w="0">
            <a:noFill/>
          </a:ln>
        </p:spPr>
      </p:sp>
      <p:sp>
        <p:nvSpPr>
          <p:cNvPr id="21" name="Text Next milestone: consistent permissi">
            <a:extLst xmlns:a="http://schemas.openxmlformats.org/drawingml/2006/main">
              <a:ext uri="{FF2B5EF4-FFF2-40B4-BE49-F238E27FC236}">
                <a16:creationId xmlns:a16="http://schemas.microsoft.com/office/drawing/2014/main" id="{3DBD0A7A-E270-463C-BA54-274F442A3496}"/>
              </a:ext>
            </a:extLst>
          </p:cNvPr>
          <p:cNvSpPr>
            <a:spLocks xmlns:a="http://schemas.openxmlformats.org/drawingml/2006/main" noGrp="1"/>
          </p:cNvSpPr>
          <p:nvPr/>
        </p:nvSpPr>
        <p:spPr>
          <a:xfrm xmlns:a="http://schemas.openxmlformats.org/drawingml/2006/main">
            <a:off x="838200" y="5648325"/>
            <a:ext cx="1051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A76517"/>
                </a:solidFill>
                <a:latin typeface="Nimbus Sans"/>
                <a:ea typeface="Nimbus Sans"/>
                <a:cs typeface="Nimbus Sans"/>
              </a:defRPr>
            </a:pPr>
            <a:r>
              <a:rPr sz="1875" b="1">
                <a:solidFill>
                  <a:srgbClr val="A76517"/>
                </a:solidFill>
                <a:latin typeface="Nimbus Sans"/>
                <a:ea typeface="Nimbus Sans"/>
                <a:cs typeface="Nimbus Sans"/>
              </a:rPr>
              <a:t>Next milestone: consistent permission checks and reliable approval enforcement.</a:t>
            </a:r>
          </a:p>
        </p:txBody>
      </p:sp>
    </p:spTree>
    <p:extLst>
      <p:ext uri="{BB962C8B-B14F-4D97-AF65-F5344CB8AC3E}">
        <p14:creationId xmlns:p14="http://schemas.microsoft.com/office/powerpoint/2010/main" val="1377422893"/>
      </p:ext>
    </p:extLst>
  </p:cSld>
</p:sld>
</file>

<file path=ppt/slides/slide8.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22" name="Text Visibility supports both operations">
            <a:extLst xmlns:a="http://schemas.openxmlformats.org/drawingml/2006/main">
              <a:ext uri="{FF2B5EF4-FFF2-40B4-BE49-F238E27FC236}">
                <a16:creationId xmlns:a16="http://schemas.microsoft.com/office/drawing/2014/main" id="{B35812AF-3AFA-4392-B0BC-7D1BE21D9D7D}"/>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52E3D"/>
                </a:solidFill>
                <a:latin typeface="Nimbus Sans"/>
                <a:ea typeface="Nimbus Sans"/>
                <a:cs typeface="Nimbus Sans"/>
              </a:defRPr>
            </a:pPr>
            <a:r>
              <a:rPr sz="3150" b="1">
                <a:solidFill>
                  <a:srgbClr val="152E3D"/>
                </a:solidFill>
                <a:latin typeface="Nimbus Sans"/>
                <a:ea typeface="Nimbus Sans"/>
                <a:cs typeface="Nimbus Sans"/>
              </a:rPr>
              <a:t>FinOps and operational visibility</a:t>
            </a:r>
          </a:p>
        </p:txBody>
      </p:sp>
      <p:sp>
        <p:nvSpPr>
          <p:cNvPr id="2" name="Text Observability explains activity. Fi">
            <a:extLst xmlns:a="http://schemas.openxmlformats.org/drawingml/2006/main">
              <a:ext uri="{FF2B5EF4-FFF2-40B4-BE49-F238E27FC236}">
                <a16:creationId xmlns:a16="http://schemas.microsoft.com/office/drawing/2014/main" id="{398D8CAE-D3B8-4CB9-9F3F-C19BA77807EC}"/>
              </a:ext>
            </a:extLst>
          </p:cNvPr>
          <p:cNvSpPr>
            <a:spLocks xmlns:a="http://schemas.openxmlformats.org/drawingml/2006/main" noGrp="1"/>
          </p:cNvSpPr>
          <p:nvPr/>
        </p:nvSpPr>
        <p:spPr>
          <a:xfrm xmlns:a="http://schemas.openxmlformats.org/drawingml/2006/main">
            <a:off x="609600" y="13811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FinOps (Financial Operations) is an operational framework and cultural practice that connects technology decisions with financial accountability to maximize the business value of cloud spending.</a:t>
            </a:r>
          </a:p>
        </p:txBody>
      </p:sp>
      <p:sp>
        <p:nvSpPr>
          <p:cNvPr id="3" name="">
            <a:extLst xmlns:a="http://schemas.openxmlformats.org/drawingml/2006/main">
              <a:ext uri="{FF2B5EF4-FFF2-40B4-BE49-F238E27FC236}">
                <a16:creationId xmlns:a16="http://schemas.microsoft.com/office/drawing/2014/main" id="{733C0FE0-300A-4212-9C54-B1D9148AAABB}"/>
              </a:ext>
            </a:extLst>
          </p:cNvPr>
          <p:cNvSpPr>
            <a:spLocks xmlns:a="http://schemas.openxmlformats.org/drawingml/2006/main" noGrp="1"/>
          </p:cNvSpPr>
          <p:nvPr/>
        </p:nvSpPr>
        <p:spPr>
          <a:xfrm xmlns:a="http://schemas.openxmlformats.org/drawingml/2006/main">
            <a:off x="609600" y="6448425"/>
            <a:ext cx="10972800" cy="0"/>
          </a:xfrm>
          <a:prstGeom xmlns:a="http://schemas.openxmlformats.org/drawingml/2006/main" prst="line">
            <a:avLst/>
          </a:prstGeom>
          <a:noFill xmlns:a="http://schemas.openxmlformats.org/drawingml/2006/main"/>
          <a:ln xmlns:a="http://schemas.openxmlformats.org/drawingml/2006/main" w="11430">
            <a:solidFill>
              <a:srgbClr val="D6E2E7"/>
            </a:solidFill>
          </a:ln>
        </p:spPr>
      </p:sp>
      <p:sp>
        <p:nvSpPr>
          <p:cNvPr id="4" name="Text GUARDIAN AI  /  CONVERGENCE 2026">
            <a:extLst xmlns:a="http://schemas.openxmlformats.org/drawingml/2006/main">
              <a:ext uri="{FF2B5EF4-FFF2-40B4-BE49-F238E27FC236}">
                <a16:creationId xmlns:a16="http://schemas.microsoft.com/office/drawing/2014/main" id="{B0452D57-0F57-47B9-8625-C6A1AC7D7412}"/>
              </a:ext>
            </a:extLst>
          </p:cNvPr>
          <p:cNvSpPr>
            <a:spLocks xmlns:a="http://schemas.openxmlformats.org/drawingml/2006/main" noGrp="1"/>
          </p:cNvSpPr>
          <p:nvPr/>
        </p:nvSpPr>
        <p:spPr>
          <a:xfrm xmlns:a="http://schemas.openxmlformats.org/drawingml/2006/main">
            <a:off x="609600" y="658177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526A78"/>
                </a:solidFill>
                <a:latin typeface="Nimbus Sans"/>
                <a:ea typeface="Nimbus Sans"/>
                <a:cs typeface="Nimbus Sans"/>
              </a:defRPr>
            </a:pPr>
            <a:r>
              <a:rPr sz="975" b="1">
                <a:solidFill>
                  <a:srgbClr val="526A78"/>
                </a:solidFill>
                <a:latin typeface="Nimbus Sans"/>
                <a:ea typeface="Nimbus Sans"/>
                <a:cs typeface="Nimbus Sans"/>
              </a:rPr>
              <a:t>GUARDIAN AI  /  CONVERGENCE 2026</a:t>
            </a:r>
          </a:p>
        </p:txBody>
      </p:sp>
      <p:sp>
        <p:nvSpPr>
          <p:cNvPr id="5" name="Text 08">
            <a:extLst xmlns:a="http://schemas.openxmlformats.org/drawingml/2006/main">
              <a:ext uri="{FF2B5EF4-FFF2-40B4-BE49-F238E27FC236}">
                <a16:creationId xmlns:a16="http://schemas.microsoft.com/office/drawing/2014/main" id="{F7BF8B43-7B7B-4640-B77C-BF9DCE9C940A}"/>
              </a:ext>
            </a:extLst>
          </p:cNvPr>
          <p:cNvSpPr>
            <a:spLocks xmlns:a="http://schemas.openxmlformats.org/drawingml/2006/main" noGrp="1"/>
          </p:cNvSpPr>
          <p:nvPr/>
        </p:nvSpPr>
        <p:spPr>
          <a:xfrm xmlns:a="http://schemas.openxmlformats.org/drawingml/2006/main">
            <a:off x="11096625" y="65722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A78"/>
                </a:solidFill>
                <a:latin typeface="Nimbus Sans"/>
                <a:ea typeface="Nimbus Sans"/>
                <a:cs typeface="Nimbus Sans"/>
              </a:defRPr>
            </a:pPr>
            <a:r>
              <a:rPr sz="1050" b="0">
                <a:solidFill>
                  <a:srgbClr val="526A78"/>
                </a:solidFill>
                <a:latin typeface="Nimbus Sans"/>
                <a:ea typeface="Nimbus Sans"/>
                <a:cs typeface="Nimbus Sans"/>
              </a:rPr>
              <a:t>08</a:t>
            </a:r>
          </a:p>
        </p:txBody>
      </p:sp>
      <p:sp>
        <p:nvSpPr>
          <p:cNvPr id="6" name="Text WORKING FOUNDATION">
            <a:extLst xmlns:a="http://schemas.openxmlformats.org/drawingml/2006/main">
              <a:ext uri="{FF2B5EF4-FFF2-40B4-BE49-F238E27FC236}">
                <a16:creationId xmlns:a16="http://schemas.microsoft.com/office/drawing/2014/main" id="{77D7CC2A-8309-4A52-94F5-D86DA5B21617}"/>
              </a:ext>
            </a:extLst>
          </p:cNvPr>
          <p:cNvSpPr>
            <a:spLocks xmlns:a="http://schemas.openxmlformats.org/drawingml/2006/main" noGrp="1"/>
          </p:cNvSpPr>
          <p:nvPr/>
        </p:nvSpPr>
        <p:spPr>
          <a:xfrm xmlns:a="http://schemas.openxmlformats.org/drawingml/2006/main">
            <a:off x="609600" y="230505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237E5E"/>
                </a:solidFill>
                <a:latin typeface="Nimbus Sans"/>
                <a:ea typeface="Nimbus Sans"/>
                <a:cs typeface="Nimbus Sans"/>
              </a:defRPr>
            </a:pPr>
            <a:r>
              <a:rPr sz="1500" b="1">
                <a:solidFill>
                  <a:srgbClr val="237E5E"/>
                </a:solidFill>
                <a:latin typeface="Nimbus Sans"/>
                <a:ea typeface="Nimbus Sans"/>
                <a:cs typeface="Nimbus Sans"/>
              </a:rPr>
              <a:t>WORKING FOUNDATION</a:t>
            </a:r>
          </a:p>
        </p:txBody>
      </p:sp>
      <p:sp>
        <p:nvSpPr>
          <p:cNvPr id="7" name="Text NEXT CAPABILITIES">
            <a:extLst xmlns:a="http://schemas.openxmlformats.org/drawingml/2006/main">
              <a:ext uri="{FF2B5EF4-FFF2-40B4-BE49-F238E27FC236}">
                <a16:creationId xmlns:a16="http://schemas.microsoft.com/office/drawing/2014/main" id="{B3B05481-B7A9-4F14-AE67-7150D15F3B0B}"/>
              </a:ext>
            </a:extLst>
          </p:cNvPr>
          <p:cNvSpPr>
            <a:spLocks xmlns:a="http://schemas.openxmlformats.org/drawingml/2006/main" noGrp="1"/>
          </p:cNvSpPr>
          <p:nvPr/>
        </p:nvSpPr>
        <p:spPr>
          <a:xfrm xmlns:a="http://schemas.openxmlformats.org/drawingml/2006/main">
            <a:off x="7029450" y="2305050"/>
            <a:ext cx="4552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A76517"/>
                </a:solidFill>
                <a:latin typeface="Nimbus Sans"/>
                <a:ea typeface="Nimbus Sans"/>
                <a:cs typeface="Nimbus Sans"/>
              </a:defRPr>
            </a:pPr>
            <a:r>
              <a:rPr sz="1500" b="1">
                <a:solidFill>
                  <a:srgbClr val="A76517"/>
                </a:solidFill>
                <a:latin typeface="Nimbus Sans"/>
                <a:ea typeface="Nimbus Sans"/>
                <a:cs typeface="Nimbus Sans"/>
              </a:rPr>
              <a:t>NEXT CAPABILITIES</a:t>
            </a:r>
          </a:p>
        </p:txBody>
      </p:sp>
      <p:sp>
        <p:nvSpPr>
          <p:cNvPr id="8" name="diagram">
            <a:extLst xmlns:a="http://schemas.openxmlformats.org/drawingml/2006/main">
              <a:ext uri="{FF2B5EF4-FFF2-40B4-BE49-F238E27FC236}">
                <a16:creationId xmlns:a16="http://schemas.microsoft.com/office/drawing/2014/main" id="{B32DF12B-5293-4345-AAD0-6485D9B532AE}"/>
              </a:ext>
            </a:extLst>
          </p:cNvPr>
          <p:cNvSpPr>
            <a:spLocks xmlns:a="http://schemas.openxmlformats.org/drawingml/2006/main" noGrp="1"/>
          </p:cNvSpPr>
          <p:nvPr/>
        </p:nvSpPr>
        <p:spPr>
          <a:xfrm xmlns:a="http://schemas.openxmlformats.org/drawingml/2006/main">
            <a:off x="609600" y="2657475"/>
            <a:ext cx="4495800" cy="140017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5240">
            <a:solidFill>
              <a:srgbClr val="D6E2E7"/>
            </a:solidFill>
          </a:ln>
        </p:spPr>
      </p:sp>
      <p:sp>
        <p:nvSpPr>
          <p:cNvPr id="9" name="Text Run history">
            <a:extLst xmlns:a="http://schemas.openxmlformats.org/drawingml/2006/main">
              <a:ext uri="{FF2B5EF4-FFF2-40B4-BE49-F238E27FC236}">
                <a16:creationId xmlns:a16="http://schemas.microsoft.com/office/drawing/2014/main" id="{1A01792B-F299-4CDF-94A2-1E2868E80288}"/>
              </a:ext>
            </a:extLst>
          </p:cNvPr>
          <p:cNvSpPr>
            <a:spLocks xmlns:a="http://schemas.openxmlformats.org/drawingml/2006/main" noGrp="1"/>
          </p:cNvSpPr>
          <p:nvPr/>
        </p:nvSpPr>
        <p:spPr>
          <a:xfrm xmlns:a="http://schemas.openxmlformats.org/drawingml/2006/main">
            <a:off x="781050" y="2828925"/>
            <a:ext cx="4152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3B4A"/>
                </a:solidFill>
                <a:latin typeface="Nimbus Sans"/>
                <a:ea typeface="Nimbus Sans"/>
                <a:cs typeface="Nimbus Sans"/>
              </a:defRPr>
            </a:pPr>
            <a:r>
              <a:rPr sz="2025" b="1">
                <a:solidFill>
                  <a:srgbClr val="203B4A"/>
                </a:solidFill>
                <a:latin typeface="Nimbus Sans"/>
                <a:ea typeface="Nimbus Sans"/>
                <a:cs typeface="Nimbus Sans"/>
              </a:rPr>
              <a:t>Run history</a:t>
            </a:r>
          </a:p>
        </p:txBody>
      </p:sp>
      <p:sp>
        <p:nvSpPr>
          <p:cNvPr id="10" name="Text What ran, who owns it, and what hap">
            <a:extLst xmlns:a="http://schemas.openxmlformats.org/drawingml/2006/main">
              <a:ext uri="{FF2B5EF4-FFF2-40B4-BE49-F238E27FC236}">
                <a16:creationId xmlns:a16="http://schemas.microsoft.com/office/drawing/2014/main" id="{7647C9F7-85C4-406E-BBEE-E8B66D427CB1}"/>
              </a:ext>
            </a:extLst>
          </p:cNvPr>
          <p:cNvSpPr>
            <a:spLocks xmlns:a="http://schemas.openxmlformats.org/drawingml/2006/main" noGrp="1"/>
          </p:cNvSpPr>
          <p:nvPr/>
        </p:nvSpPr>
        <p:spPr>
          <a:xfrm xmlns:a="http://schemas.openxmlformats.org/drawingml/2006/main">
            <a:off x="781050" y="3448050"/>
            <a:ext cx="4152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What ran, who owns it, and what happened</a:t>
            </a:r>
          </a:p>
        </p:txBody>
      </p:sp>
      <p:sp>
        <p:nvSpPr>
          <p:cNvPr id="11" name="diagram">
            <a:extLst xmlns:a="http://schemas.openxmlformats.org/drawingml/2006/main">
              <a:ext uri="{FF2B5EF4-FFF2-40B4-BE49-F238E27FC236}">
                <a16:creationId xmlns:a16="http://schemas.microsoft.com/office/drawing/2014/main" id="{0EBE702A-A81E-4C6A-953E-39D03BC29B75}"/>
              </a:ext>
            </a:extLst>
          </p:cNvPr>
          <p:cNvSpPr>
            <a:spLocks xmlns:a="http://schemas.openxmlformats.org/drawingml/2006/main" noGrp="1"/>
          </p:cNvSpPr>
          <p:nvPr/>
        </p:nvSpPr>
        <p:spPr>
          <a:xfrm xmlns:a="http://schemas.openxmlformats.org/drawingml/2006/main">
            <a:off x="609600" y="4352925"/>
            <a:ext cx="4495800" cy="1400175"/>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5240">
            <a:solidFill>
              <a:srgbClr val="D6E2E7"/>
            </a:solidFill>
          </a:ln>
        </p:spPr>
      </p:sp>
      <p:sp>
        <p:nvSpPr>
          <p:cNvPr id="12" name="Text Token usage">
            <a:extLst xmlns:a="http://schemas.openxmlformats.org/drawingml/2006/main">
              <a:ext uri="{FF2B5EF4-FFF2-40B4-BE49-F238E27FC236}">
                <a16:creationId xmlns:a16="http://schemas.microsoft.com/office/drawing/2014/main" id="{4FA4F0C3-F6BD-4D4E-8104-07F4F7935BAF}"/>
              </a:ext>
            </a:extLst>
          </p:cNvPr>
          <p:cNvSpPr>
            <a:spLocks xmlns:a="http://schemas.openxmlformats.org/drawingml/2006/main" noGrp="1"/>
          </p:cNvSpPr>
          <p:nvPr/>
        </p:nvSpPr>
        <p:spPr>
          <a:xfrm xmlns:a="http://schemas.openxmlformats.org/drawingml/2006/main">
            <a:off x="781050" y="4524375"/>
            <a:ext cx="4152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3B4A"/>
                </a:solidFill>
                <a:latin typeface="Nimbus Sans"/>
                <a:ea typeface="Nimbus Sans"/>
                <a:cs typeface="Nimbus Sans"/>
              </a:defRPr>
            </a:pPr>
            <a:r>
              <a:rPr sz="2025" b="1">
                <a:solidFill>
                  <a:srgbClr val="203B4A"/>
                </a:solidFill>
                <a:latin typeface="Nimbus Sans"/>
                <a:ea typeface="Nimbus Sans"/>
                <a:cs typeface="Nimbus Sans"/>
              </a:rPr>
              <a:t>Token usage</a:t>
            </a:r>
          </a:p>
        </p:txBody>
      </p:sp>
      <p:sp>
        <p:nvSpPr>
          <p:cNvPr id="13" name="Text Per-run counts provide a starting p">
            <a:extLst xmlns:a="http://schemas.openxmlformats.org/drawingml/2006/main">
              <a:ext uri="{FF2B5EF4-FFF2-40B4-BE49-F238E27FC236}">
                <a16:creationId xmlns:a16="http://schemas.microsoft.com/office/drawing/2014/main" id="{E23CA6BA-96CC-4DE9-B8B9-B350DC10D571}"/>
              </a:ext>
            </a:extLst>
          </p:cNvPr>
          <p:cNvSpPr>
            <a:spLocks xmlns:a="http://schemas.openxmlformats.org/drawingml/2006/main" noGrp="1"/>
          </p:cNvSpPr>
          <p:nvPr/>
        </p:nvSpPr>
        <p:spPr>
          <a:xfrm xmlns:a="http://schemas.openxmlformats.org/drawingml/2006/main">
            <a:off x="781050" y="5143500"/>
            <a:ext cx="4152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Per-run counts provide a starting point</a:t>
            </a:r>
          </a:p>
        </p:txBody>
      </p:sp>
      <p:sp>
        <p:nvSpPr>
          <p:cNvPr id="14" name="">
            <a:extLst xmlns:a="http://schemas.openxmlformats.org/drawingml/2006/main">
              <a:ext uri="{FF2B5EF4-FFF2-40B4-BE49-F238E27FC236}">
                <a16:creationId xmlns:a16="http://schemas.microsoft.com/office/drawing/2014/main" id="{F4712F5E-279A-480B-AC4D-7D47EAF8A4E5}"/>
              </a:ext>
            </a:extLst>
          </p:cNvPr>
          <p:cNvSpPr>
            <a:spLocks xmlns:a="http://schemas.openxmlformats.org/drawingml/2006/main" noGrp="1"/>
          </p:cNvSpPr>
          <p:nvPr/>
        </p:nvSpPr>
        <p:spPr>
          <a:xfrm xmlns:a="http://schemas.openxmlformats.org/drawingml/2006/main">
            <a:off x="5581650" y="3962400"/>
            <a:ext cx="819150" cy="476250"/>
          </a:xfrm>
          <a:prstGeom xmlns:a="http://schemas.openxmlformats.org/drawingml/2006/main" prst="rightArrow">
            <a:avLst/>
          </a:prstGeom>
          <a:solidFill xmlns:a="http://schemas.openxmlformats.org/drawingml/2006/main">
            <a:srgbClr val="187D91"/>
          </a:solidFill>
          <a:ln xmlns:a="http://schemas.openxmlformats.org/drawingml/2006/main" w="0">
            <a:noFill/>
          </a:ln>
        </p:spPr>
      </p:sp>
      <p:sp>
        <p:nvSpPr>
          <p:cNvPr id="15" name="diagram">
            <a:extLst xmlns:a="http://schemas.openxmlformats.org/drawingml/2006/main">
              <a:ext uri="{FF2B5EF4-FFF2-40B4-BE49-F238E27FC236}">
                <a16:creationId xmlns:a16="http://schemas.microsoft.com/office/drawing/2014/main" id="{95008EC1-FD45-46E9-8B61-05E9B858EDAE}"/>
              </a:ext>
            </a:extLst>
          </p:cNvPr>
          <p:cNvSpPr>
            <a:spLocks xmlns:a="http://schemas.openxmlformats.org/drawingml/2006/main" noGrp="1"/>
          </p:cNvSpPr>
          <p:nvPr/>
        </p:nvSpPr>
        <p:spPr>
          <a:xfrm xmlns:a="http://schemas.openxmlformats.org/drawingml/2006/main">
            <a:off x="7029450" y="2657475"/>
            <a:ext cx="4552950" cy="1400175"/>
          </a:xfrm>
          <a:prstGeom xmlns:a="http://schemas.openxmlformats.org/drawingml/2006/main" prst="roundRect">
            <a:avLst>
              <a:gd name="adj" fmla="val 9524"/>
            </a:avLst>
          </a:prstGeom>
          <a:solidFill xmlns:a="http://schemas.openxmlformats.org/drawingml/2006/main">
            <a:srgbClr val="E6F3F5"/>
          </a:solidFill>
          <a:ln xmlns:a="http://schemas.openxmlformats.org/drawingml/2006/main" w="0">
            <a:noFill/>
          </a:ln>
        </p:spPr>
      </p:sp>
      <p:sp>
        <p:nvSpPr>
          <p:cNvPr id="16" name="Text End-to-end tracing">
            <a:extLst xmlns:a="http://schemas.openxmlformats.org/drawingml/2006/main">
              <a:ext uri="{FF2B5EF4-FFF2-40B4-BE49-F238E27FC236}">
                <a16:creationId xmlns:a16="http://schemas.microsoft.com/office/drawing/2014/main" id="{0CCC3DEF-FEA1-4C57-8549-1FCB5A63EC15}"/>
              </a:ext>
            </a:extLst>
          </p:cNvPr>
          <p:cNvSpPr>
            <a:spLocks xmlns:a="http://schemas.openxmlformats.org/drawingml/2006/main" noGrp="1"/>
          </p:cNvSpPr>
          <p:nvPr/>
        </p:nvSpPr>
        <p:spPr>
          <a:xfrm xmlns:a="http://schemas.openxmlformats.org/drawingml/2006/main">
            <a:off x="7200900" y="2828925"/>
            <a:ext cx="4210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3B4A"/>
                </a:solidFill>
                <a:latin typeface="Nimbus Sans"/>
                <a:ea typeface="Nimbus Sans"/>
                <a:cs typeface="Nimbus Sans"/>
              </a:defRPr>
            </a:pPr>
            <a:r>
              <a:rPr sz="2025" b="1">
                <a:solidFill>
                  <a:srgbClr val="203B4A"/>
                </a:solidFill>
                <a:latin typeface="Nimbus Sans"/>
                <a:ea typeface="Nimbus Sans"/>
                <a:cs typeface="Nimbus Sans"/>
              </a:rPr>
              <a:t>End-to-end tracing</a:t>
            </a:r>
          </a:p>
        </p:txBody>
      </p:sp>
      <p:sp>
        <p:nvSpPr>
          <p:cNvPr id="17" name="Text Follow activity across agent and to">
            <a:extLst xmlns:a="http://schemas.openxmlformats.org/drawingml/2006/main">
              <a:ext uri="{FF2B5EF4-FFF2-40B4-BE49-F238E27FC236}">
                <a16:creationId xmlns:a16="http://schemas.microsoft.com/office/drawing/2014/main" id="{D4BE32A0-F995-4554-80D6-85E38C1AE703}"/>
              </a:ext>
            </a:extLst>
          </p:cNvPr>
          <p:cNvSpPr>
            <a:spLocks xmlns:a="http://schemas.openxmlformats.org/drawingml/2006/main" noGrp="1"/>
          </p:cNvSpPr>
          <p:nvPr/>
        </p:nvSpPr>
        <p:spPr>
          <a:xfrm xmlns:a="http://schemas.openxmlformats.org/drawingml/2006/main">
            <a:off x="7200900" y="3448050"/>
            <a:ext cx="4210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Follow activity across agent and tool calls</a:t>
            </a:r>
          </a:p>
        </p:txBody>
      </p:sp>
      <p:sp>
        <p:nvSpPr>
          <p:cNvPr id="18" name="diagram">
            <a:extLst xmlns:a="http://schemas.openxmlformats.org/drawingml/2006/main">
              <a:ext uri="{FF2B5EF4-FFF2-40B4-BE49-F238E27FC236}">
                <a16:creationId xmlns:a16="http://schemas.microsoft.com/office/drawing/2014/main" id="{C45950B9-154A-4327-AE00-5D8E769A726B}"/>
              </a:ext>
            </a:extLst>
          </p:cNvPr>
          <p:cNvSpPr>
            <a:spLocks xmlns:a="http://schemas.openxmlformats.org/drawingml/2006/main" noGrp="1"/>
          </p:cNvSpPr>
          <p:nvPr/>
        </p:nvSpPr>
        <p:spPr>
          <a:xfrm xmlns:a="http://schemas.openxmlformats.org/drawingml/2006/main">
            <a:off x="7029450" y="4352925"/>
            <a:ext cx="4552950" cy="1400175"/>
          </a:xfrm>
          <a:prstGeom xmlns:a="http://schemas.openxmlformats.org/drawingml/2006/main" prst="roundRect">
            <a:avLst>
              <a:gd name="adj" fmla="val 9524"/>
            </a:avLst>
          </a:prstGeom>
          <a:solidFill xmlns:a="http://schemas.openxmlformats.org/drawingml/2006/main">
            <a:srgbClr val="E6F3F5"/>
          </a:solidFill>
          <a:ln xmlns:a="http://schemas.openxmlformats.org/drawingml/2006/main" w="0">
            <a:noFill/>
          </a:ln>
        </p:spPr>
      </p:sp>
      <p:sp>
        <p:nvSpPr>
          <p:cNvPr id="19" name="Text FinOps reporting">
            <a:extLst xmlns:a="http://schemas.openxmlformats.org/drawingml/2006/main">
              <a:ext uri="{FF2B5EF4-FFF2-40B4-BE49-F238E27FC236}">
                <a16:creationId xmlns:a16="http://schemas.microsoft.com/office/drawing/2014/main" id="{215D6CBF-3D3E-4769-AA9F-CFE6DBC3189E}"/>
              </a:ext>
            </a:extLst>
          </p:cNvPr>
          <p:cNvSpPr>
            <a:spLocks xmlns:a="http://schemas.openxmlformats.org/drawingml/2006/main" noGrp="1"/>
          </p:cNvSpPr>
          <p:nvPr/>
        </p:nvSpPr>
        <p:spPr>
          <a:xfrm xmlns:a="http://schemas.openxmlformats.org/drawingml/2006/main">
            <a:off x="7200900" y="4524375"/>
            <a:ext cx="4210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03B4A"/>
                </a:solidFill>
                <a:latin typeface="Nimbus Sans"/>
                <a:ea typeface="Nimbus Sans"/>
                <a:cs typeface="Nimbus Sans"/>
              </a:defRPr>
            </a:pPr>
            <a:r>
              <a:rPr sz="2025" b="1">
                <a:solidFill>
                  <a:srgbClr val="203B4A"/>
                </a:solidFill>
                <a:latin typeface="Nimbus Sans"/>
                <a:ea typeface="Nimbus Sans"/>
                <a:cs typeface="Nimbus Sans"/>
              </a:rPr>
              <a:t>Reporting supports FinOps</a:t>
            </a:r>
          </a:p>
        </p:txBody>
      </p:sp>
      <p:sp>
        <p:nvSpPr>
          <p:cNvPr id="20" name="Text Apply pricing and allocate cost to ">
            <a:extLst xmlns:a="http://schemas.openxmlformats.org/drawingml/2006/main">
              <a:ext uri="{FF2B5EF4-FFF2-40B4-BE49-F238E27FC236}">
                <a16:creationId xmlns:a16="http://schemas.microsoft.com/office/drawing/2014/main" id="{8E408027-00A1-472F-80BA-F8C29C91E1EB}"/>
              </a:ext>
            </a:extLst>
          </p:cNvPr>
          <p:cNvSpPr>
            <a:spLocks xmlns:a="http://schemas.openxmlformats.org/drawingml/2006/main" noGrp="1"/>
          </p:cNvSpPr>
          <p:nvPr/>
        </p:nvSpPr>
        <p:spPr>
          <a:xfrm xmlns:a="http://schemas.openxmlformats.org/drawingml/2006/main">
            <a:off x="7200900" y="5143500"/>
            <a:ext cx="4210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A78"/>
                </a:solidFill>
                <a:latin typeface="Nimbus Sans"/>
                <a:ea typeface="Nimbus Sans"/>
                <a:cs typeface="Nimbus Sans"/>
              </a:defRPr>
            </a:pPr>
            <a:r>
              <a:rPr sz="1650" b="0">
                <a:solidFill>
                  <a:srgbClr val="526A78"/>
                </a:solidFill>
                <a:latin typeface="Nimbus Sans"/>
                <a:ea typeface="Nimbus Sans"/>
                <a:cs typeface="Nimbus Sans"/>
              </a:rPr>
              <a:t>Apply pricing and allocate cost to teams</a:t>
            </a:r>
          </a:p>
        </p:txBody>
      </p:sp>
      <p:sp>
        <p:nvSpPr>
          <p:cNvPr id="21" name="Text Run history exists today. Tracing a">
            <a:extLst xmlns:a="http://schemas.openxmlformats.org/drawingml/2006/main">
              <a:ext uri="{FF2B5EF4-FFF2-40B4-BE49-F238E27FC236}">
                <a16:creationId xmlns:a16="http://schemas.microsoft.com/office/drawing/2014/main" id="{065A5332-3D25-4309-9092-C5D5A13F44FC}"/>
              </a:ext>
            </a:extLst>
          </p:cNvPr>
          <p:cNvSpPr>
            <a:spLocks xmlns:a="http://schemas.openxmlformats.org/drawingml/2006/main" noGrp="1"/>
          </p:cNvSpPr>
          <p:nvPr/>
        </p:nvSpPr>
        <p:spPr>
          <a:xfrm xmlns:a="http://schemas.openxmlformats.org/drawingml/2006/main">
            <a:off x="609600" y="6038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A78"/>
                </a:solidFill>
                <a:latin typeface="Nimbus Sans"/>
                <a:ea typeface="Nimbus Sans"/>
                <a:cs typeface="Nimbus Sans"/>
              </a:defRPr>
            </a:pPr>
            <a:r>
              <a:rPr sz="1425" b="0">
                <a:solidFill>
                  <a:srgbClr val="526A78"/>
                </a:solidFill>
                <a:latin typeface="Nimbus Sans"/>
                <a:ea typeface="Nimbus Sans"/>
                <a:cs typeface="Nimbus Sans"/>
              </a:rPr>
              <a:t>Run history exists today. Tracing activation and cost reporting are still to be delivered.</a:t>
            </a:r>
          </a:p>
        </p:txBody>
      </p:sp>
    </p:spTree>
    <p:extLst>
      <p:ext uri="{BB962C8B-B14F-4D97-AF65-F5344CB8AC3E}">
        <p14:creationId xmlns:p14="http://schemas.microsoft.com/office/powerpoint/2010/main" val="175404946"/>
      </p:ext>
    </p:extLst>
  </p:cSld>
</p:sld>
</file>

<file path=ppt/slides/slide9.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20" name="Text Example: an assistant for employee ">
            <a:extLst xmlns:a="http://schemas.openxmlformats.org/drawingml/2006/main">
              <a:ext uri="{FF2B5EF4-FFF2-40B4-BE49-F238E27FC236}">
                <a16:creationId xmlns:a16="http://schemas.microsoft.com/office/drawing/2014/main" id="{B410DB05-3FFB-4897-8D84-ECE107DA469F}"/>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52E3D"/>
                </a:solidFill>
                <a:latin typeface="Nimbus Sans"/>
                <a:ea typeface="Nimbus Sans"/>
                <a:cs typeface="Nimbus Sans"/>
              </a:defRPr>
            </a:pPr>
            <a:r>
              <a:rPr sz="3150" b="1">
                <a:solidFill>
                  <a:srgbClr val="152E3D"/>
                </a:solidFill>
                <a:latin typeface="Nimbus Sans"/>
                <a:ea typeface="Nimbus Sans"/>
                <a:cs typeface="Nimbus Sans"/>
              </a:rPr>
              <a:t>Example: an assistant for employee service questions</a:t>
            </a:r>
          </a:p>
        </p:txBody>
      </p:sp>
      <p:sp>
        <p:nvSpPr>
          <p:cNvPr id="2" name="Text The business team defines helpful b">
            <a:extLst xmlns:a="http://schemas.openxmlformats.org/drawingml/2006/main">
              <a:ext uri="{FF2B5EF4-FFF2-40B4-BE49-F238E27FC236}">
                <a16:creationId xmlns:a16="http://schemas.microsoft.com/office/drawing/2014/main" id="{F4AAAC41-9BAB-4C2D-B543-BCBDA376736D}"/>
              </a:ext>
            </a:extLst>
          </p:cNvPr>
          <p:cNvSpPr>
            <a:spLocks xmlns:a="http://schemas.openxmlformats.org/drawingml/2006/main" noGrp="1"/>
          </p:cNvSpPr>
          <p:nvPr/>
        </p:nvSpPr>
        <p:spPr>
          <a:xfrm xmlns:a="http://schemas.openxmlformats.org/drawingml/2006/main">
            <a:off x="609600" y="14763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A78"/>
                </a:solidFill>
                <a:latin typeface="Nimbus Sans"/>
                <a:ea typeface="Nimbus Sans"/>
                <a:cs typeface="Nimbus Sans"/>
              </a:defRPr>
            </a:pPr>
            <a:r>
              <a:rPr sz="1725" b="0">
                <a:solidFill>
                  <a:srgbClr val="526A78"/>
                </a:solidFill>
                <a:latin typeface="Nimbus Sans"/>
                <a:ea typeface="Nimbus Sans"/>
                <a:cs typeface="Nimbus Sans"/>
              </a:rPr>
              <a:t>The business team defines helpful behavior. The platform supports delivery.</a:t>
            </a:r>
          </a:p>
        </p:txBody>
      </p:sp>
      <p:sp>
        <p:nvSpPr>
          <p:cNvPr id="3" name="">
            <a:extLst xmlns:a="http://schemas.openxmlformats.org/drawingml/2006/main">
              <a:ext uri="{FF2B5EF4-FFF2-40B4-BE49-F238E27FC236}">
                <a16:creationId xmlns:a16="http://schemas.microsoft.com/office/drawing/2014/main" id="{3E3C8391-8A7D-4201-92A2-384D67BF3E33}"/>
              </a:ext>
            </a:extLst>
          </p:cNvPr>
          <p:cNvSpPr>
            <a:spLocks xmlns:a="http://schemas.openxmlformats.org/drawingml/2006/main" noGrp="1"/>
          </p:cNvSpPr>
          <p:nvPr/>
        </p:nvSpPr>
        <p:spPr>
          <a:xfrm xmlns:a="http://schemas.openxmlformats.org/drawingml/2006/main">
            <a:off x="609600" y="6448425"/>
            <a:ext cx="10972800" cy="0"/>
          </a:xfrm>
          <a:prstGeom xmlns:a="http://schemas.openxmlformats.org/drawingml/2006/main" prst="line">
            <a:avLst/>
          </a:prstGeom>
          <a:noFill xmlns:a="http://schemas.openxmlformats.org/drawingml/2006/main"/>
          <a:ln xmlns:a="http://schemas.openxmlformats.org/drawingml/2006/main" w="11430">
            <a:solidFill>
              <a:srgbClr val="D6E2E7"/>
            </a:solidFill>
          </a:ln>
        </p:spPr>
      </p:sp>
      <p:sp>
        <p:nvSpPr>
          <p:cNvPr id="4" name="Text GUARDIAN AI  /  CONVERGENCE 2026">
            <a:extLst xmlns:a="http://schemas.openxmlformats.org/drawingml/2006/main">
              <a:ext uri="{FF2B5EF4-FFF2-40B4-BE49-F238E27FC236}">
                <a16:creationId xmlns:a16="http://schemas.microsoft.com/office/drawing/2014/main" id="{EAF1FF50-462B-4DB4-8C41-8391E44B925F}"/>
              </a:ext>
            </a:extLst>
          </p:cNvPr>
          <p:cNvSpPr>
            <a:spLocks xmlns:a="http://schemas.openxmlformats.org/drawingml/2006/main" noGrp="1"/>
          </p:cNvSpPr>
          <p:nvPr/>
        </p:nvSpPr>
        <p:spPr>
          <a:xfrm xmlns:a="http://schemas.openxmlformats.org/drawingml/2006/main">
            <a:off x="609600" y="658177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526A78"/>
                </a:solidFill>
                <a:latin typeface="Nimbus Sans"/>
                <a:ea typeface="Nimbus Sans"/>
                <a:cs typeface="Nimbus Sans"/>
              </a:defRPr>
            </a:pPr>
            <a:r>
              <a:rPr sz="975" b="1">
                <a:solidFill>
                  <a:srgbClr val="526A78"/>
                </a:solidFill>
                <a:latin typeface="Nimbus Sans"/>
                <a:ea typeface="Nimbus Sans"/>
                <a:cs typeface="Nimbus Sans"/>
              </a:rPr>
              <a:t>GUARDIAN AI  /  CONVERGENCE 2026</a:t>
            </a:r>
          </a:p>
        </p:txBody>
      </p:sp>
      <p:sp>
        <p:nvSpPr>
          <p:cNvPr id="5" name="Text 09">
            <a:extLst xmlns:a="http://schemas.openxmlformats.org/drawingml/2006/main">
              <a:ext uri="{FF2B5EF4-FFF2-40B4-BE49-F238E27FC236}">
                <a16:creationId xmlns:a16="http://schemas.microsoft.com/office/drawing/2014/main" id="{61B3551E-E347-47E2-B156-292F558E360E}"/>
              </a:ext>
            </a:extLst>
          </p:cNvPr>
          <p:cNvSpPr>
            <a:spLocks xmlns:a="http://schemas.openxmlformats.org/drawingml/2006/main" noGrp="1"/>
          </p:cNvSpPr>
          <p:nvPr/>
        </p:nvSpPr>
        <p:spPr>
          <a:xfrm xmlns:a="http://schemas.openxmlformats.org/drawingml/2006/main">
            <a:off x="11096625" y="65722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A78"/>
                </a:solidFill>
                <a:latin typeface="Nimbus Sans"/>
                <a:ea typeface="Nimbus Sans"/>
                <a:cs typeface="Nimbus Sans"/>
              </a:defRPr>
            </a:pPr>
            <a:r>
              <a:rPr sz="1050" b="0">
                <a:solidFill>
                  <a:srgbClr val="526A78"/>
                </a:solidFill>
                <a:latin typeface="Nimbus Sans"/>
                <a:ea typeface="Nimbus Sans"/>
                <a:cs typeface="Nimbus Sans"/>
              </a:rPr>
              <a:t>09</a:t>
            </a:r>
          </a:p>
        </p:txBody>
      </p:sp>
      <p:sp>
        <p:nvSpPr>
          <p:cNvPr id="6" name="diagram">
            <a:extLst xmlns:a="http://schemas.openxmlformats.org/drawingml/2006/main">
              <a:ext uri="{FF2B5EF4-FFF2-40B4-BE49-F238E27FC236}">
                <a16:creationId xmlns:a16="http://schemas.microsoft.com/office/drawing/2014/main" id="{A23C3E09-5B8E-42EC-B554-9702C229E54F}"/>
              </a:ext>
            </a:extLst>
          </p:cNvPr>
          <p:cNvSpPr>
            <a:spLocks xmlns:a="http://schemas.openxmlformats.org/drawingml/2006/main" noGrp="1"/>
          </p:cNvSpPr>
          <p:nvPr/>
        </p:nvSpPr>
        <p:spPr>
          <a:xfrm xmlns:a="http://schemas.openxmlformats.org/drawingml/2006/main">
            <a:off x="609600" y="2343150"/>
            <a:ext cx="3009900" cy="1866900"/>
          </a:xfrm>
          <a:prstGeom xmlns:a="http://schemas.openxmlformats.org/drawingml/2006/main" prst="roundRect">
            <a:avLst>
              <a:gd name="adj" fmla="val 7143"/>
            </a:avLst>
          </a:prstGeom>
          <a:solidFill xmlns:a="http://schemas.openxmlformats.org/drawingml/2006/main">
            <a:srgbClr val="152E3D"/>
          </a:solidFill>
          <a:ln xmlns:a="http://schemas.openxmlformats.org/drawingml/2006/main" w="0">
            <a:noFill/>
          </a:ln>
        </p:spPr>
      </p:sp>
      <p:sp>
        <p:nvSpPr>
          <p:cNvPr id="7" name="Text Business outcome">
            <a:extLst xmlns:a="http://schemas.openxmlformats.org/drawingml/2006/main">
              <a:ext uri="{FF2B5EF4-FFF2-40B4-BE49-F238E27FC236}">
                <a16:creationId xmlns:a16="http://schemas.microsoft.com/office/drawing/2014/main" id="{A32AFA52-FBBB-44AD-A853-8DE2D2C9C158}"/>
              </a:ext>
            </a:extLst>
          </p:cNvPr>
          <p:cNvSpPr>
            <a:spLocks xmlns:a="http://schemas.openxmlformats.org/drawingml/2006/main" noGrp="1"/>
          </p:cNvSpPr>
          <p:nvPr/>
        </p:nvSpPr>
        <p:spPr>
          <a:xfrm xmlns:a="http://schemas.openxmlformats.org/drawingml/2006/main">
            <a:off x="781050" y="251460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Business outcome</a:t>
            </a:r>
          </a:p>
        </p:txBody>
      </p:sp>
      <p:sp>
        <p:nvSpPr>
          <p:cNvPr id="8" name="Text Help an employee find a relevant an">
            <a:extLst xmlns:a="http://schemas.openxmlformats.org/drawingml/2006/main">
              <a:ext uri="{FF2B5EF4-FFF2-40B4-BE49-F238E27FC236}">
                <a16:creationId xmlns:a16="http://schemas.microsoft.com/office/drawing/2014/main" id="{088BB036-511B-4D30-A42B-F4F87478C168}"/>
              </a:ext>
            </a:extLst>
          </p:cNvPr>
          <p:cNvSpPr>
            <a:spLocks xmlns:a="http://schemas.openxmlformats.org/drawingml/2006/main" noGrp="1"/>
          </p:cNvSpPr>
          <p:nvPr/>
        </p:nvSpPr>
        <p:spPr>
          <a:xfrm xmlns:a="http://schemas.openxmlformats.org/drawingml/2006/main">
            <a:off x="781050" y="3133725"/>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7DD6DD"/>
                </a:solidFill>
                <a:latin typeface="Nimbus Sans"/>
                <a:ea typeface="Nimbus Sans"/>
                <a:cs typeface="Nimbus Sans"/>
              </a:defRPr>
            </a:pPr>
            <a:r>
              <a:rPr sz="1650" b="0">
                <a:solidFill>
                  <a:srgbClr val="7DD6DD"/>
                </a:solidFill>
                <a:latin typeface="Nimbus Sans"/>
                <a:ea typeface="Nimbus Sans"/>
                <a:cs typeface="Nimbus Sans"/>
              </a:rPr>
              <a:t>Help an employee find a relevant answer</a:t>
            </a:r>
          </a:p>
        </p:txBody>
      </p:sp>
      <p:sp>
        <p:nvSpPr>
          <p:cNvPr id="9" name="Text Define">
            <a:extLst xmlns:a="http://schemas.openxmlformats.org/drawingml/2006/main">
              <a:ext uri="{FF2B5EF4-FFF2-40B4-BE49-F238E27FC236}">
                <a16:creationId xmlns:a16="http://schemas.microsoft.com/office/drawing/2014/main" id="{F97A91AB-61FC-46E4-AB11-A95C3FBB66D7}"/>
              </a:ext>
            </a:extLst>
          </p:cNvPr>
          <p:cNvSpPr>
            <a:spLocks xmlns:a="http://schemas.openxmlformats.org/drawingml/2006/main" noGrp="1"/>
          </p:cNvSpPr>
          <p:nvPr/>
        </p:nvSpPr>
        <p:spPr>
          <a:xfrm xmlns:a="http://schemas.openxmlformats.org/drawingml/2006/main">
            <a:off x="4333875" y="227647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87D91"/>
                </a:solidFill>
                <a:latin typeface="Nimbus Sans"/>
                <a:ea typeface="Nimbus Sans"/>
                <a:cs typeface="Nimbus Sans"/>
              </a:defRPr>
            </a:pPr>
            <a:r>
              <a:rPr sz="2175" b="1">
                <a:solidFill>
                  <a:srgbClr val="187D91"/>
                </a:solidFill>
                <a:latin typeface="Nimbus Sans"/>
                <a:ea typeface="Nimbus Sans"/>
                <a:cs typeface="Nimbus Sans"/>
              </a:rPr>
              <a:t>Define</a:t>
            </a:r>
          </a:p>
        </p:txBody>
      </p:sp>
      <p:sp>
        <p:nvSpPr>
          <p:cNvPr id="10" name="Text Questions, answer style, and bounda">
            <a:extLst xmlns:a="http://schemas.openxmlformats.org/drawingml/2006/main">
              <a:ext uri="{FF2B5EF4-FFF2-40B4-BE49-F238E27FC236}">
                <a16:creationId xmlns:a16="http://schemas.microsoft.com/office/drawing/2014/main" id="{BF79D038-4B46-45DB-9832-9350CB156B26}"/>
              </a:ext>
            </a:extLst>
          </p:cNvPr>
          <p:cNvSpPr>
            <a:spLocks xmlns:a="http://schemas.openxmlformats.org/drawingml/2006/main" noGrp="1"/>
          </p:cNvSpPr>
          <p:nvPr/>
        </p:nvSpPr>
        <p:spPr>
          <a:xfrm xmlns:a="http://schemas.openxmlformats.org/drawingml/2006/main">
            <a:off x="5953125" y="2276475"/>
            <a:ext cx="5619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203B4A"/>
                </a:solidFill>
                <a:latin typeface="Nimbus Sans"/>
                <a:ea typeface="Nimbus Sans"/>
                <a:cs typeface="Nimbus Sans"/>
              </a:defRPr>
            </a:pPr>
            <a:r>
              <a:rPr sz="2100" b="0">
                <a:solidFill>
                  <a:srgbClr val="203B4A"/>
                </a:solidFill>
                <a:latin typeface="Nimbus Sans"/>
                <a:ea typeface="Nimbus Sans"/>
                <a:cs typeface="Nimbus Sans"/>
              </a:rPr>
              <a:t>Questions, answer style, and boundaries</a:t>
            </a:r>
          </a:p>
        </p:txBody>
      </p:sp>
      <p:sp>
        <p:nvSpPr>
          <p:cNvPr id="11" name="">
            <a:extLst xmlns:a="http://schemas.openxmlformats.org/drawingml/2006/main">
              <a:ext uri="{FF2B5EF4-FFF2-40B4-BE49-F238E27FC236}">
                <a16:creationId xmlns:a16="http://schemas.microsoft.com/office/drawing/2014/main" id="{795E9D4C-B80A-438B-A2C1-C2BF852962FF}"/>
              </a:ext>
            </a:extLst>
          </p:cNvPr>
          <p:cNvSpPr>
            <a:spLocks xmlns:a="http://schemas.openxmlformats.org/drawingml/2006/main" noGrp="1"/>
          </p:cNvSpPr>
          <p:nvPr/>
        </p:nvSpPr>
        <p:spPr>
          <a:xfrm xmlns:a="http://schemas.openxmlformats.org/drawingml/2006/main">
            <a:off x="4333875" y="3200400"/>
            <a:ext cx="7239000" cy="0"/>
          </a:xfrm>
          <a:prstGeom xmlns:a="http://schemas.openxmlformats.org/drawingml/2006/main" prst="line">
            <a:avLst/>
          </a:prstGeom>
          <a:noFill xmlns:a="http://schemas.openxmlformats.org/drawingml/2006/main"/>
          <a:ln xmlns:a="http://schemas.openxmlformats.org/drawingml/2006/main" w="11430">
            <a:solidFill>
              <a:srgbClr val="D6E2E7"/>
            </a:solidFill>
          </a:ln>
        </p:spPr>
      </p:sp>
      <p:sp>
        <p:nvSpPr>
          <p:cNvPr id="12" name="Text Prepare">
            <a:extLst xmlns:a="http://schemas.openxmlformats.org/drawingml/2006/main">
              <a:ext uri="{FF2B5EF4-FFF2-40B4-BE49-F238E27FC236}">
                <a16:creationId xmlns:a16="http://schemas.microsoft.com/office/drawing/2014/main" id="{89B80787-D7CA-4E2A-AB50-2E1055423011}"/>
              </a:ext>
            </a:extLst>
          </p:cNvPr>
          <p:cNvSpPr>
            <a:spLocks xmlns:a="http://schemas.openxmlformats.org/drawingml/2006/main" noGrp="1"/>
          </p:cNvSpPr>
          <p:nvPr/>
        </p:nvSpPr>
        <p:spPr>
          <a:xfrm xmlns:a="http://schemas.openxmlformats.org/drawingml/2006/main">
            <a:off x="4333875" y="343852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87D91"/>
                </a:solidFill>
                <a:latin typeface="Nimbus Sans"/>
                <a:ea typeface="Nimbus Sans"/>
                <a:cs typeface="Nimbus Sans"/>
              </a:defRPr>
            </a:pPr>
            <a:r>
              <a:rPr sz="2175" b="1">
                <a:solidFill>
                  <a:srgbClr val="187D91"/>
                </a:solidFill>
                <a:latin typeface="Nimbus Sans"/>
                <a:ea typeface="Nimbus Sans"/>
                <a:cs typeface="Nimbus Sans"/>
              </a:rPr>
              <a:t>Prepare</a:t>
            </a:r>
          </a:p>
        </p:txBody>
      </p:sp>
      <p:sp>
        <p:nvSpPr>
          <p:cNvPr id="13" name="Text Configure the agent and approved to">
            <a:extLst xmlns:a="http://schemas.openxmlformats.org/drawingml/2006/main">
              <a:ext uri="{FF2B5EF4-FFF2-40B4-BE49-F238E27FC236}">
                <a16:creationId xmlns:a16="http://schemas.microsoft.com/office/drawing/2014/main" id="{B89E1DD8-03A3-4A70-8BCA-13CE9A94AFC3}"/>
              </a:ext>
            </a:extLst>
          </p:cNvPr>
          <p:cNvSpPr>
            <a:spLocks xmlns:a="http://schemas.openxmlformats.org/drawingml/2006/main" noGrp="1"/>
          </p:cNvSpPr>
          <p:nvPr/>
        </p:nvSpPr>
        <p:spPr>
          <a:xfrm xmlns:a="http://schemas.openxmlformats.org/drawingml/2006/main">
            <a:off x="5953125" y="3438525"/>
            <a:ext cx="5619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203B4A"/>
                </a:solidFill>
                <a:latin typeface="Nimbus Sans"/>
                <a:ea typeface="Nimbus Sans"/>
                <a:cs typeface="Nimbus Sans"/>
              </a:defRPr>
            </a:pPr>
            <a:r>
              <a:rPr sz="2100" b="0">
                <a:solidFill>
                  <a:srgbClr val="203B4A"/>
                </a:solidFill>
                <a:latin typeface="Nimbus Sans"/>
                <a:ea typeface="Nimbus Sans"/>
                <a:cs typeface="Nimbus Sans"/>
              </a:rPr>
              <a:t>Configure the agent and approved tool access</a:t>
            </a:r>
          </a:p>
        </p:txBody>
      </p:sp>
      <p:sp>
        <p:nvSpPr>
          <p:cNvPr id="14" name="">
            <a:extLst xmlns:a="http://schemas.openxmlformats.org/drawingml/2006/main">
              <a:ext uri="{FF2B5EF4-FFF2-40B4-BE49-F238E27FC236}">
                <a16:creationId xmlns:a16="http://schemas.microsoft.com/office/drawing/2014/main" id="{404CCBA9-1F0E-4E6D-A843-B0EFF0FE0AE6}"/>
              </a:ext>
            </a:extLst>
          </p:cNvPr>
          <p:cNvSpPr>
            <a:spLocks xmlns:a="http://schemas.openxmlformats.org/drawingml/2006/main" noGrp="1"/>
          </p:cNvSpPr>
          <p:nvPr/>
        </p:nvSpPr>
        <p:spPr>
          <a:xfrm xmlns:a="http://schemas.openxmlformats.org/drawingml/2006/main">
            <a:off x="4333875" y="4362450"/>
            <a:ext cx="7239000" cy="0"/>
          </a:xfrm>
          <a:prstGeom xmlns:a="http://schemas.openxmlformats.org/drawingml/2006/main" prst="line">
            <a:avLst/>
          </a:prstGeom>
          <a:noFill xmlns:a="http://schemas.openxmlformats.org/drawingml/2006/main"/>
          <a:ln xmlns:a="http://schemas.openxmlformats.org/drawingml/2006/main" w="11430">
            <a:solidFill>
              <a:srgbClr val="D6E2E7"/>
            </a:solidFill>
          </a:ln>
        </p:spPr>
      </p:sp>
      <p:sp>
        <p:nvSpPr>
          <p:cNvPr id="15" name="Text Try">
            <a:extLst xmlns:a="http://schemas.openxmlformats.org/drawingml/2006/main">
              <a:ext uri="{FF2B5EF4-FFF2-40B4-BE49-F238E27FC236}">
                <a16:creationId xmlns:a16="http://schemas.microsoft.com/office/drawing/2014/main" id="{606F520F-36D6-4545-BE31-84ED7C3EA2D8}"/>
              </a:ext>
            </a:extLst>
          </p:cNvPr>
          <p:cNvSpPr>
            <a:spLocks xmlns:a="http://schemas.openxmlformats.org/drawingml/2006/main" noGrp="1"/>
          </p:cNvSpPr>
          <p:nvPr/>
        </p:nvSpPr>
        <p:spPr>
          <a:xfrm xmlns:a="http://schemas.openxmlformats.org/drawingml/2006/main">
            <a:off x="4333875" y="4600575"/>
            <a:ext cx="1362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87D91"/>
                </a:solidFill>
                <a:latin typeface="Nimbus Sans"/>
                <a:ea typeface="Nimbus Sans"/>
                <a:cs typeface="Nimbus Sans"/>
              </a:defRPr>
            </a:pPr>
            <a:r>
              <a:rPr sz="2175" b="1">
                <a:solidFill>
                  <a:srgbClr val="187D91"/>
                </a:solidFill>
                <a:latin typeface="Nimbus Sans"/>
                <a:ea typeface="Nimbus Sans"/>
                <a:cs typeface="Nimbus Sans"/>
              </a:rPr>
              <a:t>Try</a:t>
            </a:r>
          </a:p>
        </p:txBody>
      </p:sp>
      <p:sp>
        <p:nvSpPr>
          <p:cNvPr id="16" name="Text Deploy to development and review ru">
            <a:extLst xmlns:a="http://schemas.openxmlformats.org/drawingml/2006/main">
              <a:ext uri="{FF2B5EF4-FFF2-40B4-BE49-F238E27FC236}">
                <a16:creationId xmlns:a16="http://schemas.microsoft.com/office/drawing/2014/main" id="{8BE5B8C2-3CD2-4769-BE0D-1C57329E2E84}"/>
              </a:ext>
            </a:extLst>
          </p:cNvPr>
          <p:cNvSpPr>
            <a:spLocks xmlns:a="http://schemas.openxmlformats.org/drawingml/2006/main" noGrp="1"/>
          </p:cNvSpPr>
          <p:nvPr/>
        </p:nvSpPr>
        <p:spPr>
          <a:xfrm xmlns:a="http://schemas.openxmlformats.org/drawingml/2006/main">
            <a:off x="5953125" y="4600575"/>
            <a:ext cx="5619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203B4A"/>
                </a:solidFill>
                <a:latin typeface="Nimbus Sans"/>
                <a:ea typeface="Nimbus Sans"/>
                <a:cs typeface="Nimbus Sans"/>
              </a:defRPr>
            </a:pPr>
            <a:r>
              <a:rPr sz="2100" b="0">
                <a:solidFill>
                  <a:srgbClr val="203B4A"/>
                </a:solidFill>
                <a:latin typeface="Nimbus Sans"/>
                <a:ea typeface="Nimbus Sans"/>
                <a:cs typeface="Nimbus Sans"/>
              </a:rPr>
              <a:t>Deploy to development and review runs</a:t>
            </a:r>
          </a:p>
        </p:txBody>
      </p:sp>
      <p:sp>
        <p:nvSpPr>
          <p:cNvPr id="17" name="Text Team attention">
            <a:extLst xmlns:a="http://schemas.openxmlformats.org/drawingml/2006/main">
              <a:ext uri="{FF2B5EF4-FFF2-40B4-BE49-F238E27FC236}">
                <a16:creationId xmlns:a16="http://schemas.microsoft.com/office/drawing/2014/main" id="{27AF58C7-E534-43C2-B05C-B84D8BF3FF70}"/>
              </a:ext>
            </a:extLst>
          </p:cNvPr>
          <p:cNvSpPr>
            <a:spLocks xmlns:a="http://schemas.openxmlformats.org/drawingml/2006/main" noGrp="1"/>
          </p:cNvSpPr>
          <p:nvPr/>
        </p:nvSpPr>
        <p:spPr>
          <a:xfrm xmlns:a="http://schemas.openxmlformats.org/drawingml/2006/main">
            <a:off x="609600" y="4495800"/>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87D91"/>
                </a:solidFill>
                <a:latin typeface="Nimbus Sans"/>
                <a:ea typeface="Nimbus Sans"/>
                <a:cs typeface="Nimbus Sans"/>
              </a:defRPr>
            </a:pPr>
            <a:r>
              <a:rPr sz="1875" b="1">
                <a:solidFill>
                  <a:srgbClr val="187D91"/>
                </a:solidFill>
                <a:latin typeface="Nimbus Sans"/>
                <a:ea typeface="Nimbus Sans"/>
                <a:cs typeface="Nimbus Sans"/>
              </a:rPr>
              <a:t>Team attention</a:t>
            </a:r>
          </a:p>
        </p:txBody>
      </p:sp>
      <p:sp>
        <p:nvSpPr>
          <p:cNvPr id="18" name="Text Answer usefulness&#10;Business rules&#10;Us">
            <a:extLst xmlns:a="http://schemas.openxmlformats.org/drawingml/2006/main">
              <a:ext uri="{FF2B5EF4-FFF2-40B4-BE49-F238E27FC236}">
                <a16:creationId xmlns:a16="http://schemas.microsoft.com/office/drawing/2014/main" id="{F33CA80D-89AA-466C-A672-E556915E2725}"/>
              </a:ext>
            </a:extLst>
          </p:cNvPr>
          <p:cNvSpPr>
            <a:spLocks xmlns:a="http://schemas.openxmlformats.org/drawingml/2006/main" noGrp="1"/>
          </p:cNvSpPr>
          <p:nvPr/>
        </p:nvSpPr>
        <p:spPr>
          <a:xfrm xmlns:a="http://schemas.openxmlformats.org/drawingml/2006/main">
            <a:off x="609600" y="4943475"/>
            <a:ext cx="30099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03B4A"/>
                </a:solidFill>
                <a:latin typeface="Nimbus Sans"/>
                <a:ea typeface="Nimbus Sans"/>
                <a:cs typeface="Nimbus Sans"/>
              </a:defRPr>
            </a:pPr>
            <a:r>
              <a:rPr sz="2025" b="0">
                <a:solidFill>
                  <a:srgbClr val="203B4A"/>
                </a:solidFill>
                <a:latin typeface="Nimbus Sans"/>
                <a:ea typeface="Nimbus Sans"/>
                <a:cs typeface="Nimbus Sans"/>
              </a:rPr>
              <a:t>Answer usefulness</a:t>
            </a:r>
          </a:p>
          <a:p xmlns:a="http://schemas.openxmlformats.org/drawingml/2006/main">
            <a:pPr algn="l">
              <a:defRPr sz="2025" b="0">
                <a:solidFill>
                  <a:srgbClr val="203B4A"/>
                </a:solidFill>
                <a:latin typeface="Nimbus Sans"/>
                <a:ea typeface="Nimbus Sans"/>
                <a:cs typeface="Nimbus Sans"/>
              </a:defRPr>
            </a:pPr>
            <a:r>
              <a:rPr sz="2025" b="0">
                <a:solidFill>
                  <a:srgbClr val="203B4A"/>
                </a:solidFill>
                <a:latin typeface="Nimbus Sans"/>
                <a:ea typeface="Nimbus Sans"/>
                <a:cs typeface="Nimbus Sans"/>
              </a:rPr>
              <a:t>Business rules</a:t>
            </a:r>
          </a:p>
          <a:p xmlns:a="http://schemas.openxmlformats.org/drawingml/2006/main">
            <a:pPr algn="l">
              <a:defRPr sz="2025" b="0">
                <a:solidFill>
                  <a:srgbClr val="203B4A"/>
                </a:solidFill>
                <a:latin typeface="Nimbus Sans"/>
                <a:ea typeface="Nimbus Sans"/>
                <a:cs typeface="Nimbus Sans"/>
              </a:defRPr>
            </a:pPr>
            <a:r>
              <a:rPr sz="2025" b="0">
                <a:solidFill>
                  <a:srgbClr val="203B4A"/>
                </a:solidFill>
                <a:latin typeface="Nimbus Sans"/>
                <a:ea typeface="Nimbus Sans"/>
                <a:cs typeface="Nimbus Sans"/>
              </a:rPr>
              <a:t>User feedback</a:t>
            </a:r>
          </a:p>
        </p:txBody>
      </p:sp>
      <p:sp>
        <p:nvSpPr>
          <p:cNvPr id="19" name="Text Illustrative use case for a support">
            <a:extLst xmlns:a="http://schemas.openxmlformats.org/drawingml/2006/main">
              <a:ext uri="{FF2B5EF4-FFF2-40B4-BE49-F238E27FC236}">
                <a16:creationId xmlns:a16="http://schemas.microsoft.com/office/drawing/2014/main" id="{124BA490-3931-4E6E-B1C0-FCA8DC19C15F}"/>
              </a:ext>
            </a:extLst>
          </p:cNvPr>
          <p:cNvSpPr>
            <a:spLocks xmlns:a="http://schemas.openxmlformats.org/drawingml/2006/main" noGrp="1"/>
          </p:cNvSpPr>
          <p:nvPr/>
        </p:nvSpPr>
        <p:spPr>
          <a:xfrm xmlns:a="http://schemas.openxmlformats.org/drawingml/2006/main">
            <a:off x="609600" y="61055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A78"/>
                </a:solidFill>
                <a:latin typeface="Nimbus Sans"/>
                <a:ea typeface="Nimbus Sans"/>
                <a:cs typeface="Nimbus Sans"/>
              </a:defRPr>
            </a:pPr>
            <a:r>
              <a:rPr sz="1425" b="0">
                <a:solidFill>
                  <a:srgbClr val="526A78"/>
                </a:solidFill>
                <a:latin typeface="Nimbus Sans"/>
                <a:ea typeface="Nimbus Sans"/>
                <a:cs typeface="Nimbus Sans"/>
              </a:rPr>
              <a:t>Illustrative use case for a supported development workflow.</a:t>
            </a:r>
          </a:p>
        </p:txBody>
      </p:sp>
    </p:spTree>
    <p:extLst>
      <p:ext uri="{BB962C8B-B14F-4D97-AF65-F5344CB8AC3E}">
        <p14:creationId xmlns:p14="http://schemas.microsoft.com/office/powerpoint/2010/main" val="683153377"/>
      </p:ext>
    </p:extLst>
  </p:cSld>
</p:sld>
</file>

<file path=ppt/slides/slide10.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19" name="Text A working foundation, with clear ne">
            <a:extLst xmlns:a="http://schemas.openxmlformats.org/drawingml/2006/main">
              <a:ext uri="{FF2B5EF4-FFF2-40B4-BE49-F238E27FC236}">
                <a16:creationId xmlns:a16="http://schemas.microsoft.com/office/drawing/2014/main" id="{423BC354-7687-4B6F-9544-1EA77122E3B9}"/>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52E3D"/>
                </a:solidFill>
                <a:latin typeface="Nimbus Sans"/>
                <a:ea typeface="Nimbus Sans"/>
                <a:cs typeface="Nimbus Sans"/>
              </a:defRPr>
            </a:pPr>
            <a:r>
              <a:rPr sz="3150" b="1">
                <a:solidFill>
                  <a:srgbClr val="152E3D"/>
                </a:solidFill>
                <a:latin typeface="Nimbus Sans"/>
                <a:ea typeface="Nimbus Sans"/>
                <a:cs typeface="Nimbus Sans"/>
              </a:rPr>
              <a:t>A working foundation, with clear next milestones</a:t>
            </a:r>
          </a:p>
        </p:txBody>
      </p:sp>
      <p:sp>
        <p:nvSpPr>
          <p:cNvPr id="2" name="Text The next stage strengthens the ente">
            <a:extLst xmlns:a="http://schemas.openxmlformats.org/drawingml/2006/main">
              <a:ext uri="{FF2B5EF4-FFF2-40B4-BE49-F238E27FC236}">
                <a16:creationId xmlns:a16="http://schemas.microsoft.com/office/drawing/2014/main" id="{3E647338-DC45-4189-877F-A60546444153}"/>
              </a:ext>
            </a:extLst>
          </p:cNvPr>
          <p:cNvSpPr>
            <a:spLocks xmlns:a="http://schemas.openxmlformats.org/drawingml/2006/main" noGrp="1"/>
          </p:cNvSpPr>
          <p:nvPr/>
        </p:nvSpPr>
        <p:spPr>
          <a:xfrm xmlns:a="http://schemas.openxmlformats.org/drawingml/2006/main">
            <a:off x="609600" y="14763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A78"/>
                </a:solidFill>
                <a:latin typeface="Nimbus Sans"/>
                <a:ea typeface="Nimbus Sans"/>
                <a:cs typeface="Nimbus Sans"/>
              </a:defRPr>
            </a:pPr>
            <a:r>
              <a:rPr sz="1725" b="0">
                <a:solidFill>
                  <a:srgbClr val="526A78"/>
                </a:solidFill>
                <a:latin typeface="Nimbus Sans"/>
                <a:ea typeface="Nimbus Sans"/>
                <a:cs typeface="Nimbus Sans"/>
              </a:rPr>
              <a:t>The next stage strengthens the enterprise controls around the delivery workflow.</a:t>
            </a:r>
          </a:p>
        </p:txBody>
      </p:sp>
      <p:sp>
        <p:nvSpPr>
          <p:cNvPr id="3" name="">
            <a:extLst xmlns:a="http://schemas.openxmlformats.org/drawingml/2006/main">
              <a:ext uri="{FF2B5EF4-FFF2-40B4-BE49-F238E27FC236}">
                <a16:creationId xmlns:a16="http://schemas.microsoft.com/office/drawing/2014/main" id="{8762EDBD-3E28-4355-8368-BF9D5DCA8C36}"/>
              </a:ext>
            </a:extLst>
          </p:cNvPr>
          <p:cNvSpPr>
            <a:spLocks xmlns:a="http://schemas.openxmlformats.org/drawingml/2006/main" noGrp="1"/>
          </p:cNvSpPr>
          <p:nvPr/>
        </p:nvSpPr>
        <p:spPr>
          <a:xfrm xmlns:a="http://schemas.openxmlformats.org/drawingml/2006/main">
            <a:off x="609600" y="6448425"/>
            <a:ext cx="10972800" cy="0"/>
          </a:xfrm>
          <a:prstGeom xmlns:a="http://schemas.openxmlformats.org/drawingml/2006/main" prst="line">
            <a:avLst/>
          </a:prstGeom>
          <a:noFill xmlns:a="http://schemas.openxmlformats.org/drawingml/2006/main"/>
          <a:ln xmlns:a="http://schemas.openxmlformats.org/drawingml/2006/main" w="11430">
            <a:solidFill>
              <a:srgbClr val="D6E2E7"/>
            </a:solidFill>
          </a:ln>
        </p:spPr>
      </p:sp>
      <p:sp>
        <p:nvSpPr>
          <p:cNvPr id="4" name="Text GUARDIAN AI  /  CONVERGENCE 2026">
            <a:extLst xmlns:a="http://schemas.openxmlformats.org/drawingml/2006/main">
              <a:ext uri="{FF2B5EF4-FFF2-40B4-BE49-F238E27FC236}">
                <a16:creationId xmlns:a16="http://schemas.microsoft.com/office/drawing/2014/main" id="{CB216329-4AD8-4BE2-AED0-5BCB1D493724}"/>
              </a:ext>
            </a:extLst>
          </p:cNvPr>
          <p:cNvSpPr>
            <a:spLocks xmlns:a="http://schemas.openxmlformats.org/drawingml/2006/main" noGrp="1"/>
          </p:cNvSpPr>
          <p:nvPr/>
        </p:nvSpPr>
        <p:spPr>
          <a:xfrm xmlns:a="http://schemas.openxmlformats.org/drawingml/2006/main">
            <a:off x="609600" y="658177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526A78"/>
                </a:solidFill>
                <a:latin typeface="Nimbus Sans"/>
                <a:ea typeface="Nimbus Sans"/>
                <a:cs typeface="Nimbus Sans"/>
              </a:defRPr>
            </a:pPr>
            <a:r>
              <a:rPr sz="975" b="1">
                <a:solidFill>
                  <a:srgbClr val="526A78"/>
                </a:solidFill>
                <a:latin typeface="Nimbus Sans"/>
                <a:ea typeface="Nimbus Sans"/>
                <a:cs typeface="Nimbus Sans"/>
              </a:rPr>
              <a:t>GUARDIAN AI  /  CONVERGENCE 2026</a:t>
            </a:r>
          </a:p>
        </p:txBody>
      </p:sp>
      <p:sp>
        <p:nvSpPr>
          <p:cNvPr id="5" name="Text 10">
            <a:extLst xmlns:a="http://schemas.openxmlformats.org/drawingml/2006/main">
              <a:ext uri="{FF2B5EF4-FFF2-40B4-BE49-F238E27FC236}">
                <a16:creationId xmlns:a16="http://schemas.microsoft.com/office/drawing/2014/main" id="{18C3DD1A-3785-46E8-A014-2C07A68C98C5}"/>
              </a:ext>
            </a:extLst>
          </p:cNvPr>
          <p:cNvSpPr>
            <a:spLocks xmlns:a="http://schemas.openxmlformats.org/drawingml/2006/main" noGrp="1"/>
          </p:cNvSpPr>
          <p:nvPr/>
        </p:nvSpPr>
        <p:spPr>
          <a:xfrm xmlns:a="http://schemas.openxmlformats.org/drawingml/2006/main">
            <a:off x="11096625" y="65722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A78"/>
                </a:solidFill>
                <a:latin typeface="Nimbus Sans"/>
                <a:ea typeface="Nimbus Sans"/>
                <a:cs typeface="Nimbus Sans"/>
              </a:defRPr>
            </a:pPr>
            <a:r>
              <a:rPr sz="1050" b="0">
                <a:solidFill>
                  <a:srgbClr val="526A78"/>
                </a:solidFill>
                <a:latin typeface="Nimbus Sans"/>
                <a:ea typeface="Nimbus Sans"/>
                <a:cs typeface="Nimbus Sans"/>
              </a:rPr>
              <a:t>10</a:t>
            </a:r>
          </a:p>
        </p:txBody>
      </p:sp>
      <p:sp>
        <p:nvSpPr>
          <p:cNvPr id="6" name="diagram">
            <a:extLst xmlns:a="http://schemas.openxmlformats.org/drawingml/2006/main">
              <a:ext uri="{FF2B5EF4-FFF2-40B4-BE49-F238E27FC236}">
                <a16:creationId xmlns:a16="http://schemas.microsoft.com/office/drawing/2014/main" id="{0552A9A9-0908-4658-B790-83B3D81BD3D9}"/>
              </a:ext>
            </a:extLst>
          </p:cNvPr>
          <p:cNvSpPr>
            <a:spLocks xmlns:a="http://schemas.openxmlformats.org/drawingml/2006/main" noGrp="1"/>
          </p:cNvSpPr>
          <p:nvPr/>
        </p:nvSpPr>
        <p:spPr>
          <a:xfrm xmlns:a="http://schemas.openxmlformats.org/drawingml/2006/main">
            <a:off x="609600" y="2352675"/>
            <a:ext cx="3409950" cy="3267075"/>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15240">
            <a:solidFill>
              <a:srgbClr val="D6E2E7"/>
            </a:solidFill>
          </a:ln>
        </p:spPr>
      </p:sp>
      <p:sp>
        <p:nvSpPr>
          <p:cNvPr id="7" name="Text Working today">
            <a:extLst xmlns:a="http://schemas.openxmlformats.org/drawingml/2006/main">
              <a:ext uri="{FF2B5EF4-FFF2-40B4-BE49-F238E27FC236}">
                <a16:creationId xmlns:a16="http://schemas.microsoft.com/office/drawing/2014/main" id="{5DCF5A68-D8BE-43A5-A573-A68147FBB992}"/>
              </a:ext>
            </a:extLst>
          </p:cNvPr>
          <p:cNvSpPr>
            <a:spLocks xmlns:a="http://schemas.openxmlformats.org/drawingml/2006/main" noGrp="1"/>
          </p:cNvSpPr>
          <p:nvPr/>
        </p:nvSpPr>
        <p:spPr>
          <a:xfrm xmlns:a="http://schemas.openxmlformats.org/drawingml/2006/main">
            <a:off x="819150" y="2581275"/>
            <a:ext cx="2990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37E5E"/>
                </a:solidFill>
                <a:latin typeface="Nimbus Sans"/>
                <a:ea typeface="Nimbus Sans"/>
                <a:cs typeface="Nimbus Sans"/>
              </a:defRPr>
            </a:pPr>
            <a:r>
              <a:rPr sz="2250" b="1">
                <a:solidFill>
                  <a:srgbClr val="237E5E"/>
                </a:solidFill>
                <a:latin typeface="Nimbus Sans"/>
                <a:ea typeface="Nimbus Sans"/>
                <a:cs typeface="Nimbus Sans"/>
              </a:rPr>
              <a:t>Working today</a:t>
            </a:r>
          </a:p>
        </p:txBody>
      </p:sp>
      <p:sp>
        <p:nvSpPr>
          <p:cNvPr id="8" name="">
            <a:extLst xmlns:a="http://schemas.openxmlformats.org/drawingml/2006/main">
              <a:ext uri="{FF2B5EF4-FFF2-40B4-BE49-F238E27FC236}">
                <a16:creationId xmlns:a16="http://schemas.microsoft.com/office/drawing/2014/main" id="{B0861657-C839-406E-B88B-F368355CCC51}"/>
              </a:ext>
            </a:extLst>
          </p:cNvPr>
          <p:cNvSpPr>
            <a:spLocks xmlns:a="http://schemas.openxmlformats.org/drawingml/2006/main" noGrp="1"/>
          </p:cNvSpPr>
          <p:nvPr/>
        </p:nvSpPr>
        <p:spPr>
          <a:xfrm xmlns:a="http://schemas.openxmlformats.org/drawingml/2006/main">
            <a:off x="819150" y="3190875"/>
            <a:ext cx="2990850" cy="0"/>
          </a:xfrm>
          <a:prstGeom xmlns:a="http://schemas.openxmlformats.org/drawingml/2006/main" prst="line">
            <a:avLst/>
          </a:prstGeom>
          <a:noFill xmlns:a="http://schemas.openxmlformats.org/drawingml/2006/main"/>
          <a:ln xmlns:a="http://schemas.openxmlformats.org/drawingml/2006/main" w="11430">
            <a:solidFill>
              <a:srgbClr val="237E5E"/>
            </a:solidFill>
          </a:ln>
        </p:spPr>
      </p:sp>
      <p:sp>
        <p:nvSpPr>
          <p:cNvPr id="9" name="Text Agent creation and code generation&#10;">
            <a:extLst xmlns:a="http://schemas.openxmlformats.org/drawingml/2006/main">
              <a:ext uri="{FF2B5EF4-FFF2-40B4-BE49-F238E27FC236}">
                <a16:creationId xmlns:a16="http://schemas.microsoft.com/office/drawing/2014/main" id="{A67BD2F8-FD93-48FD-A36D-A1A255A4328F}"/>
              </a:ext>
            </a:extLst>
          </p:cNvPr>
          <p:cNvSpPr>
            <a:spLocks xmlns:a="http://schemas.openxmlformats.org/drawingml/2006/main" noGrp="1"/>
          </p:cNvSpPr>
          <p:nvPr/>
        </p:nvSpPr>
        <p:spPr>
          <a:xfrm xmlns:a="http://schemas.openxmlformats.org/drawingml/2006/main">
            <a:off x="819150" y="3448050"/>
            <a:ext cx="29908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Agent creation and code generation</a:t>
            </a:r>
          </a:p>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Tool registry and grant management</a:t>
            </a:r>
          </a:p>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Development deployment with logs</a:t>
            </a:r>
          </a:p>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Persistent run history</a:t>
            </a:r>
          </a:p>
        </p:txBody>
      </p:sp>
      <p:sp>
        <p:nvSpPr>
          <p:cNvPr id="10" name="diagram">
            <a:extLst xmlns:a="http://schemas.openxmlformats.org/drawingml/2006/main">
              <a:ext uri="{FF2B5EF4-FFF2-40B4-BE49-F238E27FC236}">
                <a16:creationId xmlns:a16="http://schemas.microsoft.com/office/drawing/2014/main" id="{A85FCE2A-2A8B-45E3-BE66-B773F61AAEDC}"/>
              </a:ext>
            </a:extLst>
          </p:cNvPr>
          <p:cNvSpPr>
            <a:spLocks xmlns:a="http://schemas.openxmlformats.org/drawingml/2006/main" noGrp="1"/>
          </p:cNvSpPr>
          <p:nvPr/>
        </p:nvSpPr>
        <p:spPr>
          <a:xfrm xmlns:a="http://schemas.openxmlformats.org/drawingml/2006/main">
            <a:off x="4391025" y="2352675"/>
            <a:ext cx="3409950" cy="3267075"/>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15240">
            <a:solidFill>
              <a:srgbClr val="D6E2E7"/>
            </a:solidFill>
          </a:ln>
        </p:spPr>
      </p:sp>
      <p:sp>
        <p:nvSpPr>
          <p:cNvPr id="11" name="Text Strengthen next">
            <a:extLst xmlns:a="http://schemas.openxmlformats.org/drawingml/2006/main">
              <a:ext uri="{FF2B5EF4-FFF2-40B4-BE49-F238E27FC236}">
                <a16:creationId xmlns:a16="http://schemas.microsoft.com/office/drawing/2014/main" id="{89FE4FA4-7E21-4077-A54D-C16E6378A401}"/>
              </a:ext>
            </a:extLst>
          </p:cNvPr>
          <p:cNvSpPr>
            <a:spLocks xmlns:a="http://schemas.openxmlformats.org/drawingml/2006/main" noGrp="1"/>
          </p:cNvSpPr>
          <p:nvPr/>
        </p:nvSpPr>
        <p:spPr>
          <a:xfrm xmlns:a="http://schemas.openxmlformats.org/drawingml/2006/main">
            <a:off x="4600575" y="2581275"/>
            <a:ext cx="2990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A76517"/>
                </a:solidFill>
                <a:latin typeface="Nimbus Sans"/>
                <a:ea typeface="Nimbus Sans"/>
                <a:cs typeface="Nimbus Sans"/>
              </a:defRPr>
            </a:pPr>
            <a:r>
              <a:rPr sz="2250" b="1">
                <a:solidFill>
                  <a:srgbClr val="A76517"/>
                </a:solidFill>
                <a:latin typeface="Nimbus Sans"/>
                <a:ea typeface="Nimbus Sans"/>
                <a:cs typeface="Nimbus Sans"/>
              </a:rPr>
              <a:t>Strengthen next</a:t>
            </a:r>
          </a:p>
        </p:txBody>
      </p:sp>
      <p:sp>
        <p:nvSpPr>
          <p:cNvPr id="12" name="">
            <a:extLst xmlns:a="http://schemas.openxmlformats.org/drawingml/2006/main">
              <a:ext uri="{FF2B5EF4-FFF2-40B4-BE49-F238E27FC236}">
                <a16:creationId xmlns:a16="http://schemas.microsoft.com/office/drawing/2014/main" id="{4BD62FE7-C060-4117-A045-9300F7AF759C}"/>
              </a:ext>
            </a:extLst>
          </p:cNvPr>
          <p:cNvSpPr>
            <a:spLocks xmlns:a="http://schemas.openxmlformats.org/drawingml/2006/main" noGrp="1"/>
          </p:cNvSpPr>
          <p:nvPr/>
        </p:nvSpPr>
        <p:spPr>
          <a:xfrm xmlns:a="http://schemas.openxmlformats.org/drawingml/2006/main">
            <a:off x="4600575" y="3190875"/>
            <a:ext cx="2990850" cy="0"/>
          </a:xfrm>
          <a:prstGeom xmlns:a="http://schemas.openxmlformats.org/drawingml/2006/main" prst="line">
            <a:avLst/>
          </a:prstGeom>
          <a:noFill xmlns:a="http://schemas.openxmlformats.org/drawingml/2006/main"/>
          <a:ln xmlns:a="http://schemas.openxmlformats.org/drawingml/2006/main" w="11430">
            <a:solidFill>
              <a:srgbClr val="A76517"/>
            </a:solidFill>
          </a:ln>
        </p:spPr>
      </p:sp>
      <p:sp>
        <p:nvSpPr>
          <p:cNvPr id="13" name="Text Consistent permission enforcement&#10;R">
            <a:extLst xmlns:a="http://schemas.openxmlformats.org/drawingml/2006/main">
              <a:ext uri="{FF2B5EF4-FFF2-40B4-BE49-F238E27FC236}">
                <a16:creationId xmlns:a16="http://schemas.microsoft.com/office/drawing/2014/main" id="{D217C1B4-B3AE-4DE4-B183-0FCDA239D924}"/>
              </a:ext>
            </a:extLst>
          </p:cNvPr>
          <p:cNvSpPr>
            <a:spLocks xmlns:a="http://schemas.openxmlformats.org/drawingml/2006/main" noGrp="1"/>
          </p:cNvSpPr>
          <p:nvPr/>
        </p:nvSpPr>
        <p:spPr>
          <a:xfrm xmlns:a="http://schemas.openxmlformats.org/drawingml/2006/main">
            <a:off x="4600575" y="3448050"/>
            <a:ext cx="29908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Consistent permission enforcement</a:t>
            </a:r>
          </a:p>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Reliable approval checks</a:t>
            </a:r>
          </a:p>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Connected diagnostic traces</a:t>
            </a:r>
          </a:p>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Production promotion workflow</a:t>
            </a:r>
          </a:p>
        </p:txBody>
      </p:sp>
      <p:sp>
        <p:nvSpPr>
          <p:cNvPr id="14" name="diagram">
            <a:extLst xmlns:a="http://schemas.openxmlformats.org/drawingml/2006/main">
              <a:ext uri="{FF2B5EF4-FFF2-40B4-BE49-F238E27FC236}">
                <a16:creationId xmlns:a16="http://schemas.microsoft.com/office/drawing/2014/main" id="{4F52D49E-3415-4932-91FF-745783324510}"/>
              </a:ext>
            </a:extLst>
          </p:cNvPr>
          <p:cNvSpPr>
            <a:spLocks xmlns:a="http://schemas.openxmlformats.org/drawingml/2006/main" noGrp="1"/>
          </p:cNvSpPr>
          <p:nvPr/>
        </p:nvSpPr>
        <p:spPr>
          <a:xfrm xmlns:a="http://schemas.openxmlformats.org/drawingml/2006/main">
            <a:off x="8172450" y="2352675"/>
            <a:ext cx="3409950" cy="3267075"/>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15240">
            <a:solidFill>
              <a:srgbClr val="D6E2E7"/>
            </a:solidFill>
          </a:ln>
        </p:spPr>
      </p:sp>
      <p:sp>
        <p:nvSpPr>
          <p:cNvPr id="15" name="Text Extend the platform">
            <a:extLst xmlns:a="http://schemas.openxmlformats.org/drawingml/2006/main">
              <a:ext uri="{FF2B5EF4-FFF2-40B4-BE49-F238E27FC236}">
                <a16:creationId xmlns:a16="http://schemas.microsoft.com/office/drawing/2014/main" id="{ACDC5FD6-A8B6-41DF-ABF0-68C5DA1676D8}"/>
              </a:ext>
            </a:extLst>
          </p:cNvPr>
          <p:cNvSpPr>
            <a:spLocks xmlns:a="http://schemas.openxmlformats.org/drawingml/2006/main" noGrp="1"/>
          </p:cNvSpPr>
          <p:nvPr/>
        </p:nvSpPr>
        <p:spPr>
          <a:xfrm xmlns:a="http://schemas.openxmlformats.org/drawingml/2006/main">
            <a:off x="8382000" y="2581275"/>
            <a:ext cx="2990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87D91"/>
                </a:solidFill>
                <a:latin typeface="Nimbus Sans"/>
                <a:ea typeface="Nimbus Sans"/>
                <a:cs typeface="Nimbus Sans"/>
              </a:defRPr>
            </a:pPr>
            <a:r>
              <a:rPr sz="2250" b="1">
                <a:solidFill>
                  <a:srgbClr val="187D91"/>
                </a:solidFill>
                <a:latin typeface="Nimbus Sans"/>
                <a:ea typeface="Nimbus Sans"/>
                <a:cs typeface="Nimbus Sans"/>
              </a:rPr>
              <a:t>Extend the platform</a:t>
            </a:r>
          </a:p>
        </p:txBody>
      </p:sp>
      <p:sp>
        <p:nvSpPr>
          <p:cNvPr id="16" name="">
            <a:extLst xmlns:a="http://schemas.openxmlformats.org/drawingml/2006/main">
              <a:ext uri="{FF2B5EF4-FFF2-40B4-BE49-F238E27FC236}">
                <a16:creationId xmlns:a16="http://schemas.microsoft.com/office/drawing/2014/main" id="{E426EFAF-A0D8-4A91-BEDD-EF88F5B42AA9}"/>
              </a:ext>
            </a:extLst>
          </p:cNvPr>
          <p:cNvSpPr>
            <a:spLocks xmlns:a="http://schemas.openxmlformats.org/drawingml/2006/main" noGrp="1"/>
          </p:cNvSpPr>
          <p:nvPr/>
        </p:nvSpPr>
        <p:spPr>
          <a:xfrm xmlns:a="http://schemas.openxmlformats.org/drawingml/2006/main">
            <a:off x="8382000" y="3190875"/>
            <a:ext cx="2990850" cy="0"/>
          </a:xfrm>
          <a:prstGeom xmlns:a="http://schemas.openxmlformats.org/drawingml/2006/main" prst="line">
            <a:avLst/>
          </a:prstGeom>
          <a:noFill xmlns:a="http://schemas.openxmlformats.org/drawingml/2006/main"/>
          <a:ln xmlns:a="http://schemas.openxmlformats.org/drawingml/2006/main" w="11430">
            <a:solidFill>
              <a:srgbClr val="187D91"/>
            </a:solidFill>
          </a:ln>
        </p:spPr>
      </p:sp>
      <p:sp>
        <p:nvSpPr>
          <p:cNvPr id="17" name="Text Pricing and cost attribution&#10;Unifie">
            <a:extLst xmlns:a="http://schemas.openxmlformats.org/drawingml/2006/main">
              <a:ext uri="{FF2B5EF4-FFF2-40B4-BE49-F238E27FC236}">
                <a16:creationId xmlns:a16="http://schemas.microsoft.com/office/drawing/2014/main" id="{328B4790-CDDD-461A-80B3-E64B9AC8E7D7}"/>
              </a:ext>
            </a:extLst>
          </p:cNvPr>
          <p:cNvSpPr>
            <a:spLocks xmlns:a="http://schemas.openxmlformats.org/drawingml/2006/main" noGrp="1"/>
          </p:cNvSpPr>
          <p:nvPr/>
        </p:nvSpPr>
        <p:spPr>
          <a:xfrm xmlns:a="http://schemas.openxmlformats.org/drawingml/2006/main">
            <a:off x="8382000" y="3448050"/>
            <a:ext cx="29908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Pricing and cost attribution</a:t>
            </a:r>
          </a:p>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Unified agent operating view</a:t>
            </a:r>
          </a:p>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Broader integration support</a:t>
            </a:r>
          </a:p>
          <a:p xmlns:a="http://schemas.openxmlformats.org/drawingml/2006/main">
            <a:pPr algn="l">
              <a:defRPr sz="1800" b="0">
                <a:solidFill>
                  <a:srgbClr val="203B4A"/>
                </a:solidFill>
                <a:latin typeface="Nimbus Sans"/>
                <a:ea typeface="Nimbus Sans"/>
                <a:cs typeface="Nimbus Sans"/>
              </a:defRPr>
            </a:pPr>
            <a:r>
              <a:rPr sz="1800" b="0">
                <a:solidFill>
                  <a:srgbClr val="203B4A"/>
                </a:solidFill>
                <a:latin typeface="Nimbus Sans"/>
                <a:ea typeface="Nimbus Sans"/>
                <a:cs typeface="Nimbus Sans"/>
              </a:rPr>
              <a:t>Rollback and retirement</a:t>
            </a:r>
          </a:p>
        </p:txBody>
      </p:sp>
      <p:sp>
        <p:nvSpPr>
          <p:cNvPr id="18" name="Text Capability status as of September 1">
            <a:extLst xmlns:a="http://schemas.openxmlformats.org/drawingml/2006/main">
              <a:ext uri="{FF2B5EF4-FFF2-40B4-BE49-F238E27FC236}">
                <a16:creationId xmlns:a16="http://schemas.microsoft.com/office/drawing/2014/main" id="{4510833A-B49C-44A8-8A39-2CE299133ECD}"/>
              </a:ext>
            </a:extLst>
          </p:cNvPr>
          <p:cNvSpPr>
            <a:spLocks xmlns:a="http://schemas.openxmlformats.org/drawingml/2006/main" noGrp="1"/>
          </p:cNvSpPr>
          <p:nvPr/>
        </p:nvSpPr>
        <p:spPr>
          <a:xfrm xmlns:a="http://schemas.openxmlformats.org/drawingml/2006/main">
            <a:off x="609600" y="6038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A78"/>
                </a:solidFill>
                <a:latin typeface="Nimbus Sans"/>
                <a:ea typeface="Nimbus Sans"/>
                <a:cs typeface="Nimbus Sans"/>
              </a:defRPr>
            </a:pPr>
            <a:r>
              <a:rPr sz="1425" b="0">
                <a:solidFill>
                  <a:srgbClr val="526A78"/>
                </a:solidFill>
                <a:latin typeface="Nimbus Sans"/>
                <a:ea typeface="Nimbus Sans"/>
                <a:cs typeface="Nimbus Sans"/>
              </a:rPr>
              <a:t>Capability status as of September 16, 2026.</a:t>
            </a:r>
          </a:p>
        </p:txBody>
      </p:sp>
    </p:spTree>
    <p:extLst>
      <p:ext uri="{BB962C8B-B14F-4D97-AF65-F5344CB8AC3E}">
        <p14:creationId xmlns:p14="http://schemas.microsoft.com/office/powerpoint/2010/main" val="1652410752"/>
      </p:ext>
    </p:extLst>
  </p:cSld>
</p:sld>
</file>

<file path=ppt/slides/slide11.xml><?xml version="1.0" encoding="utf-8"?>
<p:sld xmlns:p="http://schemas.openxmlformats.org/presentationml/2006/main">
  <p:cSld>
    <p:bg>
      <p:bgPr>
        <a:solidFill xmlns:a="http://schemas.openxmlformats.org/drawingml/2006/main">
          <a:srgbClr val="F3F7F9"/>
        </a:solidFill>
      </p:bgPr>
    </p:bg>
    <p:spTree>
      <p:nvGrpSpPr>
        <p:cNvPr id="1" name=""/>
        <p:cNvGrpSpPr/>
        <p:nvPr/>
      </p:nvGrpSpPr>
      <p:grpSpPr>
        <a:xfrm xmlns:a="http://schemas.openxmlformats.org/drawingml/2006/main"/>
      </p:grpSpPr>
      <p:sp>
        <p:nvSpPr>
          <p:cNvPr id="27" name="Text The value grows as more teams use t">
            <a:extLst xmlns:a="http://schemas.openxmlformats.org/drawingml/2006/main">
              <a:ext uri="{FF2B5EF4-FFF2-40B4-BE49-F238E27FC236}">
                <a16:creationId xmlns:a16="http://schemas.microsoft.com/office/drawing/2014/main" id="{AD67CF1C-D72B-4E16-959B-634295B549E1}"/>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52E3D"/>
                </a:solidFill>
                <a:latin typeface="Nimbus Sans"/>
                <a:ea typeface="Nimbus Sans"/>
                <a:cs typeface="Nimbus Sans"/>
              </a:defRPr>
            </a:pPr>
            <a:r>
              <a:rPr sz="3150" b="1">
                <a:solidFill>
                  <a:srgbClr val="152E3D"/>
                </a:solidFill>
                <a:latin typeface="Nimbus Sans"/>
                <a:ea typeface="Nimbus Sans"/>
                <a:cs typeface="Nimbus Sans"/>
              </a:rPr>
              <a:t>The value grows as more teams use the platform</a:t>
            </a:r>
          </a:p>
        </p:txBody>
      </p:sp>
      <p:sp>
        <p:nvSpPr>
          <p:cNvPr id="2" name="Text A shared capability can support the">
            <a:extLst xmlns:a="http://schemas.openxmlformats.org/drawingml/2006/main">
              <a:ext uri="{FF2B5EF4-FFF2-40B4-BE49-F238E27FC236}">
                <a16:creationId xmlns:a16="http://schemas.microsoft.com/office/drawing/2014/main" id="{C9F50022-CC60-4406-9CC5-27113B5544F2}"/>
              </a:ext>
            </a:extLst>
          </p:cNvPr>
          <p:cNvSpPr>
            <a:spLocks xmlns:a="http://schemas.openxmlformats.org/drawingml/2006/main" noGrp="1"/>
          </p:cNvSpPr>
          <p:nvPr/>
        </p:nvSpPr>
        <p:spPr>
          <a:xfrm xmlns:a="http://schemas.openxmlformats.org/drawingml/2006/main">
            <a:off x="609600" y="14763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26A78"/>
                </a:solidFill>
                <a:latin typeface="Nimbus Sans"/>
                <a:ea typeface="Nimbus Sans"/>
                <a:cs typeface="Nimbus Sans"/>
              </a:defRPr>
            </a:pPr>
            <a:r>
              <a:rPr sz="1725" b="0">
                <a:solidFill>
                  <a:srgbClr val="526A78"/>
                </a:solidFill>
                <a:latin typeface="Nimbus Sans"/>
                <a:ea typeface="Nimbus Sans"/>
                <a:cs typeface="Nimbus Sans"/>
              </a:rPr>
              <a:t>A shared capability can support the next agent without another custom setup.</a:t>
            </a:r>
          </a:p>
        </p:txBody>
      </p:sp>
      <p:sp>
        <p:nvSpPr>
          <p:cNvPr id="3" name="">
            <a:extLst xmlns:a="http://schemas.openxmlformats.org/drawingml/2006/main">
              <a:ext uri="{FF2B5EF4-FFF2-40B4-BE49-F238E27FC236}">
                <a16:creationId xmlns:a16="http://schemas.microsoft.com/office/drawing/2014/main" id="{58495772-507D-40F9-9805-32040C078F97}"/>
              </a:ext>
            </a:extLst>
          </p:cNvPr>
          <p:cNvSpPr>
            <a:spLocks xmlns:a="http://schemas.openxmlformats.org/drawingml/2006/main" noGrp="1"/>
          </p:cNvSpPr>
          <p:nvPr/>
        </p:nvSpPr>
        <p:spPr>
          <a:xfrm xmlns:a="http://schemas.openxmlformats.org/drawingml/2006/main">
            <a:off x="609600" y="6448425"/>
            <a:ext cx="10972800" cy="0"/>
          </a:xfrm>
          <a:prstGeom xmlns:a="http://schemas.openxmlformats.org/drawingml/2006/main" prst="line">
            <a:avLst/>
          </a:prstGeom>
          <a:noFill xmlns:a="http://schemas.openxmlformats.org/drawingml/2006/main"/>
          <a:ln xmlns:a="http://schemas.openxmlformats.org/drawingml/2006/main" w="11430">
            <a:solidFill>
              <a:srgbClr val="D6E2E7"/>
            </a:solidFill>
          </a:ln>
        </p:spPr>
      </p:sp>
      <p:sp>
        <p:nvSpPr>
          <p:cNvPr id="4" name="Text GUARDIAN AI  /  CONVERGENCE 2026">
            <a:extLst xmlns:a="http://schemas.openxmlformats.org/drawingml/2006/main">
              <a:ext uri="{FF2B5EF4-FFF2-40B4-BE49-F238E27FC236}">
                <a16:creationId xmlns:a16="http://schemas.microsoft.com/office/drawing/2014/main" id="{2A781CD1-2E7C-479B-80F7-636A1E7257E1}"/>
              </a:ext>
            </a:extLst>
          </p:cNvPr>
          <p:cNvSpPr>
            <a:spLocks xmlns:a="http://schemas.openxmlformats.org/drawingml/2006/main" noGrp="1"/>
          </p:cNvSpPr>
          <p:nvPr/>
        </p:nvSpPr>
        <p:spPr>
          <a:xfrm xmlns:a="http://schemas.openxmlformats.org/drawingml/2006/main">
            <a:off x="609600" y="658177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526A78"/>
                </a:solidFill>
                <a:latin typeface="Nimbus Sans"/>
                <a:ea typeface="Nimbus Sans"/>
                <a:cs typeface="Nimbus Sans"/>
              </a:defRPr>
            </a:pPr>
            <a:r>
              <a:rPr sz="975" b="1">
                <a:solidFill>
                  <a:srgbClr val="526A78"/>
                </a:solidFill>
                <a:latin typeface="Nimbus Sans"/>
                <a:ea typeface="Nimbus Sans"/>
                <a:cs typeface="Nimbus Sans"/>
              </a:rPr>
              <a:t>GUARDIAN AI  /  CONVERGENCE 2026</a:t>
            </a:r>
          </a:p>
        </p:txBody>
      </p:sp>
      <p:sp>
        <p:nvSpPr>
          <p:cNvPr id="5" name="Text 11">
            <a:extLst xmlns:a="http://schemas.openxmlformats.org/drawingml/2006/main">
              <a:ext uri="{FF2B5EF4-FFF2-40B4-BE49-F238E27FC236}">
                <a16:creationId xmlns:a16="http://schemas.microsoft.com/office/drawing/2014/main" id="{9371FB54-D28C-41B9-A48F-41C1C3BC4AA7}"/>
              </a:ext>
            </a:extLst>
          </p:cNvPr>
          <p:cNvSpPr>
            <a:spLocks xmlns:a="http://schemas.openxmlformats.org/drawingml/2006/main" noGrp="1"/>
          </p:cNvSpPr>
          <p:nvPr/>
        </p:nvSpPr>
        <p:spPr>
          <a:xfrm xmlns:a="http://schemas.openxmlformats.org/drawingml/2006/main">
            <a:off x="11096625" y="65722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A78"/>
                </a:solidFill>
                <a:latin typeface="Nimbus Sans"/>
                <a:ea typeface="Nimbus Sans"/>
                <a:cs typeface="Nimbus Sans"/>
              </a:defRPr>
            </a:pPr>
            <a:r>
              <a:rPr sz="1050" b="0">
                <a:solidFill>
                  <a:srgbClr val="526A78"/>
                </a:solidFill>
                <a:latin typeface="Nimbus Sans"/>
                <a:ea typeface="Nimbus Sans"/>
                <a:cs typeface="Nimbus Sans"/>
              </a:rPr>
              <a:t>11</a:t>
            </a:r>
          </a:p>
        </p:txBody>
      </p:sp>
      <p:sp>
        <p:nvSpPr>
          <p:cNvPr id="6" name="diagram">
            <a:extLst xmlns:a="http://schemas.openxmlformats.org/drawingml/2006/main">
              <a:ext uri="{FF2B5EF4-FFF2-40B4-BE49-F238E27FC236}">
                <a16:creationId xmlns:a16="http://schemas.microsoft.com/office/drawing/2014/main" id="{B77E10B9-E052-4A02-92D8-9B4CF9EA74EF}"/>
              </a:ext>
            </a:extLst>
          </p:cNvPr>
          <p:cNvSpPr>
            <a:spLocks xmlns:a="http://schemas.openxmlformats.org/drawingml/2006/main" noGrp="1"/>
          </p:cNvSpPr>
          <p:nvPr/>
        </p:nvSpPr>
        <p:spPr>
          <a:xfrm xmlns:a="http://schemas.openxmlformats.org/drawingml/2006/main">
            <a:off x="609600" y="2200275"/>
            <a:ext cx="3905250" cy="714375"/>
          </a:xfrm>
          <a:prstGeom xmlns:a="http://schemas.openxmlformats.org/drawingml/2006/main" prst="roundRect">
            <a:avLst>
              <a:gd name="adj" fmla="val 14667"/>
            </a:avLst>
          </a:prstGeom>
          <a:solidFill xmlns:a="http://schemas.openxmlformats.org/drawingml/2006/main">
            <a:srgbClr val="187D91"/>
          </a:solidFill>
          <a:ln xmlns:a="http://schemas.openxmlformats.org/drawingml/2006/main" w="0">
            <a:noFill/>
          </a:ln>
        </p:spPr>
      </p:sp>
      <p:sp>
        <p:nvSpPr>
          <p:cNvPr id="7" name="Text Reusable tools">
            <a:extLst xmlns:a="http://schemas.openxmlformats.org/drawingml/2006/main">
              <a:ext uri="{FF2B5EF4-FFF2-40B4-BE49-F238E27FC236}">
                <a16:creationId xmlns:a16="http://schemas.microsoft.com/office/drawing/2014/main" id="{9744F935-6170-42D6-9698-A1352E03A4BB}"/>
              </a:ext>
            </a:extLst>
          </p:cNvPr>
          <p:cNvSpPr>
            <a:spLocks xmlns:a="http://schemas.openxmlformats.org/drawingml/2006/main" noGrp="1"/>
          </p:cNvSpPr>
          <p:nvPr/>
        </p:nvSpPr>
        <p:spPr>
          <a:xfrm xmlns:a="http://schemas.openxmlformats.org/drawingml/2006/main">
            <a:off x="819150" y="2409825"/>
            <a:ext cx="3486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FFFFFF"/>
                </a:solidFill>
                <a:latin typeface="Nimbus Sans"/>
                <a:ea typeface="Nimbus Sans"/>
                <a:cs typeface="Nimbus Sans"/>
              </a:defRPr>
            </a:pPr>
            <a:r>
              <a:rPr sz="2100" b="1">
                <a:solidFill>
                  <a:srgbClr val="FFFFFF"/>
                </a:solidFill>
                <a:latin typeface="Nimbus Sans"/>
                <a:ea typeface="Nimbus Sans"/>
                <a:cs typeface="Nimbus Sans"/>
              </a:rPr>
              <a:t>Reusable tools</a:t>
            </a:r>
          </a:p>
        </p:txBody>
      </p:sp>
      <p:sp>
        <p:nvSpPr>
          <p:cNvPr id="8" name="diagram">
            <a:extLst xmlns:a="http://schemas.openxmlformats.org/drawingml/2006/main">
              <a:ext uri="{FF2B5EF4-FFF2-40B4-BE49-F238E27FC236}">
                <a16:creationId xmlns:a16="http://schemas.microsoft.com/office/drawing/2014/main" id="{BDA508C1-E8DC-45F2-8E82-26BB0A85C1DE}"/>
              </a:ext>
            </a:extLst>
          </p:cNvPr>
          <p:cNvSpPr>
            <a:spLocks xmlns:a="http://schemas.openxmlformats.org/drawingml/2006/main" noGrp="1"/>
          </p:cNvSpPr>
          <p:nvPr/>
        </p:nvSpPr>
        <p:spPr>
          <a:xfrm xmlns:a="http://schemas.openxmlformats.org/drawingml/2006/main">
            <a:off x="5391150" y="2200275"/>
            <a:ext cx="6191250" cy="714375"/>
          </a:xfrm>
          <a:prstGeom xmlns:a="http://schemas.openxmlformats.org/drawingml/2006/main" prst="roundRect">
            <a:avLst>
              <a:gd name="adj" fmla="val 14667"/>
            </a:avLst>
          </a:prstGeom>
          <a:solidFill xmlns:a="http://schemas.openxmlformats.org/drawingml/2006/main">
            <a:srgbClr val="E6F3F5"/>
          </a:solidFill>
          <a:ln xmlns:a="http://schemas.openxmlformats.org/drawingml/2006/main" w="0">
            <a:noFill/>
          </a:ln>
        </p:spPr>
      </p:sp>
      <p:sp>
        <p:nvSpPr>
          <p:cNvPr id="9" name="Text Less repeated integration work">
            <a:extLst xmlns:a="http://schemas.openxmlformats.org/drawingml/2006/main">
              <a:ext uri="{FF2B5EF4-FFF2-40B4-BE49-F238E27FC236}">
                <a16:creationId xmlns:a16="http://schemas.microsoft.com/office/drawing/2014/main" id="{DD80657E-7FF1-475D-A218-8B73343623FD}"/>
              </a:ext>
            </a:extLst>
          </p:cNvPr>
          <p:cNvSpPr>
            <a:spLocks xmlns:a="http://schemas.openxmlformats.org/drawingml/2006/main" noGrp="1"/>
          </p:cNvSpPr>
          <p:nvPr/>
        </p:nvSpPr>
        <p:spPr>
          <a:xfrm xmlns:a="http://schemas.openxmlformats.org/drawingml/2006/main">
            <a:off x="5619750" y="2419350"/>
            <a:ext cx="5734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03B4A"/>
                </a:solidFill>
                <a:latin typeface="Nimbus Sans"/>
                <a:ea typeface="Nimbus Sans"/>
                <a:cs typeface="Nimbus Sans"/>
              </a:defRPr>
            </a:pPr>
            <a:r>
              <a:rPr sz="2025" b="0">
                <a:solidFill>
                  <a:srgbClr val="203B4A"/>
                </a:solidFill>
                <a:latin typeface="Nimbus Sans"/>
                <a:ea typeface="Nimbus Sans"/>
                <a:cs typeface="Nimbus Sans"/>
              </a:rPr>
              <a:t>Less repeated integration work</a:t>
            </a:r>
          </a:p>
        </p:txBody>
      </p:sp>
      <p:cxnSp>
        <p:nvCxnSpPr>
          <p:cNvPr id="36" name=""/>
          <p:cNvCxnSpPr>
            <a:stCxn xmlns:a="http://schemas.openxmlformats.org/drawingml/2006/main" id="6" idx="3"/>
            <a:endCxn xmlns:a="http://schemas.openxmlformats.org/drawingml/2006/main" id="8" idx="1"/>
          </p:cNvCxnSpPr>
          <p:nvPr/>
        </p:nvCxnSpPr>
        <p:spPr>
          <a:xfrm xmlns:a="http://schemas.openxmlformats.org/drawingml/2006/main">
            <a:off x="4514850" y="2557463"/>
            <a:ext cx="876300" cy="0"/>
          </a:xfrm>
          <a:prstGeom xmlns:a="http://schemas.openxmlformats.org/drawingml/2006/main" prst="straightConnector1">
            <a:avLst/>
          </a:prstGeom>
          <a:ln xmlns:a="http://schemas.openxmlformats.org/drawingml/2006/main" w="23813">
            <a:solidFill>
              <a:srgbClr val="187D91"/>
            </a:solidFill>
            <a:tailEnd type="triangle" w="sm" len="sm"/>
          </a:ln>
        </p:spPr>
      </p:cxnSp>
      <p:sp>
        <p:nvSpPr>
          <p:cNvPr id="11" name="diagram">
            <a:extLst xmlns:a="http://schemas.openxmlformats.org/drawingml/2006/main">
              <a:ext uri="{FF2B5EF4-FFF2-40B4-BE49-F238E27FC236}">
                <a16:creationId xmlns:a16="http://schemas.microsoft.com/office/drawing/2014/main" id="{3C383277-0FAC-4DB3-8C7F-A55647ABDFBB}"/>
              </a:ext>
            </a:extLst>
          </p:cNvPr>
          <p:cNvSpPr>
            <a:spLocks xmlns:a="http://schemas.openxmlformats.org/drawingml/2006/main" noGrp="1"/>
          </p:cNvSpPr>
          <p:nvPr/>
        </p:nvSpPr>
        <p:spPr>
          <a:xfrm xmlns:a="http://schemas.openxmlformats.org/drawingml/2006/main">
            <a:off x="609600" y="3143250"/>
            <a:ext cx="3905250" cy="714375"/>
          </a:xfrm>
          <a:prstGeom xmlns:a="http://schemas.openxmlformats.org/drawingml/2006/main" prst="roundRect">
            <a:avLst>
              <a:gd name="adj" fmla="val 14667"/>
            </a:avLst>
          </a:prstGeom>
          <a:solidFill xmlns:a="http://schemas.openxmlformats.org/drawingml/2006/main">
            <a:srgbClr val="FFFFFF"/>
          </a:solidFill>
          <a:ln xmlns:a="http://schemas.openxmlformats.org/drawingml/2006/main" w="15240">
            <a:solidFill>
              <a:srgbClr val="D6E2E7"/>
            </a:solidFill>
          </a:ln>
        </p:spPr>
      </p:sp>
      <p:sp>
        <p:nvSpPr>
          <p:cNvPr id="12" name="Text Guided deployment">
            <a:extLst xmlns:a="http://schemas.openxmlformats.org/drawingml/2006/main">
              <a:ext uri="{FF2B5EF4-FFF2-40B4-BE49-F238E27FC236}">
                <a16:creationId xmlns:a16="http://schemas.microsoft.com/office/drawing/2014/main" id="{D21E39EF-34DB-42FB-9513-4AB6E69A7384}"/>
              </a:ext>
            </a:extLst>
          </p:cNvPr>
          <p:cNvSpPr>
            <a:spLocks xmlns:a="http://schemas.openxmlformats.org/drawingml/2006/main" noGrp="1"/>
          </p:cNvSpPr>
          <p:nvPr/>
        </p:nvSpPr>
        <p:spPr>
          <a:xfrm xmlns:a="http://schemas.openxmlformats.org/drawingml/2006/main">
            <a:off x="819150" y="3352800"/>
            <a:ext cx="3486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03B4A"/>
                </a:solidFill>
                <a:latin typeface="Nimbus Sans"/>
                <a:ea typeface="Nimbus Sans"/>
                <a:cs typeface="Nimbus Sans"/>
              </a:defRPr>
            </a:pPr>
            <a:r>
              <a:rPr sz="2100" b="1">
                <a:solidFill>
                  <a:srgbClr val="203B4A"/>
                </a:solidFill>
                <a:latin typeface="Nimbus Sans"/>
                <a:ea typeface="Nimbus Sans"/>
                <a:cs typeface="Nimbus Sans"/>
              </a:rPr>
              <a:t>Guided deployment</a:t>
            </a:r>
          </a:p>
        </p:txBody>
      </p:sp>
      <p:sp>
        <p:nvSpPr>
          <p:cNvPr id="13" name="diagram">
            <a:extLst xmlns:a="http://schemas.openxmlformats.org/drawingml/2006/main">
              <a:ext uri="{FF2B5EF4-FFF2-40B4-BE49-F238E27FC236}">
                <a16:creationId xmlns:a16="http://schemas.microsoft.com/office/drawing/2014/main" id="{2E466767-37CA-44AB-96F7-C11DA63CFCCB}"/>
              </a:ext>
            </a:extLst>
          </p:cNvPr>
          <p:cNvSpPr>
            <a:spLocks xmlns:a="http://schemas.openxmlformats.org/drawingml/2006/main" noGrp="1"/>
          </p:cNvSpPr>
          <p:nvPr/>
        </p:nvSpPr>
        <p:spPr>
          <a:xfrm xmlns:a="http://schemas.openxmlformats.org/drawingml/2006/main">
            <a:off x="5391150" y="3143250"/>
            <a:ext cx="6191250" cy="714375"/>
          </a:xfrm>
          <a:prstGeom xmlns:a="http://schemas.openxmlformats.org/drawingml/2006/main" prst="roundRect">
            <a:avLst>
              <a:gd name="adj" fmla="val 14667"/>
            </a:avLst>
          </a:prstGeom>
          <a:solidFill xmlns:a="http://schemas.openxmlformats.org/drawingml/2006/main">
            <a:srgbClr val="E6F3F5"/>
          </a:solidFill>
          <a:ln xmlns:a="http://schemas.openxmlformats.org/drawingml/2006/main" w="0">
            <a:noFill/>
          </a:ln>
        </p:spPr>
      </p:sp>
      <p:sp>
        <p:nvSpPr>
          <p:cNvPr id="14" name="Text Fewer platform-team handoffs">
            <a:extLst xmlns:a="http://schemas.openxmlformats.org/drawingml/2006/main">
              <a:ext uri="{FF2B5EF4-FFF2-40B4-BE49-F238E27FC236}">
                <a16:creationId xmlns:a16="http://schemas.microsoft.com/office/drawing/2014/main" id="{A31E4807-922A-4B92-A75B-966FB18F0AC3}"/>
              </a:ext>
            </a:extLst>
          </p:cNvPr>
          <p:cNvSpPr>
            <a:spLocks xmlns:a="http://schemas.openxmlformats.org/drawingml/2006/main" noGrp="1"/>
          </p:cNvSpPr>
          <p:nvPr/>
        </p:nvSpPr>
        <p:spPr>
          <a:xfrm xmlns:a="http://schemas.openxmlformats.org/drawingml/2006/main">
            <a:off x="5619750" y="3362325"/>
            <a:ext cx="5734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03B4A"/>
                </a:solidFill>
                <a:latin typeface="Nimbus Sans"/>
                <a:ea typeface="Nimbus Sans"/>
                <a:cs typeface="Nimbus Sans"/>
              </a:defRPr>
            </a:pPr>
            <a:r>
              <a:rPr sz="2025" b="0">
                <a:solidFill>
                  <a:srgbClr val="203B4A"/>
                </a:solidFill>
                <a:latin typeface="Nimbus Sans"/>
                <a:ea typeface="Nimbus Sans"/>
                <a:cs typeface="Nimbus Sans"/>
              </a:rPr>
              <a:t>Fewer platform-team handoffs</a:t>
            </a:r>
          </a:p>
        </p:txBody>
      </p:sp>
      <p:cxnSp>
        <p:nvCxnSpPr>
          <p:cNvPr id="41" name=""/>
          <p:cNvCxnSpPr>
            <a:stCxn xmlns:a="http://schemas.openxmlformats.org/drawingml/2006/main" id="11" idx="3"/>
            <a:endCxn xmlns:a="http://schemas.openxmlformats.org/drawingml/2006/main" id="13" idx="1"/>
          </p:cNvCxnSpPr>
          <p:nvPr/>
        </p:nvCxnSpPr>
        <p:spPr>
          <a:xfrm xmlns:a="http://schemas.openxmlformats.org/drawingml/2006/main">
            <a:off x="4514850" y="3500438"/>
            <a:ext cx="876300" cy="0"/>
          </a:xfrm>
          <a:prstGeom xmlns:a="http://schemas.openxmlformats.org/drawingml/2006/main" prst="straightConnector1">
            <a:avLst/>
          </a:prstGeom>
          <a:ln xmlns:a="http://schemas.openxmlformats.org/drawingml/2006/main" w="23813">
            <a:solidFill>
              <a:srgbClr val="187D91"/>
            </a:solidFill>
            <a:tailEnd type="triangle" w="sm" len="sm"/>
          </a:ln>
        </p:spPr>
      </p:cxnSp>
      <p:sp>
        <p:nvSpPr>
          <p:cNvPr id="16" name="diagram">
            <a:extLst xmlns:a="http://schemas.openxmlformats.org/drawingml/2006/main">
              <a:ext uri="{FF2B5EF4-FFF2-40B4-BE49-F238E27FC236}">
                <a16:creationId xmlns:a16="http://schemas.microsoft.com/office/drawing/2014/main" id="{7CC9382C-5267-454F-8EEA-F7B05747FE57}"/>
              </a:ext>
            </a:extLst>
          </p:cNvPr>
          <p:cNvSpPr>
            <a:spLocks xmlns:a="http://schemas.openxmlformats.org/drawingml/2006/main" noGrp="1"/>
          </p:cNvSpPr>
          <p:nvPr/>
        </p:nvSpPr>
        <p:spPr>
          <a:xfrm xmlns:a="http://schemas.openxmlformats.org/drawingml/2006/main">
            <a:off x="609600" y="4086225"/>
            <a:ext cx="3905250" cy="714375"/>
          </a:xfrm>
          <a:prstGeom xmlns:a="http://schemas.openxmlformats.org/drawingml/2006/main" prst="roundRect">
            <a:avLst>
              <a:gd name="adj" fmla="val 14667"/>
            </a:avLst>
          </a:prstGeom>
          <a:solidFill xmlns:a="http://schemas.openxmlformats.org/drawingml/2006/main">
            <a:srgbClr val="FFFFFF"/>
          </a:solidFill>
          <a:ln xmlns:a="http://schemas.openxmlformats.org/drawingml/2006/main" w="15240">
            <a:solidFill>
              <a:srgbClr val="D6E2E7"/>
            </a:solidFill>
          </a:ln>
        </p:spPr>
      </p:sp>
      <p:sp>
        <p:nvSpPr>
          <p:cNvPr id="17" name="Text Common controls">
            <a:extLst xmlns:a="http://schemas.openxmlformats.org/drawingml/2006/main">
              <a:ext uri="{FF2B5EF4-FFF2-40B4-BE49-F238E27FC236}">
                <a16:creationId xmlns:a16="http://schemas.microsoft.com/office/drawing/2014/main" id="{BB3D54C2-7421-4FFD-BADD-F5BC41384793}"/>
              </a:ext>
            </a:extLst>
          </p:cNvPr>
          <p:cNvSpPr>
            <a:spLocks xmlns:a="http://schemas.openxmlformats.org/drawingml/2006/main" noGrp="1"/>
          </p:cNvSpPr>
          <p:nvPr/>
        </p:nvSpPr>
        <p:spPr>
          <a:xfrm xmlns:a="http://schemas.openxmlformats.org/drawingml/2006/main">
            <a:off x="819150" y="4295775"/>
            <a:ext cx="3486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03B4A"/>
                </a:solidFill>
                <a:latin typeface="Nimbus Sans"/>
                <a:ea typeface="Nimbus Sans"/>
                <a:cs typeface="Nimbus Sans"/>
              </a:defRPr>
            </a:pPr>
            <a:r>
              <a:rPr sz="2100" b="1">
                <a:solidFill>
                  <a:srgbClr val="203B4A"/>
                </a:solidFill>
                <a:latin typeface="Nimbus Sans"/>
                <a:ea typeface="Nimbus Sans"/>
                <a:cs typeface="Nimbus Sans"/>
              </a:rPr>
              <a:t>Common controls</a:t>
            </a:r>
          </a:p>
        </p:txBody>
      </p:sp>
      <p:sp>
        <p:nvSpPr>
          <p:cNvPr id="18" name="diagram">
            <a:extLst xmlns:a="http://schemas.openxmlformats.org/drawingml/2006/main">
              <a:ext uri="{FF2B5EF4-FFF2-40B4-BE49-F238E27FC236}">
                <a16:creationId xmlns:a16="http://schemas.microsoft.com/office/drawing/2014/main" id="{84AB268C-6E17-47CA-B7DA-7A05A36CC39A}"/>
              </a:ext>
            </a:extLst>
          </p:cNvPr>
          <p:cNvSpPr>
            <a:spLocks xmlns:a="http://schemas.openxmlformats.org/drawingml/2006/main" noGrp="1"/>
          </p:cNvSpPr>
          <p:nvPr/>
        </p:nvSpPr>
        <p:spPr>
          <a:xfrm xmlns:a="http://schemas.openxmlformats.org/drawingml/2006/main">
            <a:off x="5391150" y="4086225"/>
            <a:ext cx="6191250" cy="714375"/>
          </a:xfrm>
          <a:prstGeom xmlns:a="http://schemas.openxmlformats.org/drawingml/2006/main" prst="roundRect">
            <a:avLst>
              <a:gd name="adj" fmla="val 14667"/>
            </a:avLst>
          </a:prstGeom>
          <a:solidFill xmlns:a="http://schemas.openxmlformats.org/drawingml/2006/main">
            <a:srgbClr val="E6F3F5"/>
          </a:solidFill>
          <a:ln xmlns:a="http://schemas.openxmlformats.org/drawingml/2006/main" w="0">
            <a:noFill/>
          </a:ln>
        </p:spPr>
      </p:sp>
      <p:sp>
        <p:nvSpPr>
          <p:cNvPr id="19" name="Text More consistent enterprise oversigh">
            <a:extLst xmlns:a="http://schemas.openxmlformats.org/drawingml/2006/main">
              <a:ext uri="{FF2B5EF4-FFF2-40B4-BE49-F238E27FC236}">
                <a16:creationId xmlns:a16="http://schemas.microsoft.com/office/drawing/2014/main" id="{3A55A204-CD15-4831-B5E6-DCA9C3044FFD}"/>
              </a:ext>
            </a:extLst>
          </p:cNvPr>
          <p:cNvSpPr>
            <a:spLocks xmlns:a="http://schemas.openxmlformats.org/drawingml/2006/main" noGrp="1"/>
          </p:cNvSpPr>
          <p:nvPr/>
        </p:nvSpPr>
        <p:spPr>
          <a:xfrm xmlns:a="http://schemas.openxmlformats.org/drawingml/2006/main">
            <a:off x="5619750" y="4305300"/>
            <a:ext cx="5734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03B4A"/>
                </a:solidFill>
                <a:latin typeface="Nimbus Sans"/>
                <a:ea typeface="Nimbus Sans"/>
                <a:cs typeface="Nimbus Sans"/>
              </a:defRPr>
            </a:pPr>
            <a:r>
              <a:rPr sz="2025" b="0">
                <a:solidFill>
                  <a:srgbClr val="203B4A"/>
                </a:solidFill>
                <a:latin typeface="Nimbus Sans"/>
                <a:ea typeface="Nimbus Sans"/>
                <a:cs typeface="Nimbus Sans"/>
              </a:rPr>
              <a:t>More consistent enterprise oversight</a:t>
            </a:r>
          </a:p>
        </p:txBody>
      </p:sp>
      <p:cxnSp>
        <p:nvCxnSpPr>
          <p:cNvPr id="46" name=""/>
          <p:cNvCxnSpPr>
            <a:stCxn xmlns:a="http://schemas.openxmlformats.org/drawingml/2006/main" id="16" idx="3"/>
            <a:endCxn xmlns:a="http://schemas.openxmlformats.org/drawingml/2006/main" id="18" idx="1"/>
          </p:cNvCxnSpPr>
          <p:nvPr/>
        </p:nvCxnSpPr>
        <p:spPr>
          <a:xfrm xmlns:a="http://schemas.openxmlformats.org/drawingml/2006/main">
            <a:off x="4514850" y="4443413"/>
            <a:ext cx="876300" cy="0"/>
          </a:xfrm>
          <a:prstGeom xmlns:a="http://schemas.openxmlformats.org/drawingml/2006/main" prst="straightConnector1">
            <a:avLst/>
          </a:prstGeom>
          <a:ln xmlns:a="http://schemas.openxmlformats.org/drawingml/2006/main" w="23813">
            <a:solidFill>
              <a:srgbClr val="187D91"/>
            </a:solidFill>
            <a:tailEnd type="triangle" w="sm" len="sm"/>
          </a:ln>
        </p:spPr>
      </p:cxnSp>
      <p:sp>
        <p:nvSpPr>
          <p:cNvPr id="21" name="diagram">
            <a:extLst xmlns:a="http://schemas.openxmlformats.org/drawingml/2006/main">
              <a:ext uri="{FF2B5EF4-FFF2-40B4-BE49-F238E27FC236}">
                <a16:creationId xmlns:a16="http://schemas.microsoft.com/office/drawing/2014/main" id="{74FA16B2-C941-46BC-9DBB-40E0B50D9508}"/>
              </a:ext>
            </a:extLst>
          </p:cNvPr>
          <p:cNvSpPr>
            <a:spLocks xmlns:a="http://schemas.openxmlformats.org/drawingml/2006/main" noGrp="1"/>
          </p:cNvSpPr>
          <p:nvPr/>
        </p:nvSpPr>
        <p:spPr>
          <a:xfrm xmlns:a="http://schemas.openxmlformats.org/drawingml/2006/main">
            <a:off x="609600" y="5029200"/>
            <a:ext cx="3905250" cy="714375"/>
          </a:xfrm>
          <a:prstGeom xmlns:a="http://schemas.openxmlformats.org/drawingml/2006/main" prst="roundRect">
            <a:avLst>
              <a:gd name="adj" fmla="val 14667"/>
            </a:avLst>
          </a:prstGeom>
          <a:solidFill xmlns:a="http://schemas.openxmlformats.org/drawingml/2006/main">
            <a:srgbClr val="FFFFFF"/>
          </a:solidFill>
          <a:ln xmlns:a="http://schemas.openxmlformats.org/drawingml/2006/main" w="15240">
            <a:solidFill>
              <a:srgbClr val="D6E2E7"/>
            </a:solidFill>
          </a:ln>
        </p:spPr>
      </p:sp>
      <p:sp>
        <p:nvSpPr>
          <p:cNvPr id="22" name="Text Shared operations">
            <a:extLst xmlns:a="http://schemas.openxmlformats.org/drawingml/2006/main">
              <a:ext uri="{FF2B5EF4-FFF2-40B4-BE49-F238E27FC236}">
                <a16:creationId xmlns:a16="http://schemas.microsoft.com/office/drawing/2014/main" id="{FDD94065-3C2F-4487-B800-23B5878B6FD6}"/>
              </a:ext>
            </a:extLst>
          </p:cNvPr>
          <p:cNvSpPr>
            <a:spLocks xmlns:a="http://schemas.openxmlformats.org/drawingml/2006/main" noGrp="1"/>
          </p:cNvSpPr>
          <p:nvPr/>
        </p:nvSpPr>
        <p:spPr>
          <a:xfrm xmlns:a="http://schemas.openxmlformats.org/drawingml/2006/main">
            <a:off x="819150" y="5238750"/>
            <a:ext cx="3486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03B4A"/>
                </a:solidFill>
                <a:latin typeface="Nimbus Sans"/>
                <a:ea typeface="Nimbus Sans"/>
                <a:cs typeface="Nimbus Sans"/>
              </a:defRPr>
            </a:pPr>
            <a:r>
              <a:rPr sz="2100" b="1">
                <a:solidFill>
                  <a:srgbClr val="203B4A"/>
                </a:solidFill>
                <a:latin typeface="Nimbus Sans"/>
                <a:ea typeface="Nimbus Sans"/>
                <a:cs typeface="Nimbus Sans"/>
              </a:rPr>
              <a:t>Shared operations</a:t>
            </a:r>
          </a:p>
        </p:txBody>
      </p:sp>
      <p:sp>
        <p:nvSpPr>
          <p:cNvPr id="23" name="diagram">
            <a:extLst xmlns:a="http://schemas.openxmlformats.org/drawingml/2006/main">
              <a:ext uri="{FF2B5EF4-FFF2-40B4-BE49-F238E27FC236}">
                <a16:creationId xmlns:a16="http://schemas.microsoft.com/office/drawing/2014/main" id="{D308023F-304B-4136-B640-7678C9A99758}"/>
              </a:ext>
            </a:extLst>
          </p:cNvPr>
          <p:cNvSpPr>
            <a:spLocks xmlns:a="http://schemas.openxmlformats.org/drawingml/2006/main" noGrp="1"/>
          </p:cNvSpPr>
          <p:nvPr/>
        </p:nvSpPr>
        <p:spPr>
          <a:xfrm xmlns:a="http://schemas.openxmlformats.org/drawingml/2006/main">
            <a:off x="5391150" y="5029200"/>
            <a:ext cx="6191250" cy="714375"/>
          </a:xfrm>
          <a:prstGeom xmlns:a="http://schemas.openxmlformats.org/drawingml/2006/main" prst="roundRect">
            <a:avLst>
              <a:gd name="adj" fmla="val 14667"/>
            </a:avLst>
          </a:prstGeom>
          <a:solidFill xmlns:a="http://schemas.openxmlformats.org/drawingml/2006/main">
            <a:srgbClr val="E6F3F5"/>
          </a:solidFill>
          <a:ln xmlns:a="http://schemas.openxmlformats.org/drawingml/2006/main" w="0">
            <a:noFill/>
          </a:ln>
        </p:spPr>
      </p:sp>
      <p:sp>
        <p:nvSpPr>
          <p:cNvPr id="24" name="Text A clearer view of activity and spen">
            <a:extLst xmlns:a="http://schemas.openxmlformats.org/drawingml/2006/main">
              <a:ext uri="{FF2B5EF4-FFF2-40B4-BE49-F238E27FC236}">
                <a16:creationId xmlns:a16="http://schemas.microsoft.com/office/drawing/2014/main" id="{52E3900F-FBD1-4654-B193-4904B64C7B67}"/>
              </a:ext>
            </a:extLst>
          </p:cNvPr>
          <p:cNvSpPr>
            <a:spLocks xmlns:a="http://schemas.openxmlformats.org/drawingml/2006/main" noGrp="1"/>
          </p:cNvSpPr>
          <p:nvPr/>
        </p:nvSpPr>
        <p:spPr>
          <a:xfrm xmlns:a="http://schemas.openxmlformats.org/drawingml/2006/main">
            <a:off x="5619750" y="5248275"/>
            <a:ext cx="5734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03B4A"/>
                </a:solidFill>
                <a:latin typeface="Nimbus Sans"/>
                <a:ea typeface="Nimbus Sans"/>
                <a:cs typeface="Nimbus Sans"/>
              </a:defRPr>
            </a:pPr>
            <a:r>
              <a:rPr sz="2025" b="0">
                <a:solidFill>
                  <a:srgbClr val="203B4A"/>
                </a:solidFill>
                <a:latin typeface="Nimbus Sans"/>
                <a:ea typeface="Nimbus Sans"/>
                <a:cs typeface="Nimbus Sans"/>
              </a:rPr>
              <a:t>A clearer view of activity and spend</a:t>
            </a:r>
          </a:p>
        </p:txBody>
      </p:sp>
      <p:cxnSp>
        <p:nvCxnSpPr>
          <p:cNvPr id="51" name=""/>
          <p:cNvCxnSpPr>
            <a:stCxn xmlns:a="http://schemas.openxmlformats.org/drawingml/2006/main" id="21" idx="3"/>
            <a:endCxn xmlns:a="http://schemas.openxmlformats.org/drawingml/2006/main" id="23" idx="1"/>
          </p:cNvCxnSpPr>
          <p:nvPr/>
        </p:nvCxnSpPr>
        <p:spPr>
          <a:xfrm xmlns:a="http://schemas.openxmlformats.org/drawingml/2006/main">
            <a:off x="4514850" y="5386388"/>
            <a:ext cx="876300" cy="0"/>
          </a:xfrm>
          <a:prstGeom xmlns:a="http://schemas.openxmlformats.org/drawingml/2006/main" prst="straightConnector1">
            <a:avLst/>
          </a:prstGeom>
          <a:ln xmlns:a="http://schemas.openxmlformats.org/drawingml/2006/main" w="23813">
            <a:solidFill>
              <a:srgbClr val="187D91"/>
            </a:solidFill>
            <a:tailEnd type="triangle" w="sm" len="sm"/>
          </a:ln>
        </p:spPr>
      </p:cxnSp>
      <p:sp>
        <p:nvSpPr>
          <p:cNvPr id="26" name="Text Expected benefits of the shared-pla">
            <a:extLst xmlns:a="http://schemas.openxmlformats.org/drawingml/2006/main">
              <a:ext uri="{FF2B5EF4-FFF2-40B4-BE49-F238E27FC236}">
                <a16:creationId xmlns:a16="http://schemas.microsoft.com/office/drawing/2014/main" id="{22CA093A-9101-4F72-ACDA-9236EE631DB1}"/>
              </a:ext>
            </a:extLst>
          </p:cNvPr>
          <p:cNvSpPr>
            <a:spLocks xmlns:a="http://schemas.openxmlformats.org/drawingml/2006/main" noGrp="1"/>
          </p:cNvSpPr>
          <p:nvPr/>
        </p:nvSpPr>
        <p:spPr>
          <a:xfrm xmlns:a="http://schemas.openxmlformats.org/drawingml/2006/main">
            <a:off x="609600" y="6134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A78"/>
                </a:solidFill>
                <a:latin typeface="Nimbus Sans"/>
                <a:ea typeface="Nimbus Sans"/>
                <a:cs typeface="Nimbus Sans"/>
              </a:defRPr>
            </a:pPr>
            <a:r>
              <a:rPr sz="1425" b="0">
                <a:solidFill>
                  <a:srgbClr val="526A78"/>
                </a:solidFill>
                <a:latin typeface="Nimbus Sans"/>
                <a:ea typeface="Nimbus Sans"/>
                <a:cs typeface="Nimbus Sans"/>
              </a:rPr>
              <a:t>Expected benefits of the shared-platform model; mature controls and FinOps require the next milestones.</a:t>
            </a:r>
          </a:p>
        </p:txBody>
      </p:sp>
    </p:spTree>
    <p:extLst>
      <p:ext uri="{BB962C8B-B14F-4D97-AF65-F5344CB8AC3E}">
        <p14:creationId xmlns:p14="http://schemas.microsoft.com/office/powerpoint/2010/main" val="1896619638"/>
      </p:ext>
    </p:extLst>
  </p:cSld>
</p:sld>
</file>

<file path=ppt/slides/slide12.xml><?xml version="1.0" encoding="utf-8"?>
<p:sld xmlns:p="http://schemas.openxmlformats.org/presentationml/2006/main">
  <p:cSld>
    <p:bg>
      <p:bgPr>
        <a:solidFill xmlns:a="http://schemas.openxmlformats.org/drawingml/2006/main">
          <a:srgbClr val="152E3D"/>
        </a:solidFill>
      </p:bgPr>
    </p:bg>
    <p:spTree>
      <p:nvGrpSpPr>
        <p:cNvPr id="1" name=""/>
        <p:cNvGrpSpPr/>
        <p:nvPr/>
      </p:nvGrpSpPr>
      <p:grpSpPr>
        <a:xfrm xmlns:a="http://schemas.openxmlformats.org/drawingml/2006/main"/>
      </p:grpSpPr>
      <p:sp>
        <p:nvSpPr>
          <p:cNvPr id="14" name="Text The goal: agent deployment in days">
            <a:extLst xmlns:a="http://schemas.openxmlformats.org/drawingml/2006/main">
              <a:ext uri="{FF2B5EF4-FFF2-40B4-BE49-F238E27FC236}">
                <a16:creationId xmlns:a16="http://schemas.microsoft.com/office/drawing/2014/main" id="{5A4C46E4-E0DE-4FAC-A802-EE7B024097E9}"/>
              </a:ext>
            </a:extLst>
          </p:cNvPr>
          <p:cNvSpPr>
            <a:spLocks xmlns:a="http://schemas.openxmlformats.org/drawingml/2006/main" noGrp="1"/>
          </p:cNvSpPr>
          <p:nvPr/>
        </p:nvSpPr>
        <p:spPr>
          <a:xfrm xmlns:a="http://schemas.openxmlformats.org/drawingml/2006/main">
            <a:off x="609600" y="523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FFFFFF"/>
                </a:solidFill>
                <a:latin typeface="Nimbus Sans"/>
                <a:ea typeface="Nimbus Sans"/>
                <a:cs typeface="Nimbus Sans"/>
              </a:defRPr>
            </a:pPr>
            <a:r>
              <a:rPr sz="3150" b="1">
                <a:solidFill>
                  <a:srgbClr val="FFFFFF"/>
                </a:solidFill>
                <a:latin typeface="Nimbus Sans"/>
                <a:ea typeface="Nimbus Sans"/>
                <a:cs typeface="Nimbus Sans"/>
              </a:rPr>
              <a:t>The goal: agent deployment in days</a:t>
            </a:r>
          </a:p>
        </p:txBody>
      </p:sp>
      <p:sp>
        <p:nvSpPr>
          <p:cNvPr id="2" name="Text Less setup and waiting. More time f">
            <a:extLst xmlns:a="http://schemas.openxmlformats.org/drawingml/2006/main">
              <a:ext uri="{FF2B5EF4-FFF2-40B4-BE49-F238E27FC236}">
                <a16:creationId xmlns:a16="http://schemas.microsoft.com/office/drawing/2014/main" id="{60B64CF7-6263-40D4-A69F-76982DC1CDB9}"/>
              </a:ext>
            </a:extLst>
          </p:cNvPr>
          <p:cNvSpPr>
            <a:spLocks xmlns:a="http://schemas.openxmlformats.org/drawingml/2006/main" noGrp="1"/>
          </p:cNvSpPr>
          <p:nvPr/>
        </p:nvSpPr>
        <p:spPr>
          <a:xfrm xmlns:a="http://schemas.openxmlformats.org/drawingml/2006/main">
            <a:off x="609600" y="14763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7DD6DD"/>
                </a:solidFill>
                <a:latin typeface="Nimbus Sans"/>
                <a:ea typeface="Nimbus Sans"/>
                <a:cs typeface="Nimbus Sans"/>
              </a:defRPr>
            </a:pPr>
            <a:r>
              <a:rPr sz="1725" b="0">
                <a:solidFill>
                  <a:srgbClr val="7DD6DD"/>
                </a:solidFill>
                <a:latin typeface="Nimbus Sans"/>
                <a:ea typeface="Nimbus Sans"/>
                <a:cs typeface="Nimbus Sans"/>
              </a:rPr>
              <a:t>Less setup and waiting. More time for business value.</a:t>
            </a:r>
          </a:p>
        </p:txBody>
      </p:sp>
      <p:sp>
        <p:nvSpPr>
          <p:cNvPr id="3" name="">
            <a:extLst xmlns:a="http://schemas.openxmlformats.org/drawingml/2006/main">
              <a:ext uri="{FF2B5EF4-FFF2-40B4-BE49-F238E27FC236}">
                <a16:creationId xmlns:a16="http://schemas.microsoft.com/office/drawing/2014/main" id="{79E8337E-413E-4A27-BD1A-274EF05E1EB9}"/>
              </a:ext>
            </a:extLst>
          </p:cNvPr>
          <p:cNvSpPr>
            <a:spLocks xmlns:a="http://schemas.openxmlformats.org/drawingml/2006/main" noGrp="1"/>
          </p:cNvSpPr>
          <p:nvPr/>
        </p:nvSpPr>
        <p:spPr>
          <a:xfrm xmlns:a="http://schemas.openxmlformats.org/drawingml/2006/main">
            <a:off x="609600" y="6448425"/>
            <a:ext cx="10972800" cy="0"/>
          </a:xfrm>
          <a:prstGeom xmlns:a="http://schemas.openxmlformats.org/drawingml/2006/main" prst="line">
            <a:avLst/>
          </a:prstGeom>
          <a:noFill xmlns:a="http://schemas.openxmlformats.org/drawingml/2006/main"/>
          <a:ln xmlns:a="http://schemas.openxmlformats.org/drawingml/2006/main" w="11430">
            <a:solidFill>
              <a:srgbClr val="385362"/>
            </a:solidFill>
          </a:ln>
        </p:spPr>
      </p:sp>
      <p:sp>
        <p:nvSpPr>
          <p:cNvPr id="4" name="Text GUARDIAN AI  /  CONVERGENCE 2026">
            <a:extLst xmlns:a="http://schemas.openxmlformats.org/drawingml/2006/main">
              <a:ext uri="{FF2B5EF4-FFF2-40B4-BE49-F238E27FC236}">
                <a16:creationId xmlns:a16="http://schemas.microsoft.com/office/drawing/2014/main" id="{CD81F5FE-C883-4EF4-8BBA-5C57606B8914}"/>
              </a:ext>
            </a:extLst>
          </p:cNvPr>
          <p:cNvSpPr>
            <a:spLocks xmlns:a="http://schemas.openxmlformats.org/drawingml/2006/main" noGrp="1"/>
          </p:cNvSpPr>
          <p:nvPr/>
        </p:nvSpPr>
        <p:spPr>
          <a:xfrm xmlns:a="http://schemas.openxmlformats.org/drawingml/2006/main">
            <a:off x="609600" y="6581775"/>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1">
                <a:solidFill>
                  <a:srgbClr val="7DD6DD"/>
                </a:solidFill>
                <a:latin typeface="Nimbus Sans"/>
                <a:ea typeface="Nimbus Sans"/>
                <a:cs typeface="Nimbus Sans"/>
              </a:defRPr>
            </a:pPr>
            <a:r>
              <a:rPr sz="975" b="1">
                <a:solidFill>
                  <a:srgbClr val="7DD6DD"/>
                </a:solidFill>
                <a:latin typeface="Nimbus Sans"/>
                <a:ea typeface="Nimbus Sans"/>
                <a:cs typeface="Nimbus Sans"/>
              </a:rPr>
              <a:t>GUARDIAN AI  /  CONVERGENCE 2026</a:t>
            </a:r>
          </a:p>
        </p:txBody>
      </p:sp>
      <p:sp>
        <p:nvSpPr>
          <p:cNvPr id="5" name="Text 12">
            <a:extLst xmlns:a="http://schemas.openxmlformats.org/drawingml/2006/main">
              <a:ext uri="{FF2B5EF4-FFF2-40B4-BE49-F238E27FC236}">
                <a16:creationId xmlns:a16="http://schemas.microsoft.com/office/drawing/2014/main" id="{AACE0656-7A16-40F3-A626-8BA320E16ED1}"/>
              </a:ext>
            </a:extLst>
          </p:cNvPr>
          <p:cNvSpPr>
            <a:spLocks xmlns:a="http://schemas.openxmlformats.org/drawingml/2006/main" noGrp="1"/>
          </p:cNvSpPr>
          <p:nvPr/>
        </p:nvSpPr>
        <p:spPr>
          <a:xfrm xmlns:a="http://schemas.openxmlformats.org/drawingml/2006/main">
            <a:off x="11096625" y="65722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7DD6DD"/>
                </a:solidFill>
                <a:latin typeface="Nimbus Sans"/>
                <a:ea typeface="Nimbus Sans"/>
                <a:cs typeface="Nimbus Sans"/>
              </a:defRPr>
            </a:pPr>
            <a:r>
              <a:rPr sz="1050" b="0">
                <a:solidFill>
                  <a:srgbClr val="7DD6DD"/>
                </a:solidFill>
                <a:latin typeface="Nimbus Sans"/>
                <a:ea typeface="Nimbus Sans"/>
                <a:cs typeface="Nimbus Sans"/>
              </a:rPr>
              <a:t>12</a:t>
            </a:r>
          </a:p>
        </p:txBody>
      </p:sp>
      <p:sp>
        <p:nvSpPr>
          <p:cNvPr id="6" name="Text TRADITIONAL SETUP">
            <a:extLst xmlns:a="http://schemas.openxmlformats.org/drawingml/2006/main">
              <a:ext uri="{FF2B5EF4-FFF2-40B4-BE49-F238E27FC236}">
                <a16:creationId xmlns:a16="http://schemas.microsoft.com/office/drawing/2014/main" id="{F8C21B55-60A9-43BF-8CB5-F91DDFE9ACC6}"/>
              </a:ext>
            </a:extLst>
          </p:cNvPr>
          <p:cNvSpPr>
            <a:spLocks xmlns:a="http://schemas.openxmlformats.org/drawingml/2006/main" noGrp="1"/>
          </p:cNvSpPr>
          <p:nvPr/>
        </p:nvSpPr>
        <p:spPr>
          <a:xfrm xmlns:a="http://schemas.openxmlformats.org/drawingml/2006/main">
            <a:off x="609600" y="2333625"/>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7DD6DD"/>
                </a:solidFill>
                <a:latin typeface="Nimbus Sans"/>
                <a:ea typeface="Nimbus Sans"/>
                <a:cs typeface="Nimbus Sans"/>
              </a:defRPr>
            </a:pPr>
            <a:r>
              <a:rPr sz="1650" b="1">
                <a:solidFill>
                  <a:srgbClr val="7DD6DD"/>
                </a:solidFill>
                <a:latin typeface="Nimbus Sans"/>
                <a:ea typeface="Nimbus Sans"/>
                <a:cs typeface="Nimbus Sans"/>
              </a:rPr>
              <a:t>TRADITIONAL SETUP</a:t>
            </a:r>
          </a:p>
        </p:txBody>
      </p:sp>
      <p:sp>
        <p:nvSpPr>
          <p:cNvPr id="7" name="Text WITH GUARDIAN CONTROL PLANE">
            <a:extLst xmlns:a="http://schemas.openxmlformats.org/drawingml/2006/main">
              <a:ext uri="{FF2B5EF4-FFF2-40B4-BE49-F238E27FC236}">
                <a16:creationId xmlns:a16="http://schemas.microsoft.com/office/drawing/2014/main" id="{42DAF471-7270-44A3-AE1B-3E66F2CC7487}"/>
              </a:ext>
            </a:extLst>
          </p:cNvPr>
          <p:cNvSpPr>
            <a:spLocks xmlns:a="http://schemas.openxmlformats.org/drawingml/2006/main" noGrp="1"/>
          </p:cNvSpPr>
          <p:nvPr/>
        </p:nvSpPr>
        <p:spPr>
          <a:xfrm xmlns:a="http://schemas.openxmlformats.org/drawingml/2006/main">
            <a:off x="7010400" y="2333625"/>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7DD6DD"/>
                </a:solidFill>
                <a:latin typeface="Nimbus Sans"/>
                <a:ea typeface="Nimbus Sans"/>
                <a:cs typeface="Nimbus Sans"/>
              </a:defRPr>
            </a:pPr>
            <a:r>
              <a:rPr sz="1650" b="1">
                <a:solidFill>
                  <a:srgbClr val="7DD6DD"/>
                </a:solidFill>
                <a:latin typeface="Nimbus Sans"/>
                <a:ea typeface="Nimbus Sans"/>
                <a:cs typeface="Nimbus Sans"/>
              </a:rPr>
              <a:t>WITH GUARDIAN CONTROL PLANE</a:t>
            </a:r>
          </a:p>
        </p:txBody>
      </p:sp>
      <p:sp>
        <p:nvSpPr>
          <p:cNvPr id="8" name="Text A few&#10;weeks">
            <a:extLst xmlns:a="http://schemas.openxmlformats.org/drawingml/2006/main">
              <a:ext uri="{FF2B5EF4-FFF2-40B4-BE49-F238E27FC236}">
                <a16:creationId xmlns:a16="http://schemas.microsoft.com/office/drawing/2014/main" id="{19BD8802-31A1-4501-95B7-DB6DE0CF471F}"/>
              </a:ext>
            </a:extLst>
          </p:cNvPr>
          <p:cNvSpPr>
            <a:spLocks xmlns:a="http://schemas.openxmlformats.org/drawingml/2006/main" noGrp="1"/>
          </p:cNvSpPr>
          <p:nvPr/>
        </p:nvSpPr>
        <p:spPr>
          <a:xfrm xmlns:a="http://schemas.openxmlformats.org/drawingml/2006/main">
            <a:off x="609600" y="3019425"/>
            <a:ext cx="4495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000" b="1">
                <a:solidFill>
                  <a:srgbClr val="FFFFFF"/>
                </a:solidFill>
                <a:latin typeface="Nimbus Sans"/>
                <a:ea typeface="Nimbus Sans"/>
                <a:cs typeface="Nimbus Sans"/>
              </a:defRPr>
            </a:pPr>
            <a:r>
              <a:rPr sz="6000" b="1">
                <a:solidFill>
                  <a:srgbClr val="FFFFFF"/>
                </a:solidFill>
                <a:latin typeface="Nimbus Sans"/>
                <a:ea typeface="Nimbus Sans"/>
                <a:cs typeface="Nimbus Sans"/>
              </a:rPr>
              <a:t>A few</a:t>
            </a:r>
          </a:p>
          <a:p xmlns:a="http://schemas.openxmlformats.org/drawingml/2006/main">
            <a:pPr algn="l">
              <a:defRPr sz="6000" b="1">
                <a:solidFill>
                  <a:srgbClr val="FFFFFF"/>
                </a:solidFill>
                <a:latin typeface="Nimbus Sans"/>
                <a:ea typeface="Nimbus Sans"/>
                <a:cs typeface="Nimbus Sans"/>
              </a:defRPr>
            </a:pPr>
            <a:r>
              <a:rPr sz="6000" b="1">
                <a:solidFill>
                  <a:srgbClr val="FFFFFF"/>
                </a:solidFill>
                <a:latin typeface="Nimbus Sans"/>
                <a:ea typeface="Nimbus Sans"/>
                <a:cs typeface="Nimbus Sans"/>
              </a:rPr>
              <a:t>weeks</a:t>
            </a:r>
          </a:p>
        </p:txBody>
      </p:sp>
      <p:sp>
        <p:nvSpPr>
          <p:cNvPr id="9" name="Text 2–3&#10;days">
            <a:extLst xmlns:a="http://schemas.openxmlformats.org/drawingml/2006/main">
              <a:ext uri="{FF2B5EF4-FFF2-40B4-BE49-F238E27FC236}">
                <a16:creationId xmlns:a16="http://schemas.microsoft.com/office/drawing/2014/main" id="{8D1F0DE4-D1B3-4F2F-909B-B57187BD3923}"/>
              </a:ext>
            </a:extLst>
          </p:cNvPr>
          <p:cNvSpPr>
            <a:spLocks xmlns:a="http://schemas.openxmlformats.org/drawingml/2006/main" noGrp="1"/>
          </p:cNvSpPr>
          <p:nvPr/>
        </p:nvSpPr>
        <p:spPr>
          <a:xfrm xmlns:a="http://schemas.openxmlformats.org/drawingml/2006/main">
            <a:off x="7010400" y="3019425"/>
            <a:ext cx="4495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000" b="1">
                <a:solidFill>
                  <a:srgbClr val="FFFFFF"/>
                </a:solidFill>
                <a:latin typeface="Nimbus Sans"/>
                <a:ea typeface="Nimbus Sans"/>
                <a:cs typeface="Nimbus Sans"/>
              </a:defRPr>
            </a:pPr>
            <a:r>
              <a:rPr sz="6000" b="1">
                <a:solidFill>
                  <a:srgbClr val="FFFFFF"/>
                </a:solidFill>
                <a:latin typeface="Nimbus Sans"/>
                <a:ea typeface="Nimbus Sans"/>
                <a:cs typeface="Nimbus Sans"/>
              </a:rPr>
              <a:t>2–3</a:t>
            </a:r>
          </a:p>
          <a:p xmlns:a="http://schemas.openxmlformats.org/drawingml/2006/main">
            <a:pPr algn="l">
              <a:defRPr sz="6000" b="1">
                <a:solidFill>
                  <a:srgbClr val="FFFFFF"/>
                </a:solidFill>
                <a:latin typeface="Nimbus Sans"/>
                <a:ea typeface="Nimbus Sans"/>
                <a:cs typeface="Nimbus Sans"/>
              </a:defRPr>
            </a:pPr>
            <a:r>
              <a:rPr sz="6000" b="1">
                <a:solidFill>
                  <a:srgbClr val="FFFFFF"/>
                </a:solidFill>
                <a:latin typeface="Nimbus Sans"/>
                <a:ea typeface="Nimbus Sans"/>
                <a:cs typeface="Nimbus Sans"/>
              </a:rPr>
              <a:t>days</a:t>
            </a:r>
          </a:p>
        </p:txBody>
      </p:sp>
      <p:sp>
        <p:nvSpPr>
          <p:cNvPr id="10" name="">
            <a:extLst xmlns:a="http://schemas.openxmlformats.org/drawingml/2006/main">
              <a:ext uri="{FF2B5EF4-FFF2-40B4-BE49-F238E27FC236}">
                <a16:creationId xmlns:a16="http://schemas.microsoft.com/office/drawing/2014/main" id="{71817F9F-4E15-4738-A1AC-CE84615EBC28}"/>
              </a:ext>
            </a:extLst>
          </p:cNvPr>
          <p:cNvSpPr>
            <a:spLocks xmlns:a="http://schemas.openxmlformats.org/drawingml/2006/main" noGrp="1"/>
          </p:cNvSpPr>
          <p:nvPr/>
        </p:nvSpPr>
        <p:spPr>
          <a:xfrm xmlns:a="http://schemas.openxmlformats.org/drawingml/2006/main">
            <a:off x="5286375" y="3619500"/>
            <a:ext cx="1019175" cy="590550"/>
          </a:xfrm>
          <a:prstGeom xmlns:a="http://schemas.openxmlformats.org/drawingml/2006/main" prst="rightArrow">
            <a:avLst/>
          </a:prstGeom>
          <a:solidFill xmlns:a="http://schemas.openxmlformats.org/drawingml/2006/main">
            <a:srgbClr val="7DD6DD"/>
          </a:solidFill>
          <a:ln xmlns:a="http://schemas.openxmlformats.org/drawingml/2006/main" w="0">
            <a:noFill/>
          </a:ln>
        </p:spPr>
      </p:sp>
      <p:sp>
        <p:nvSpPr>
          <p:cNvPr id="11" name="Text Separate configuration&#10;and cross-te">
            <a:extLst xmlns:a="http://schemas.openxmlformats.org/drawingml/2006/main">
              <a:ext uri="{FF2B5EF4-FFF2-40B4-BE49-F238E27FC236}">
                <a16:creationId xmlns:a16="http://schemas.microsoft.com/office/drawing/2014/main" id="{BDC1B2F0-5E3C-4E87-A344-B5A7962E8582}"/>
              </a:ext>
            </a:extLst>
          </p:cNvPr>
          <p:cNvSpPr>
            <a:spLocks xmlns:a="http://schemas.openxmlformats.org/drawingml/2006/main" noGrp="1"/>
          </p:cNvSpPr>
          <p:nvPr/>
        </p:nvSpPr>
        <p:spPr>
          <a:xfrm xmlns:a="http://schemas.openxmlformats.org/drawingml/2006/main">
            <a:off x="609600" y="5029200"/>
            <a:ext cx="46386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FFFFFF"/>
                </a:solidFill>
                <a:latin typeface="Nimbus Sans"/>
                <a:ea typeface="Nimbus Sans"/>
                <a:cs typeface="Nimbus Sans"/>
              </a:defRPr>
            </a:pPr>
            <a:r>
              <a:rPr sz="2175" b="0">
                <a:solidFill>
                  <a:srgbClr val="FFFFFF"/>
                </a:solidFill>
                <a:latin typeface="Nimbus Sans"/>
                <a:ea typeface="Nimbus Sans"/>
                <a:cs typeface="Nimbus Sans"/>
              </a:rPr>
              <a:t>Separate configuration</a:t>
            </a:r>
          </a:p>
          <a:p xmlns:a="http://schemas.openxmlformats.org/drawingml/2006/main">
            <a:pPr algn="l">
              <a:defRPr sz="2175" b="0">
                <a:solidFill>
                  <a:srgbClr val="FFFFFF"/>
                </a:solidFill>
                <a:latin typeface="Nimbus Sans"/>
                <a:ea typeface="Nimbus Sans"/>
                <a:cs typeface="Nimbus Sans"/>
              </a:defRPr>
            </a:pPr>
            <a:r>
              <a:rPr sz="2175" b="0">
                <a:solidFill>
                  <a:srgbClr val="FFFFFF"/>
                </a:solidFill>
                <a:latin typeface="Nimbus Sans"/>
                <a:ea typeface="Nimbus Sans"/>
                <a:cs typeface="Nimbus Sans"/>
              </a:rPr>
              <a:t>and cross-team handoffs</a:t>
            </a:r>
          </a:p>
        </p:txBody>
      </p:sp>
      <p:sp>
        <p:nvSpPr>
          <p:cNvPr id="12" name="Text Target for a supported&#10;agent develo">
            <a:extLst xmlns:a="http://schemas.openxmlformats.org/drawingml/2006/main">
              <a:ext uri="{FF2B5EF4-FFF2-40B4-BE49-F238E27FC236}">
                <a16:creationId xmlns:a16="http://schemas.microsoft.com/office/drawing/2014/main" id="{DD5E24CD-8608-40AB-AFBD-0A82950FC4C5}"/>
              </a:ext>
            </a:extLst>
          </p:cNvPr>
          <p:cNvSpPr>
            <a:spLocks xmlns:a="http://schemas.openxmlformats.org/drawingml/2006/main" noGrp="1"/>
          </p:cNvSpPr>
          <p:nvPr/>
        </p:nvSpPr>
        <p:spPr>
          <a:xfrm xmlns:a="http://schemas.openxmlformats.org/drawingml/2006/main">
            <a:off x="7010400" y="5029200"/>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FFFFFF"/>
                </a:solidFill>
                <a:latin typeface="Nimbus Sans"/>
                <a:ea typeface="Nimbus Sans"/>
                <a:cs typeface="Nimbus Sans"/>
              </a:defRPr>
            </a:pPr>
            <a:r>
              <a:rPr sz="2175" b="0">
                <a:solidFill>
                  <a:srgbClr val="FFFFFF"/>
                </a:solidFill>
                <a:latin typeface="Nimbus Sans"/>
                <a:ea typeface="Nimbus Sans"/>
                <a:cs typeface="Nimbus Sans"/>
              </a:rPr>
              <a:t>Target for a supported</a:t>
            </a:r>
          </a:p>
          <a:p xmlns:a="http://schemas.openxmlformats.org/drawingml/2006/main">
            <a:pPr algn="l">
              <a:defRPr sz="2175" b="0">
                <a:solidFill>
                  <a:srgbClr val="FFFFFF"/>
                </a:solidFill>
                <a:latin typeface="Nimbus Sans"/>
                <a:ea typeface="Nimbus Sans"/>
                <a:cs typeface="Nimbus Sans"/>
              </a:defRPr>
            </a:pPr>
            <a:r>
              <a:rPr sz="2175" b="0">
                <a:solidFill>
                  <a:srgbClr val="FFFFFF"/>
                </a:solidFill>
                <a:latin typeface="Nimbus Sans"/>
                <a:ea typeface="Nimbus Sans"/>
                <a:cs typeface="Nimbus Sans"/>
              </a:rPr>
              <a:t>agent development deployment</a:t>
            </a:r>
          </a:p>
        </p:txBody>
      </p:sp>
      <p:sp>
        <p:nvSpPr>
          <p:cNvPr id="13" name="Text Indicative planning comparison, not">
            <a:extLst xmlns:a="http://schemas.openxmlformats.org/drawingml/2006/main">
              <a:ext uri="{FF2B5EF4-FFF2-40B4-BE49-F238E27FC236}">
                <a16:creationId xmlns:a16="http://schemas.microsoft.com/office/drawing/2014/main" id="{DAC3BE86-8571-4BC0-9ECE-223008BDA0D7}"/>
              </a:ext>
            </a:extLst>
          </p:cNvPr>
          <p:cNvSpPr>
            <a:spLocks xmlns:a="http://schemas.openxmlformats.org/drawingml/2006/main" noGrp="1"/>
          </p:cNvSpPr>
          <p:nvPr/>
        </p:nvSpPr>
        <p:spPr>
          <a:xfrm xmlns:a="http://schemas.openxmlformats.org/drawingml/2006/main">
            <a:off x="609600" y="59150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7DD6DD"/>
                </a:solidFill>
                <a:latin typeface="Nimbus Sans"/>
                <a:ea typeface="Nimbus Sans"/>
                <a:cs typeface="Nimbus Sans"/>
              </a:defRPr>
            </a:pPr>
            <a:r>
              <a:rPr sz="1350" b="0">
                <a:solidFill>
                  <a:srgbClr val="7DD6DD"/>
                </a:solidFill>
                <a:latin typeface="Nimbus Sans"/>
                <a:ea typeface="Nimbus Sans"/>
                <a:cs typeface="Nimbus Sans"/>
              </a:rPr>
              <a:t>Indicative planning comparison, not a measured result or SLA. Assumes ready access, supported tools, and timely reviews.</a:t>
            </a:r>
          </a:p>
          <a:p xmlns:a="http://schemas.openxmlformats.org/drawingml/2006/main">
            <a:pPr algn="l">
              <a:defRPr sz="1350" b="0">
                <a:solidFill>
                  <a:srgbClr val="7DD6DD"/>
                </a:solidFill>
                <a:latin typeface="Nimbus Sans"/>
                <a:ea typeface="Nimbus Sans"/>
                <a:cs typeface="Nimbus Sans"/>
              </a:defRPr>
            </a:pPr>
            <a:r>
              <a:rPr sz="1350" b="0">
                <a:solidFill>
                  <a:srgbClr val="7DD6DD"/>
                </a:solidFill>
                <a:latin typeface="Nimbus Sans"/>
                <a:ea typeface="Nimbus Sans"/>
                <a:cs typeface="Nimbus Sans"/>
              </a:rPr>
              <a:t>Production readiness and new integrations may require additional time.</a:t>
            </a:r>
          </a:p>
        </p:txBody>
      </p:sp>
    </p:spTree>
    <p:extLst>
      <p:ext uri="{BB962C8B-B14F-4D97-AF65-F5344CB8AC3E}">
        <p14:creationId xmlns:p14="http://schemas.microsoft.com/office/powerpoint/2010/main" val="18663559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2026-09-17T23:51:20.8960000Z</dcterms:created>
  <dcterms:modified xsi:type="dcterms:W3CDTF">2026-09-17T23:51:20.8960000Z</dcterms:modified>
</coreProperties>
</file>