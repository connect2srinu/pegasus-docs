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63" r:id="rId2"/>
    <p:sldId id="257" r:id="rId3"/>
    <p:sldId id="260" r:id="rId4"/>
    <p:sldId id="258" r:id="rId5"/>
    <p:sldId id="259"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6E45E-C990-EA9A-8B38-A1E5E6B466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B82E1A-0B64-2A6D-F095-5A309ACC03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4D6E7-2F2F-28C6-1A4D-A598783BE633}"/>
              </a:ext>
            </a:extLst>
          </p:cNvPr>
          <p:cNvSpPr>
            <a:spLocks noGrp="1"/>
          </p:cNvSpPr>
          <p:nvPr>
            <p:ph type="body" idx="1"/>
          </p:nvPr>
        </p:nvSpPr>
        <p:spPr/>
        <p:txBody>
          <a:bodyPr/>
          <a:lstStyle/>
          <a:p>
            <a:r>
              <a:t>Slide notes</a:t>
            </a:r>
          </a:p>
          <a:p>
            <a:endParaRPr/>
          </a:p>
          <a:p>
            <a:r>
              <a:t>The reason we need a Control Plane is that building an agent is only one part of delivering an enterprise application. If every team assembles access, integrations, deployment and monitoring separately, we repeat work and make consistent oversight harder. Guardian brings those shared responsibilities into a reusable platform. Teams still own the business outcome, agent behavior, domain knowledge and answer quality. The platform coordinates shared configuration and lifecycle workflows, while AWS managed services provide execution. The intended benefits are faster delivery, clear accountability and better operating decisions. These are expected benefits, not measured results. Common permission and approval enforcement, tracing, production promotion and FinOps remain at different stages of maturity. FinOps is the operational framework and cultural practice that connects technology decisions with financial accountability to maximize the business value of cloud spending. Use this slide immediately after the title to establish the reason for the platform before discussing capabilities or the live development deployment.</a:t>
            </a:r>
          </a:p>
        </p:txBody>
      </p:sp>
      <p:sp>
        <p:nvSpPr>
          <p:cNvPr id="4" name="Slide Number Placeholder 3">
            <a:extLst>
              <a:ext uri="{FF2B5EF4-FFF2-40B4-BE49-F238E27FC236}">
                <a16:creationId xmlns:a16="http://schemas.microsoft.com/office/drawing/2014/main" id="{0BAB60A8-DB1B-C390-21B6-C74B9D5FF1EB}"/>
              </a:ext>
            </a:extLst>
          </p:cNvPr>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Calibri"/>
              <a:cs typeface="Calibri"/>
            </a:endParaRPr>
          </a:p>
        </p:txBody>
      </p:sp>
    </p:spTree>
    <p:extLst>
      <p:ext uri="{BB962C8B-B14F-4D97-AF65-F5344CB8AC3E}">
        <p14:creationId xmlns:p14="http://schemas.microsoft.com/office/powerpoint/2010/main" val="1292501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notes</a:t>
            </a:r>
          </a:p>
          <a:p>
            <a:endParaRPr/>
          </a:p>
          <a:p>
            <a:r>
              <a:t>This shared enterprise experience connects organization administrators, project teams, and business and platform owners. Organization administrators establish common resources and access. Project teams configure agents with tools granted to them, submit review requests, deploy to development, and test in their workspace. Business and platform owners review requests and maintain accountability for adoption and operations. The diagram describes responsibilities, not an enforced sequential approval gate. Review workflows exist, while consistent approval enforcement and production promotion remain next milestones.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notes</a:t>
            </a:r>
          </a:p>
          <a:p>
            <a:endParaRPr/>
          </a:p>
          <a:p>
            <a:r>
              <a:t>Organizations own and administer shared AWS account connections and an approved tool catalog. Each project receives selected tools rather than unrestricted access to the full catalog. The two project boxes illustrate separate workspaces for agents and deployments. Shared resources with explicit access boundaries is the target operating model. Workspace separation should not be interpreted as verified universal runtime isolation: permission enforcement is still being strengthened. Multiple AWS account connections are an operating-model direction, not a claim that discovery and promotion across accounts are complete.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notes</a:t>
            </a:r>
          </a:p>
          <a:p>
            <a:endParaRPr/>
          </a:p>
          <a:p>
            <a:r>
              <a:t>Walk through one integration becoming a reusable tool. Account setup supplies the connection context. Supported discovery identifies Lambda and API Gateway candidates. A candidate still needs review and registration before teams should treat it as a catalog tool. Administrators then grant selected tools to projects. The benefit is reduced repeated integration work across agents. The catalog is a reusable abstraction over enterprise resources, not proof that every API or data source is automatically supported. The current assessment identifies Lambda and API Gateway discovery, with cross-account coverage incomplete. Tool registration and grants exist, with some grant management outside the main interface. Reliable approval enforcement is still being strengthened. Do not imply that discovered resources are automatically approved or accessible to all projects.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notes</a:t>
            </a:r>
          </a:p>
          <a:p>
            <a:endParaRPr/>
          </a:p>
          <a:p>
            <a:r>
              <a:t>Read the top row left to right, then the bottom row right to left. The lifecycle describes the target end-to-end journey and marks maturity explicitly. Configuration and registration provide a working foundation, but verify the supported version-registration path before demonstrating it. Tool choices are not reliably carried through the authoring wizard, so verify actual grants. Validation and evaluation as a governed release gate are planned, rather than a demonstrated current end-to-end capability. Review tasks exist, while reliable approval enforcement still needs hardening. The strongest deployment demonstration is the supported harness path in development. Production promotion is a next milestone. Persistent run history and invocation are working foundations. A live development deployment does not establish full production readiness. Use a prepared supported integration and verify the complete route before the conference.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2430"/>
        </a:solidFill>
        <a:effectLst/>
      </p:bgPr>
    </p:bg>
    <p:spTree>
      <p:nvGrpSpPr>
        <p:cNvPr id="1" name="">
          <a:extLst>
            <a:ext uri="{FF2B5EF4-FFF2-40B4-BE49-F238E27FC236}">
              <a16:creationId xmlns:a16="http://schemas.microsoft.com/office/drawing/2014/main" id="{62D76574-809F-6936-43D8-E974E86187C1}"/>
            </a:ext>
          </a:extLst>
        </p:cNvPr>
        <p:cNvGrpSpPr/>
        <p:nvPr/>
      </p:nvGrpSpPr>
      <p:grpSpPr>
        <a:xfrm>
          <a:off x="0" y="0"/>
          <a:ext cx="0" cy="0"/>
          <a:chOff x="0" y="0"/>
          <a:chExt cx="0" cy="0"/>
        </a:xfrm>
      </p:grpSpPr>
      <p:sp>
        <p:nvSpPr>
          <p:cNvPr id="36" name="text">
            <a:extLst>
              <a:ext uri="{FF2B5EF4-FFF2-40B4-BE49-F238E27FC236}">
                <a16:creationId xmlns:a16="http://schemas.microsoft.com/office/drawing/2014/main" id="{B7E4F0E7-A4B4-5018-30DC-F29939EA3B26}"/>
              </a:ext>
            </a:extLst>
          </p:cNvPr>
          <p:cNvSpPr>
            <a:spLocks noGrp="1"/>
          </p:cNvSpPr>
          <p:nvPr/>
        </p:nvSpPr>
        <p:spPr>
          <a:xfrm>
            <a:off x="609600" y="457200"/>
            <a:ext cx="10972800" cy="71437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450" b="1">
                <a:solidFill>
                  <a:srgbClr val="FFFFFF"/>
                </a:solidFill>
                <a:latin typeface="Nimbus Sans"/>
                <a:ea typeface="Nimbus Sans"/>
                <a:cs typeface="Nimbus Sans"/>
              </a:defRPr>
            </a:pPr>
            <a:r>
              <a:rPr kumimoji="0" sz="3450" b="1" i="0" u="none" strike="noStrike" kern="1200" cap="none" spc="0" normalizeH="0" baseline="0" noProof="0">
                <a:ln>
                  <a:noFill/>
                </a:ln>
                <a:solidFill>
                  <a:srgbClr val="FFFFFF"/>
                </a:solidFill>
                <a:effectLst/>
                <a:uLnTx/>
                <a:uFillTx/>
                <a:latin typeface="Nimbus Sans"/>
                <a:ea typeface="Nimbus Sans"/>
                <a:cs typeface="Nimbus Sans"/>
              </a:rPr>
              <a:t>Why Guardian needs a Control Plane</a:t>
            </a:r>
          </a:p>
        </p:txBody>
      </p:sp>
      <p:sp>
        <p:nvSpPr>
          <p:cNvPr id="2" name="text">
            <a:extLst>
              <a:ext uri="{FF2B5EF4-FFF2-40B4-BE49-F238E27FC236}">
                <a16:creationId xmlns:a16="http://schemas.microsoft.com/office/drawing/2014/main" id="{2A0629AC-1472-438F-BD30-5DE2D6A87520}"/>
              </a:ext>
            </a:extLst>
          </p:cNvPr>
          <p:cNvSpPr>
            <a:spLocks noGrp="1"/>
          </p:cNvSpPr>
          <p:nvPr/>
        </p:nvSpPr>
        <p:spPr>
          <a:xfrm>
            <a:off x="609600" y="1304925"/>
            <a:ext cx="10972800" cy="428625"/>
          </a:xfrm>
          <a:prstGeom prst="rect">
            <a:avLst/>
          </a:prstGeom>
          <a:noFill/>
          <a:ln w="0">
            <a:noFill/>
          </a:ln>
        </p:spPr>
        <p:txBody>
          <a:bodyPr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0">
                <a:solidFill>
                  <a:srgbClr val="7DD6DD"/>
                </a:solidFill>
                <a:latin typeface="Nimbus Sans"/>
                <a:ea typeface="Nimbus Sans"/>
                <a:cs typeface="Nimbus Sans"/>
              </a:defRPr>
            </a:pPr>
            <a:r>
              <a:rPr kumimoji="0" sz="2025" b="0" i="0" u="none" strike="noStrike" kern="1200" cap="none" spc="0" normalizeH="0" baseline="0" noProof="0">
                <a:ln>
                  <a:noFill/>
                </a:ln>
                <a:solidFill>
                  <a:srgbClr val="7DD6DD"/>
                </a:solidFill>
                <a:effectLst/>
                <a:uLnTx/>
                <a:uFillTx/>
                <a:latin typeface="Nimbus Sans"/>
                <a:ea typeface="Nimbus Sans"/>
                <a:cs typeface="Nimbus Sans"/>
              </a:rPr>
              <a:t>Every new agent needs enterprise capabilities around its business logic.</a:t>
            </a:r>
          </a:p>
        </p:txBody>
      </p:sp>
      <p:sp>
        <p:nvSpPr>
          <p:cNvPr id="3" name="text">
            <a:extLst>
              <a:ext uri="{FF2B5EF4-FFF2-40B4-BE49-F238E27FC236}">
                <a16:creationId xmlns:a16="http://schemas.microsoft.com/office/drawing/2014/main" id="{0B0FFBE8-01E1-72E2-35D9-CA24F8F27DDF}"/>
              </a:ext>
            </a:extLst>
          </p:cNvPr>
          <p:cNvSpPr>
            <a:spLocks noGrp="1"/>
          </p:cNvSpPr>
          <p:nvPr/>
        </p:nvSpPr>
        <p:spPr>
          <a:xfrm>
            <a:off x="609600" y="2019300"/>
            <a:ext cx="3238500" cy="32385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1">
                <a:solidFill>
                  <a:srgbClr val="D98979"/>
                </a:solidFill>
                <a:latin typeface="Nimbus Sans"/>
                <a:ea typeface="Nimbus Sans"/>
                <a:cs typeface="Nimbus Sans"/>
              </a:defRPr>
            </a:pPr>
            <a:r>
              <a:rPr kumimoji="0" sz="1575" b="1" i="0" u="none" strike="noStrike" kern="1200" cap="none" spc="0" normalizeH="0" baseline="0" noProof="0">
                <a:ln>
                  <a:noFill/>
                </a:ln>
                <a:solidFill>
                  <a:srgbClr val="D98979"/>
                </a:solidFill>
                <a:effectLst/>
                <a:uLnTx/>
                <a:uFillTx/>
                <a:latin typeface="Nimbus Sans"/>
                <a:ea typeface="Nimbus Sans"/>
                <a:cs typeface="Nimbus Sans"/>
              </a:rPr>
              <a:t>THE CHALLENGE</a:t>
            </a:r>
          </a:p>
        </p:txBody>
      </p:sp>
      <p:sp>
        <p:nvSpPr>
          <p:cNvPr id="4" name="text">
            <a:extLst>
              <a:ext uri="{FF2B5EF4-FFF2-40B4-BE49-F238E27FC236}">
                <a16:creationId xmlns:a16="http://schemas.microsoft.com/office/drawing/2014/main" id="{CE92053B-1A9F-FED3-620F-EAB6A4ECA210}"/>
              </a:ext>
            </a:extLst>
          </p:cNvPr>
          <p:cNvSpPr>
            <a:spLocks noGrp="1"/>
          </p:cNvSpPr>
          <p:nvPr/>
        </p:nvSpPr>
        <p:spPr>
          <a:xfrm>
            <a:off x="4514850" y="2019300"/>
            <a:ext cx="3848100" cy="32385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1">
                <a:solidFill>
                  <a:srgbClr val="7DD6DD"/>
                </a:solidFill>
                <a:latin typeface="Nimbus Sans"/>
                <a:ea typeface="Nimbus Sans"/>
                <a:cs typeface="Nimbus Sans"/>
              </a:defRPr>
            </a:pPr>
            <a:r>
              <a:rPr kumimoji="0" sz="1575" b="1" i="0" u="none" strike="noStrike" kern="1200" cap="none" spc="0" normalizeH="0" baseline="0" noProof="0">
                <a:ln>
                  <a:noFill/>
                </a:ln>
                <a:solidFill>
                  <a:srgbClr val="7DD6DD"/>
                </a:solidFill>
                <a:effectLst/>
                <a:uLnTx/>
                <a:uFillTx/>
                <a:latin typeface="Nimbus Sans"/>
                <a:ea typeface="Nimbus Sans"/>
                <a:cs typeface="Nimbus Sans"/>
              </a:rPr>
              <a:t>THE SHARED PLATFORM</a:t>
            </a:r>
          </a:p>
        </p:txBody>
      </p:sp>
      <p:sp>
        <p:nvSpPr>
          <p:cNvPr id="5" name="text">
            <a:extLst>
              <a:ext uri="{FF2B5EF4-FFF2-40B4-BE49-F238E27FC236}">
                <a16:creationId xmlns:a16="http://schemas.microsoft.com/office/drawing/2014/main" id="{9567E827-999E-693C-38E4-3B6396B3819F}"/>
              </a:ext>
            </a:extLst>
          </p:cNvPr>
          <p:cNvSpPr>
            <a:spLocks noGrp="1"/>
          </p:cNvSpPr>
          <p:nvPr/>
        </p:nvSpPr>
        <p:spPr>
          <a:xfrm>
            <a:off x="9020175" y="2019300"/>
            <a:ext cx="2562225" cy="32385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1">
                <a:solidFill>
                  <a:srgbClr val="7DD6DD"/>
                </a:solidFill>
                <a:latin typeface="Nimbus Sans"/>
                <a:ea typeface="Nimbus Sans"/>
                <a:cs typeface="Nimbus Sans"/>
              </a:defRPr>
            </a:pPr>
            <a:r>
              <a:rPr kumimoji="0" sz="1575" b="1" i="0" u="none" strike="noStrike" kern="1200" cap="none" spc="0" normalizeH="0" baseline="0" noProof="0">
                <a:ln>
                  <a:noFill/>
                </a:ln>
                <a:solidFill>
                  <a:srgbClr val="7DD6DD"/>
                </a:solidFill>
                <a:effectLst/>
                <a:uLnTx/>
                <a:uFillTx/>
                <a:latin typeface="Nimbus Sans"/>
                <a:ea typeface="Nimbus Sans"/>
                <a:cs typeface="Nimbus Sans"/>
              </a:rPr>
              <a:t>THE BUSINESS VALUE</a:t>
            </a:r>
          </a:p>
        </p:txBody>
      </p:sp>
      <p:sp>
        <p:nvSpPr>
          <p:cNvPr id="6" name="box">
            <a:extLst>
              <a:ext uri="{FF2B5EF4-FFF2-40B4-BE49-F238E27FC236}">
                <a16:creationId xmlns:a16="http://schemas.microsoft.com/office/drawing/2014/main" id="{DB9EFADF-157F-B982-C2E7-2FCBA0A3392A}"/>
              </a:ext>
            </a:extLst>
          </p:cNvPr>
          <p:cNvSpPr>
            <a:spLocks noGrp="1"/>
          </p:cNvSpPr>
          <p:nvPr/>
        </p:nvSpPr>
        <p:spPr>
          <a:xfrm>
            <a:off x="609600" y="2533650"/>
            <a:ext cx="10972800" cy="895350"/>
          </a:xfrm>
          <a:prstGeom prst="roundRect">
            <a:avLst>
              <a:gd name="adj" fmla="val 7447"/>
            </a:avLst>
          </a:prstGeom>
          <a:solidFill>
            <a:srgbClr val="132E3B"/>
          </a:solidFill>
          <a:ln w="0">
            <a:noFill/>
          </a:ln>
        </p:spPr>
      </p:sp>
      <p:sp>
        <p:nvSpPr>
          <p:cNvPr id="7" name="text">
            <a:extLst>
              <a:ext uri="{FF2B5EF4-FFF2-40B4-BE49-F238E27FC236}">
                <a16:creationId xmlns:a16="http://schemas.microsoft.com/office/drawing/2014/main" id="{AFACC3F0-1E71-ED7B-8EF9-A6311C8FD878}"/>
              </a:ext>
            </a:extLst>
          </p:cNvPr>
          <p:cNvSpPr>
            <a:spLocks noGrp="1"/>
          </p:cNvSpPr>
          <p:nvPr/>
        </p:nvSpPr>
        <p:spPr>
          <a:xfrm>
            <a:off x="781050" y="2628900"/>
            <a:ext cx="3048000" cy="30480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FFFFFF"/>
                </a:solidFill>
                <a:latin typeface="Nimbus Sans"/>
                <a:ea typeface="Nimbus Sans"/>
                <a:cs typeface="Nimbus Sans"/>
              </a:defRPr>
            </a:pPr>
            <a:r>
              <a:rPr kumimoji="0" sz="1950" b="1" i="0" u="none" strike="noStrike" kern="1200" cap="none" spc="0" normalizeH="0" baseline="0" noProof="0">
                <a:ln>
                  <a:noFill/>
                </a:ln>
                <a:solidFill>
                  <a:srgbClr val="FFFFFF"/>
                </a:solidFill>
                <a:effectLst/>
                <a:uLnTx/>
                <a:uFillTx/>
                <a:latin typeface="Nimbus Sans"/>
                <a:ea typeface="Nimbus Sans"/>
                <a:cs typeface="Nimbus Sans"/>
              </a:rPr>
              <a:t>Repeated setup</a:t>
            </a:r>
          </a:p>
        </p:txBody>
      </p:sp>
      <p:sp>
        <p:nvSpPr>
          <p:cNvPr id="8" name="text">
            <a:extLst>
              <a:ext uri="{FF2B5EF4-FFF2-40B4-BE49-F238E27FC236}">
                <a16:creationId xmlns:a16="http://schemas.microsoft.com/office/drawing/2014/main" id="{DE1EFFDE-75EC-38A8-43BD-E2EB7C7228EC}"/>
              </a:ext>
            </a:extLst>
          </p:cNvPr>
          <p:cNvSpPr>
            <a:spLocks noGrp="1"/>
          </p:cNvSpPr>
          <p:nvPr/>
        </p:nvSpPr>
        <p:spPr>
          <a:xfrm>
            <a:off x="781050" y="2962275"/>
            <a:ext cx="3009900" cy="409575"/>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B7CED8"/>
                </a:solidFill>
                <a:latin typeface="Nimbus Sans"/>
                <a:ea typeface="Nimbus Sans"/>
                <a:cs typeface="Nimbus Sans"/>
              </a:defRPr>
            </a:pPr>
            <a:r>
              <a:rPr kumimoji="0" sz="1575" b="0" i="0" u="none" strike="noStrike" kern="1200" cap="none" spc="0" normalizeH="0" baseline="0" noProof="0">
                <a:ln>
                  <a:noFill/>
                </a:ln>
                <a:solidFill>
                  <a:srgbClr val="B7CED8"/>
                </a:solidFill>
                <a:effectLst/>
                <a:uLnTx/>
                <a:uFillTx/>
                <a:latin typeface="Nimbus Sans"/>
                <a:ea typeface="Nimbus Sans"/>
                <a:cs typeface="Nimbus Sans"/>
              </a:rPr>
              <a:t>Each team assembles its own delivery stack.</a:t>
            </a:r>
          </a:p>
        </p:txBody>
      </p:sp>
      <p:sp>
        <p:nvSpPr>
          <p:cNvPr id="9" name="glow arrow">
            <a:extLst>
              <a:ext uri="{FF2B5EF4-FFF2-40B4-BE49-F238E27FC236}">
                <a16:creationId xmlns:a16="http://schemas.microsoft.com/office/drawing/2014/main" id="{E224C63D-4FE1-DD66-E673-A33555F95F64}"/>
              </a:ext>
            </a:extLst>
          </p:cNvPr>
          <p:cNvSpPr>
            <a:spLocks noGrp="1"/>
          </p:cNvSpPr>
          <p:nvPr/>
        </p:nvSpPr>
        <p:spPr>
          <a:xfrm>
            <a:off x="4000500" y="2876550"/>
            <a:ext cx="276225" cy="209550"/>
          </a:xfrm>
          <a:prstGeom prst="rightArrow">
            <a:avLst/>
          </a:prstGeom>
          <a:solidFill>
            <a:srgbClr val="34B7C2"/>
          </a:solidFill>
          <a:ln w="19050">
            <a:solidFill>
              <a:srgbClr val="7DD6DD"/>
            </a:solidFill>
          </a:ln>
        </p:spPr>
      </p:sp>
      <p:sp>
        <p:nvSpPr>
          <p:cNvPr id="10" name="text">
            <a:extLst>
              <a:ext uri="{FF2B5EF4-FFF2-40B4-BE49-F238E27FC236}">
                <a16:creationId xmlns:a16="http://schemas.microsoft.com/office/drawing/2014/main" id="{6B964809-E20B-9611-6733-504EFE32EF81}"/>
              </a:ext>
            </a:extLst>
          </p:cNvPr>
          <p:cNvSpPr>
            <a:spLocks noGrp="1"/>
          </p:cNvSpPr>
          <p:nvPr/>
        </p:nvSpPr>
        <p:spPr>
          <a:xfrm>
            <a:off x="4514850" y="2628900"/>
            <a:ext cx="3667125" cy="30480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7DD6DD"/>
                </a:solidFill>
                <a:latin typeface="Nimbus Sans"/>
                <a:ea typeface="Nimbus Sans"/>
                <a:cs typeface="Nimbus Sans"/>
              </a:defRPr>
            </a:pPr>
            <a:r>
              <a:rPr kumimoji="0" sz="1950" b="1" i="0" u="none" strike="noStrike" kern="1200" cap="none" spc="0" normalizeH="0" baseline="0" noProof="0">
                <a:ln>
                  <a:noFill/>
                </a:ln>
                <a:solidFill>
                  <a:srgbClr val="7DD6DD"/>
                </a:solidFill>
                <a:effectLst/>
                <a:uLnTx/>
                <a:uFillTx/>
                <a:latin typeface="Nimbus Sans"/>
                <a:ea typeface="Nimbus Sans"/>
                <a:cs typeface="Nimbus Sans"/>
              </a:rPr>
              <a:t>Reusable foundation</a:t>
            </a:r>
          </a:p>
        </p:txBody>
      </p:sp>
      <p:sp>
        <p:nvSpPr>
          <p:cNvPr id="11" name="text">
            <a:extLst>
              <a:ext uri="{FF2B5EF4-FFF2-40B4-BE49-F238E27FC236}">
                <a16:creationId xmlns:a16="http://schemas.microsoft.com/office/drawing/2014/main" id="{AD6A7232-5C5D-96E7-B796-70CF7C351B89}"/>
              </a:ext>
            </a:extLst>
          </p:cNvPr>
          <p:cNvSpPr>
            <a:spLocks noGrp="1"/>
          </p:cNvSpPr>
          <p:nvPr/>
        </p:nvSpPr>
        <p:spPr>
          <a:xfrm>
            <a:off x="4514850" y="2962275"/>
            <a:ext cx="3571875" cy="409575"/>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FFFFFF"/>
                </a:solidFill>
                <a:latin typeface="Nimbus Sans"/>
                <a:ea typeface="Nimbus Sans"/>
                <a:cs typeface="Nimbus Sans"/>
              </a:defRPr>
            </a:pPr>
            <a:r>
              <a:rPr kumimoji="0" sz="1575" b="0" i="0" u="none" strike="noStrike" kern="1200" cap="none" spc="0" normalizeH="0" baseline="0" noProof="0">
                <a:ln>
                  <a:noFill/>
                </a:ln>
                <a:solidFill>
                  <a:srgbClr val="FFFFFF"/>
                </a:solidFill>
                <a:effectLst/>
                <a:uLnTx/>
                <a:uFillTx/>
                <a:latin typeface="Nimbus Sans"/>
                <a:ea typeface="Nimbus Sans"/>
                <a:cs typeface="Nimbus Sans"/>
              </a:rPr>
              <a:t>Shared tools and deployment workflows.</a:t>
            </a:r>
          </a:p>
        </p:txBody>
      </p:sp>
      <p:sp>
        <p:nvSpPr>
          <p:cNvPr id="12" name="glow arrow">
            <a:extLst>
              <a:ext uri="{FF2B5EF4-FFF2-40B4-BE49-F238E27FC236}">
                <a16:creationId xmlns:a16="http://schemas.microsoft.com/office/drawing/2014/main" id="{5B3C27E3-CDA4-A187-A1E5-ABA0BE0948A3}"/>
              </a:ext>
            </a:extLst>
          </p:cNvPr>
          <p:cNvSpPr>
            <a:spLocks noGrp="1"/>
          </p:cNvSpPr>
          <p:nvPr/>
        </p:nvSpPr>
        <p:spPr>
          <a:xfrm>
            <a:off x="8429625" y="2876550"/>
            <a:ext cx="276225" cy="209550"/>
          </a:xfrm>
          <a:prstGeom prst="rightArrow">
            <a:avLst/>
          </a:prstGeom>
          <a:solidFill>
            <a:srgbClr val="34B7C2"/>
          </a:solidFill>
          <a:ln w="19050">
            <a:solidFill>
              <a:srgbClr val="7DD6DD"/>
            </a:solidFill>
          </a:ln>
        </p:spPr>
      </p:sp>
      <p:sp>
        <p:nvSpPr>
          <p:cNvPr id="13" name="text">
            <a:extLst>
              <a:ext uri="{FF2B5EF4-FFF2-40B4-BE49-F238E27FC236}">
                <a16:creationId xmlns:a16="http://schemas.microsoft.com/office/drawing/2014/main" id="{17E1E330-E3DC-9FDC-7EE9-A1DCFB7D5989}"/>
              </a:ext>
            </a:extLst>
          </p:cNvPr>
          <p:cNvSpPr>
            <a:spLocks noGrp="1"/>
          </p:cNvSpPr>
          <p:nvPr/>
        </p:nvSpPr>
        <p:spPr>
          <a:xfrm>
            <a:off x="9020175" y="2628900"/>
            <a:ext cx="2390775" cy="30480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FFFFFF"/>
                </a:solidFill>
                <a:latin typeface="Nimbus Sans"/>
                <a:ea typeface="Nimbus Sans"/>
                <a:cs typeface="Nimbus Sans"/>
              </a:defRPr>
            </a:pPr>
            <a:r>
              <a:rPr kumimoji="0" sz="1950" b="1" i="0" u="none" strike="noStrike" kern="1200" cap="none" spc="0" normalizeH="0" baseline="0" noProof="0">
                <a:ln>
                  <a:noFill/>
                </a:ln>
                <a:solidFill>
                  <a:srgbClr val="FFFFFF"/>
                </a:solidFill>
                <a:effectLst/>
                <a:uLnTx/>
                <a:uFillTx/>
                <a:latin typeface="Nimbus Sans"/>
                <a:ea typeface="Nimbus Sans"/>
                <a:cs typeface="Nimbus Sans"/>
              </a:rPr>
              <a:t>Faster delivery</a:t>
            </a:r>
          </a:p>
        </p:txBody>
      </p:sp>
      <p:sp>
        <p:nvSpPr>
          <p:cNvPr id="14" name="text">
            <a:extLst>
              <a:ext uri="{FF2B5EF4-FFF2-40B4-BE49-F238E27FC236}">
                <a16:creationId xmlns:a16="http://schemas.microsoft.com/office/drawing/2014/main" id="{00D35C24-2345-2B35-F851-73D4EF717BE3}"/>
              </a:ext>
            </a:extLst>
          </p:cNvPr>
          <p:cNvSpPr>
            <a:spLocks noGrp="1"/>
          </p:cNvSpPr>
          <p:nvPr/>
        </p:nvSpPr>
        <p:spPr>
          <a:xfrm>
            <a:off x="9020175" y="2962275"/>
            <a:ext cx="2390775" cy="409575"/>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B7CED8"/>
                </a:solidFill>
                <a:latin typeface="Nimbus Sans"/>
                <a:ea typeface="Nimbus Sans"/>
                <a:cs typeface="Nimbus Sans"/>
              </a:defRPr>
            </a:pPr>
            <a:r>
              <a:rPr kumimoji="0" sz="1575" b="0" i="0" u="none" strike="noStrike" kern="1200" cap="none" spc="0" normalizeH="0" baseline="0" noProof="0">
                <a:ln>
                  <a:noFill/>
                </a:ln>
                <a:solidFill>
                  <a:srgbClr val="B7CED8"/>
                </a:solidFill>
                <a:effectLst/>
                <a:uLnTx/>
                <a:uFillTx/>
                <a:latin typeface="Nimbus Sans"/>
                <a:ea typeface="Nimbus Sans"/>
                <a:cs typeface="Nimbus Sans"/>
              </a:rPr>
              <a:t>Less setup and fewer handoffs.</a:t>
            </a:r>
          </a:p>
        </p:txBody>
      </p:sp>
      <p:sp>
        <p:nvSpPr>
          <p:cNvPr id="15" name="box">
            <a:extLst>
              <a:ext uri="{FF2B5EF4-FFF2-40B4-BE49-F238E27FC236}">
                <a16:creationId xmlns:a16="http://schemas.microsoft.com/office/drawing/2014/main" id="{5C95817B-63AB-4CC4-26CE-9AD57496B742}"/>
              </a:ext>
            </a:extLst>
          </p:cNvPr>
          <p:cNvSpPr>
            <a:spLocks noGrp="1"/>
          </p:cNvSpPr>
          <p:nvPr/>
        </p:nvSpPr>
        <p:spPr>
          <a:xfrm>
            <a:off x="609600" y="3543300"/>
            <a:ext cx="10972800" cy="895350"/>
          </a:xfrm>
          <a:prstGeom prst="roundRect">
            <a:avLst>
              <a:gd name="adj" fmla="val 7447"/>
            </a:avLst>
          </a:prstGeom>
          <a:solidFill>
            <a:srgbClr val="173441"/>
          </a:solidFill>
          <a:ln w="0">
            <a:noFill/>
          </a:ln>
        </p:spPr>
      </p:sp>
      <p:sp>
        <p:nvSpPr>
          <p:cNvPr id="16" name="text">
            <a:extLst>
              <a:ext uri="{FF2B5EF4-FFF2-40B4-BE49-F238E27FC236}">
                <a16:creationId xmlns:a16="http://schemas.microsoft.com/office/drawing/2014/main" id="{64BB60F6-3D62-18BB-F36D-9D245D00CCD0}"/>
              </a:ext>
            </a:extLst>
          </p:cNvPr>
          <p:cNvSpPr>
            <a:spLocks noGrp="1"/>
          </p:cNvSpPr>
          <p:nvPr/>
        </p:nvSpPr>
        <p:spPr>
          <a:xfrm>
            <a:off x="781050" y="3638550"/>
            <a:ext cx="3048000" cy="30480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FFFFFF"/>
                </a:solidFill>
                <a:latin typeface="Nimbus Sans"/>
                <a:ea typeface="Nimbus Sans"/>
                <a:cs typeface="Nimbus Sans"/>
              </a:defRPr>
            </a:pPr>
            <a:r>
              <a:rPr kumimoji="0" sz="1950" b="1" i="0" u="none" strike="noStrike" kern="1200" cap="none" spc="0" normalizeH="0" baseline="0" noProof="0">
                <a:ln>
                  <a:noFill/>
                </a:ln>
                <a:solidFill>
                  <a:srgbClr val="FFFFFF"/>
                </a:solidFill>
                <a:effectLst/>
                <a:uLnTx/>
                <a:uFillTx/>
                <a:latin typeface="Nimbus Sans"/>
                <a:ea typeface="Nimbus Sans"/>
                <a:cs typeface="Nimbus Sans"/>
              </a:rPr>
              <a:t>Fragmented controls</a:t>
            </a:r>
          </a:p>
        </p:txBody>
      </p:sp>
      <p:sp>
        <p:nvSpPr>
          <p:cNvPr id="17" name="text">
            <a:extLst>
              <a:ext uri="{FF2B5EF4-FFF2-40B4-BE49-F238E27FC236}">
                <a16:creationId xmlns:a16="http://schemas.microsoft.com/office/drawing/2014/main" id="{B72C2DE7-F5A4-C3CE-DEAA-A8DBAAD85EE5}"/>
              </a:ext>
            </a:extLst>
          </p:cNvPr>
          <p:cNvSpPr>
            <a:spLocks noGrp="1"/>
          </p:cNvSpPr>
          <p:nvPr/>
        </p:nvSpPr>
        <p:spPr>
          <a:xfrm>
            <a:off x="781050" y="3971925"/>
            <a:ext cx="3009900" cy="409575"/>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B7CED8"/>
                </a:solidFill>
                <a:latin typeface="Nimbus Sans"/>
                <a:ea typeface="Nimbus Sans"/>
                <a:cs typeface="Nimbus Sans"/>
              </a:defRPr>
            </a:pPr>
            <a:r>
              <a:rPr kumimoji="0" sz="1575" b="0" i="0" u="none" strike="noStrike" kern="1200" cap="none" spc="0" normalizeH="0" baseline="0" noProof="0">
                <a:ln>
                  <a:noFill/>
                </a:ln>
                <a:solidFill>
                  <a:srgbClr val="B7CED8"/>
                </a:solidFill>
                <a:effectLst/>
                <a:uLnTx/>
                <a:uFillTx/>
                <a:latin typeface="Nimbus Sans"/>
                <a:ea typeface="Nimbus Sans"/>
                <a:cs typeface="Nimbus Sans"/>
              </a:rPr>
              <a:t>Access and approvals vary by project.</a:t>
            </a:r>
          </a:p>
        </p:txBody>
      </p:sp>
      <p:sp>
        <p:nvSpPr>
          <p:cNvPr id="18" name="glow arrow">
            <a:extLst>
              <a:ext uri="{FF2B5EF4-FFF2-40B4-BE49-F238E27FC236}">
                <a16:creationId xmlns:a16="http://schemas.microsoft.com/office/drawing/2014/main" id="{CD00E78E-436E-730C-5767-230E6530F5CA}"/>
              </a:ext>
            </a:extLst>
          </p:cNvPr>
          <p:cNvSpPr>
            <a:spLocks noGrp="1"/>
          </p:cNvSpPr>
          <p:nvPr/>
        </p:nvSpPr>
        <p:spPr>
          <a:xfrm>
            <a:off x="4000500" y="3886200"/>
            <a:ext cx="276225" cy="209550"/>
          </a:xfrm>
          <a:prstGeom prst="rightArrow">
            <a:avLst/>
          </a:prstGeom>
          <a:solidFill>
            <a:srgbClr val="34B7C2"/>
          </a:solidFill>
          <a:ln w="19050">
            <a:solidFill>
              <a:srgbClr val="7DD6DD"/>
            </a:solidFill>
          </a:ln>
        </p:spPr>
      </p:sp>
      <p:sp>
        <p:nvSpPr>
          <p:cNvPr id="19" name="text">
            <a:extLst>
              <a:ext uri="{FF2B5EF4-FFF2-40B4-BE49-F238E27FC236}">
                <a16:creationId xmlns:a16="http://schemas.microsoft.com/office/drawing/2014/main" id="{257CA5B4-DA95-22C6-16B4-1757ED1E27CD}"/>
              </a:ext>
            </a:extLst>
          </p:cNvPr>
          <p:cNvSpPr>
            <a:spLocks noGrp="1"/>
          </p:cNvSpPr>
          <p:nvPr/>
        </p:nvSpPr>
        <p:spPr>
          <a:xfrm>
            <a:off x="4514850" y="3638550"/>
            <a:ext cx="3667125" cy="30480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7DD6DD"/>
                </a:solidFill>
                <a:latin typeface="Nimbus Sans"/>
                <a:ea typeface="Nimbus Sans"/>
                <a:cs typeface="Nimbus Sans"/>
              </a:defRPr>
            </a:pPr>
            <a:r>
              <a:rPr kumimoji="0" sz="1950" b="1" i="0" u="none" strike="noStrike" kern="1200" cap="none" spc="0" normalizeH="0" baseline="0" noProof="0">
                <a:ln>
                  <a:noFill/>
                </a:ln>
                <a:solidFill>
                  <a:srgbClr val="7DD6DD"/>
                </a:solidFill>
                <a:effectLst/>
                <a:uLnTx/>
                <a:uFillTx/>
                <a:latin typeface="Nimbus Sans"/>
                <a:ea typeface="Nimbus Sans"/>
                <a:cs typeface="Nimbus Sans"/>
              </a:rPr>
              <a:t>Common governance</a:t>
            </a:r>
          </a:p>
        </p:txBody>
      </p:sp>
      <p:sp>
        <p:nvSpPr>
          <p:cNvPr id="20" name="text">
            <a:extLst>
              <a:ext uri="{FF2B5EF4-FFF2-40B4-BE49-F238E27FC236}">
                <a16:creationId xmlns:a16="http://schemas.microsoft.com/office/drawing/2014/main" id="{29863FE1-2F68-B6F7-A611-9EAE2CA8AFCA}"/>
              </a:ext>
            </a:extLst>
          </p:cNvPr>
          <p:cNvSpPr>
            <a:spLocks noGrp="1"/>
          </p:cNvSpPr>
          <p:nvPr/>
        </p:nvSpPr>
        <p:spPr>
          <a:xfrm>
            <a:off x="4514850" y="3971925"/>
            <a:ext cx="3571875" cy="409575"/>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FFFFFF"/>
                </a:solidFill>
                <a:latin typeface="Nimbus Sans"/>
                <a:ea typeface="Nimbus Sans"/>
                <a:cs typeface="Nimbus Sans"/>
              </a:defRPr>
            </a:pPr>
            <a:r>
              <a:rPr kumimoji="0" sz="1575" b="0" i="0" u="none" strike="noStrike" kern="1200" cap="none" spc="0" normalizeH="0" baseline="0" noProof="0">
                <a:ln>
                  <a:noFill/>
                </a:ln>
                <a:solidFill>
                  <a:srgbClr val="FFFFFF"/>
                </a:solidFill>
                <a:effectLst/>
                <a:uLnTx/>
                <a:uFillTx/>
                <a:latin typeface="Nimbus Sans"/>
                <a:ea typeface="Nimbus Sans"/>
                <a:cs typeface="Nimbus Sans"/>
              </a:rPr>
              <a:t>Consistent ownership, permissions and review.</a:t>
            </a:r>
          </a:p>
        </p:txBody>
      </p:sp>
      <p:sp>
        <p:nvSpPr>
          <p:cNvPr id="21" name="glow arrow">
            <a:extLst>
              <a:ext uri="{FF2B5EF4-FFF2-40B4-BE49-F238E27FC236}">
                <a16:creationId xmlns:a16="http://schemas.microsoft.com/office/drawing/2014/main" id="{C62319A7-35C5-8809-9792-80029EFB42C7}"/>
              </a:ext>
            </a:extLst>
          </p:cNvPr>
          <p:cNvSpPr>
            <a:spLocks noGrp="1"/>
          </p:cNvSpPr>
          <p:nvPr/>
        </p:nvSpPr>
        <p:spPr>
          <a:xfrm>
            <a:off x="8429625" y="3886200"/>
            <a:ext cx="276225" cy="209550"/>
          </a:xfrm>
          <a:prstGeom prst="rightArrow">
            <a:avLst/>
          </a:prstGeom>
          <a:solidFill>
            <a:srgbClr val="34B7C2"/>
          </a:solidFill>
          <a:ln w="19050">
            <a:solidFill>
              <a:srgbClr val="7DD6DD"/>
            </a:solidFill>
          </a:ln>
        </p:spPr>
      </p:sp>
      <p:sp>
        <p:nvSpPr>
          <p:cNvPr id="22" name="text">
            <a:extLst>
              <a:ext uri="{FF2B5EF4-FFF2-40B4-BE49-F238E27FC236}">
                <a16:creationId xmlns:a16="http://schemas.microsoft.com/office/drawing/2014/main" id="{FDBE33EC-A944-0014-37E9-AD76B834256B}"/>
              </a:ext>
            </a:extLst>
          </p:cNvPr>
          <p:cNvSpPr>
            <a:spLocks noGrp="1"/>
          </p:cNvSpPr>
          <p:nvPr/>
        </p:nvSpPr>
        <p:spPr>
          <a:xfrm>
            <a:off x="9020175" y="3638550"/>
            <a:ext cx="2390775" cy="30480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FFFFFF"/>
                </a:solidFill>
                <a:latin typeface="Nimbus Sans"/>
                <a:ea typeface="Nimbus Sans"/>
                <a:cs typeface="Nimbus Sans"/>
              </a:defRPr>
            </a:pPr>
            <a:r>
              <a:rPr kumimoji="0" sz="1950" b="1" i="0" u="none" strike="noStrike" kern="1200" cap="none" spc="0" normalizeH="0" baseline="0" noProof="0">
                <a:ln>
                  <a:noFill/>
                </a:ln>
                <a:solidFill>
                  <a:srgbClr val="FFFFFF"/>
                </a:solidFill>
                <a:effectLst/>
                <a:uLnTx/>
                <a:uFillTx/>
                <a:latin typeface="Nimbus Sans"/>
                <a:ea typeface="Nimbus Sans"/>
                <a:cs typeface="Nimbus Sans"/>
              </a:rPr>
              <a:t>Clear accountability</a:t>
            </a:r>
          </a:p>
        </p:txBody>
      </p:sp>
      <p:sp>
        <p:nvSpPr>
          <p:cNvPr id="23" name="text">
            <a:extLst>
              <a:ext uri="{FF2B5EF4-FFF2-40B4-BE49-F238E27FC236}">
                <a16:creationId xmlns:a16="http://schemas.microsoft.com/office/drawing/2014/main" id="{3E95041F-4812-F774-7017-3D6E17DC20CA}"/>
              </a:ext>
            </a:extLst>
          </p:cNvPr>
          <p:cNvSpPr>
            <a:spLocks noGrp="1"/>
          </p:cNvSpPr>
          <p:nvPr/>
        </p:nvSpPr>
        <p:spPr>
          <a:xfrm>
            <a:off x="9020175" y="3971925"/>
            <a:ext cx="2390775" cy="409575"/>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B7CED8"/>
                </a:solidFill>
                <a:latin typeface="Nimbus Sans"/>
                <a:ea typeface="Nimbus Sans"/>
                <a:cs typeface="Nimbus Sans"/>
              </a:defRPr>
            </a:pPr>
            <a:r>
              <a:rPr kumimoji="0" sz="1575" b="0" i="0" u="none" strike="noStrike" kern="1200" cap="none" spc="0" normalizeH="0" baseline="0" noProof="0">
                <a:ln>
                  <a:noFill/>
                </a:ln>
                <a:solidFill>
                  <a:srgbClr val="B7CED8"/>
                </a:solidFill>
                <a:effectLst/>
                <a:uLnTx/>
                <a:uFillTx/>
                <a:latin typeface="Nimbus Sans"/>
                <a:ea typeface="Nimbus Sans"/>
                <a:cs typeface="Nimbus Sans"/>
              </a:rPr>
              <a:t>A common standard across teams.</a:t>
            </a:r>
          </a:p>
        </p:txBody>
      </p:sp>
      <p:sp>
        <p:nvSpPr>
          <p:cNvPr id="24" name="box">
            <a:extLst>
              <a:ext uri="{FF2B5EF4-FFF2-40B4-BE49-F238E27FC236}">
                <a16:creationId xmlns:a16="http://schemas.microsoft.com/office/drawing/2014/main" id="{03165C73-08CE-A9F6-B99D-945A98312239}"/>
              </a:ext>
            </a:extLst>
          </p:cNvPr>
          <p:cNvSpPr>
            <a:spLocks noGrp="1"/>
          </p:cNvSpPr>
          <p:nvPr/>
        </p:nvSpPr>
        <p:spPr>
          <a:xfrm>
            <a:off x="609600" y="4552950"/>
            <a:ext cx="10972800" cy="895350"/>
          </a:xfrm>
          <a:prstGeom prst="roundRect">
            <a:avLst>
              <a:gd name="adj" fmla="val 7447"/>
            </a:avLst>
          </a:prstGeom>
          <a:solidFill>
            <a:srgbClr val="132E3B"/>
          </a:solidFill>
          <a:ln w="0">
            <a:noFill/>
          </a:ln>
        </p:spPr>
      </p:sp>
      <p:sp>
        <p:nvSpPr>
          <p:cNvPr id="25" name="text">
            <a:extLst>
              <a:ext uri="{FF2B5EF4-FFF2-40B4-BE49-F238E27FC236}">
                <a16:creationId xmlns:a16="http://schemas.microsoft.com/office/drawing/2014/main" id="{2C7F44C9-672B-5B64-3AB1-0C4ADDCFAD9C}"/>
              </a:ext>
            </a:extLst>
          </p:cNvPr>
          <p:cNvSpPr>
            <a:spLocks noGrp="1"/>
          </p:cNvSpPr>
          <p:nvPr/>
        </p:nvSpPr>
        <p:spPr>
          <a:xfrm>
            <a:off x="781050" y="4648200"/>
            <a:ext cx="3048000" cy="30480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FFFFFF"/>
                </a:solidFill>
                <a:latin typeface="Nimbus Sans"/>
                <a:ea typeface="Nimbus Sans"/>
                <a:cs typeface="Nimbus Sans"/>
              </a:defRPr>
            </a:pPr>
            <a:r>
              <a:rPr kumimoji="0" sz="1950" b="1" i="0" u="none" strike="noStrike" kern="1200" cap="none" spc="0" normalizeH="0" baseline="0" noProof="0">
                <a:ln>
                  <a:noFill/>
                </a:ln>
                <a:solidFill>
                  <a:srgbClr val="FFFFFF"/>
                </a:solidFill>
                <a:effectLst/>
                <a:uLnTx/>
                <a:uFillTx/>
                <a:latin typeface="Nimbus Sans"/>
                <a:ea typeface="Nimbus Sans"/>
                <a:cs typeface="Nimbus Sans"/>
              </a:rPr>
              <a:t>Scattered visibility</a:t>
            </a:r>
          </a:p>
        </p:txBody>
      </p:sp>
      <p:sp>
        <p:nvSpPr>
          <p:cNvPr id="26" name="text">
            <a:extLst>
              <a:ext uri="{FF2B5EF4-FFF2-40B4-BE49-F238E27FC236}">
                <a16:creationId xmlns:a16="http://schemas.microsoft.com/office/drawing/2014/main" id="{90443C53-9870-4B0F-E7CF-9A28FD13946C}"/>
              </a:ext>
            </a:extLst>
          </p:cNvPr>
          <p:cNvSpPr>
            <a:spLocks noGrp="1"/>
          </p:cNvSpPr>
          <p:nvPr/>
        </p:nvSpPr>
        <p:spPr>
          <a:xfrm>
            <a:off x="781050" y="4981575"/>
            <a:ext cx="3009900" cy="409575"/>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B7CED8"/>
                </a:solidFill>
                <a:latin typeface="Nimbus Sans"/>
                <a:ea typeface="Nimbus Sans"/>
                <a:cs typeface="Nimbus Sans"/>
              </a:defRPr>
            </a:pPr>
            <a:r>
              <a:rPr kumimoji="0" sz="1575" b="0" i="0" u="none" strike="noStrike" kern="1200" cap="none" spc="0" normalizeH="0" baseline="0" noProof="0">
                <a:ln>
                  <a:noFill/>
                </a:ln>
                <a:solidFill>
                  <a:srgbClr val="B7CED8"/>
                </a:solidFill>
                <a:effectLst/>
                <a:uLnTx/>
                <a:uFillTx/>
                <a:latin typeface="Nimbus Sans"/>
                <a:ea typeface="Nimbus Sans"/>
                <a:cs typeface="Nimbus Sans"/>
              </a:rPr>
              <a:t>Activity and usage sit in separate places.</a:t>
            </a:r>
          </a:p>
        </p:txBody>
      </p:sp>
      <p:sp>
        <p:nvSpPr>
          <p:cNvPr id="27" name="glow arrow">
            <a:extLst>
              <a:ext uri="{FF2B5EF4-FFF2-40B4-BE49-F238E27FC236}">
                <a16:creationId xmlns:a16="http://schemas.microsoft.com/office/drawing/2014/main" id="{958C869B-A3B0-62B6-39FB-34EF4141ECCA}"/>
              </a:ext>
            </a:extLst>
          </p:cNvPr>
          <p:cNvSpPr>
            <a:spLocks noGrp="1"/>
          </p:cNvSpPr>
          <p:nvPr/>
        </p:nvSpPr>
        <p:spPr>
          <a:xfrm>
            <a:off x="4000500" y="4895850"/>
            <a:ext cx="276225" cy="209550"/>
          </a:xfrm>
          <a:prstGeom prst="rightArrow">
            <a:avLst/>
          </a:prstGeom>
          <a:solidFill>
            <a:srgbClr val="34B7C2"/>
          </a:solidFill>
          <a:ln w="19050">
            <a:solidFill>
              <a:srgbClr val="7DD6DD"/>
            </a:solidFill>
          </a:ln>
        </p:spPr>
      </p:sp>
      <p:sp>
        <p:nvSpPr>
          <p:cNvPr id="28" name="text">
            <a:extLst>
              <a:ext uri="{FF2B5EF4-FFF2-40B4-BE49-F238E27FC236}">
                <a16:creationId xmlns:a16="http://schemas.microsoft.com/office/drawing/2014/main" id="{5090C873-E90B-00E2-7289-2A54B787AB67}"/>
              </a:ext>
            </a:extLst>
          </p:cNvPr>
          <p:cNvSpPr>
            <a:spLocks noGrp="1"/>
          </p:cNvSpPr>
          <p:nvPr/>
        </p:nvSpPr>
        <p:spPr>
          <a:xfrm>
            <a:off x="4514850" y="4648200"/>
            <a:ext cx="3667125" cy="30480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7DD6DD"/>
                </a:solidFill>
                <a:latin typeface="Nimbus Sans"/>
                <a:ea typeface="Nimbus Sans"/>
                <a:cs typeface="Nimbus Sans"/>
              </a:defRPr>
            </a:pPr>
            <a:r>
              <a:rPr kumimoji="0" sz="1950" b="1" i="0" u="none" strike="noStrike" kern="1200" cap="none" spc="0" normalizeH="0" baseline="0" noProof="0">
                <a:ln>
                  <a:noFill/>
                </a:ln>
                <a:solidFill>
                  <a:srgbClr val="7DD6DD"/>
                </a:solidFill>
                <a:effectLst/>
                <a:uLnTx/>
                <a:uFillTx/>
                <a:latin typeface="Nimbus Sans"/>
                <a:ea typeface="Nimbus Sans"/>
                <a:cs typeface="Nimbus Sans"/>
              </a:rPr>
              <a:t>Shared operations</a:t>
            </a:r>
          </a:p>
        </p:txBody>
      </p:sp>
      <p:sp>
        <p:nvSpPr>
          <p:cNvPr id="29" name="text">
            <a:extLst>
              <a:ext uri="{FF2B5EF4-FFF2-40B4-BE49-F238E27FC236}">
                <a16:creationId xmlns:a16="http://schemas.microsoft.com/office/drawing/2014/main" id="{DA861C51-0A9B-F755-DC15-2961B3483F59}"/>
              </a:ext>
            </a:extLst>
          </p:cNvPr>
          <p:cNvSpPr>
            <a:spLocks noGrp="1"/>
          </p:cNvSpPr>
          <p:nvPr/>
        </p:nvSpPr>
        <p:spPr>
          <a:xfrm>
            <a:off x="4514850" y="4981575"/>
            <a:ext cx="3571875" cy="409575"/>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FFFFFF"/>
                </a:solidFill>
                <a:latin typeface="Nimbus Sans"/>
                <a:ea typeface="Nimbus Sans"/>
                <a:cs typeface="Nimbus Sans"/>
              </a:defRPr>
            </a:pPr>
            <a:r>
              <a:rPr kumimoji="0" sz="1575" b="0" i="0" u="none" strike="noStrike" kern="1200" cap="none" spc="0" normalizeH="0" baseline="0" noProof="0">
                <a:ln>
                  <a:noFill/>
                </a:ln>
                <a:solidFill>
                  <a:srgbClr val="FFFFFF"/>
                </a:solidFill>
                <a:effectLst/>
                <a:uLnTx/>
                <a:uFillTx/>
                <a:latin typeface="Nimbus Sans"/>
                <a:ea typeface="Nimbus Sans"/>
                <a:cs typeface="Nimbus Sans"/>
              </a:rPr>
              <a:t>Run visibility and a foundation for FinOps.</a:t>
            </a:r>
          </a:p>
        </p:txBody>
      </p:sp>
      <p:sp>
        <p:nvSpPr>
          <p:cNvPr id="30" name="glow arrow">
            <a:extLst>
              <a:ext uri="{FF2B5EF4-FFF2-40B4-BE49-F238E27FC236}">
                <a16:creationId xmlns:a16="http://schemas.microsoft.com/office/drawing/2014/main" id="{7192F81B-5180-C543-0990-11EB40B5227E}"/>
              </a:ext>
            </a:extLst>
          </p:cNvPr>
          <p:cNvSpPr>
            <a:spLocks noGrp="1"/>
          </p:cNvSpPr>
          <p:nvPr/>
        </p:nvSpPr>
        <p:spPr>
          <a:xfrm>
            <a:off x="8429625" y="4895850"/>
            <a:ext cx="276225" cy="209550"/>
          </a:xfrm>
          <a:prstGeom prst="rightArrow">
            <a:avLst/>
          </a:prstGeom>
          <a:solidFill>
            <a:srgbClr val="34B7C2"/>
          </a:solidFill>
          <a:ln w="19050">
            <a:solidFill>
              <a:srgbClr val="7DD6DD"/>
            </a:solidFill>
          </a:ln>
        </p:spPr>
      </p:sp>
      <p:sp>
        <p:nvSpPr>
          <p:cNvPr id="31" name="text">
            <a:extLst>
              <a:ext uri="{FF2B5EF4-FFF2-40B4-BE49-F238E27FC236}">
                <a16:creationId xmlns:a16="http://schemas.microsoft.com/office/drawing/2014/main" id="{EC16503B-2497-0620-0888-5426FBDC5B1C}"/>
              </a:ext>
            </a:extLst>
          </p:cNvPr>
          <p:cNvSpPr>
            <a:spLocks noGrp="1"/>
          </p:cNvSpPr>
          <p:nvPr/>
        </p:nvSpPr>
        <p:spPr>
          <a:xfrm>
            <a:off x="9020175" y="4648200"/>
            <a:ext cx="2390775" cy="30480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950" b="1">
                <a:solidFill>
                  <a:srgbClr val="FFFFFF"/>
                </a:solidFill>
                <a:latin typeface="Nimbus Sans"/>
                <a:ea typeface="Nimbus Sans"/>
                <a:cs typeface="Nimbus Sans"/>
              </a:defRPr>
            </a:pPr>
            <a:r>
              <a:rPr kumimoji="0" sz="1950" b="1" i="0" u="none" strike="noStrike" kern="1200" cap="none" spc="0" normalizeH="0" baseline="0" noProof="0">
                <a:ln>
                  <a:noFill/>
                </a:ln>
                <a:solidFill>
                  <a:srgbClr val="FFFFFF"/>
                </a:solidFill>
                <a:effectLst/>
                <a:uLnTx/>
                <a:uFillTx/>
                <a:latin typeface="Nimbus Sans"/>
                <a:ea typeface="Nimbus Sans"/>
                <a:cs typeface="Nimbus Sans"/>
              </a:rPr>
              <a:t>Better decisions</a:t>
            </a:r>
          </a:p>
        </p:txBody>
      </p:sp>
      <p:sp>
        <p:nvSpPr>
          <p:cNvPr id="32" name="text">
            <a:extLst>
              <a:ext uri="{FF2B5EF4-FFF2-40B4-BE49-F238E27FC236}">
                <a16:creationId xmlns:a16="http://schemas.microsoft.com/office/drawing/2014/main" id="{CA551885-AFD1-A699-4784-427F4EB99547}"/>
              </a:ext>
            </a:extLst>
          </p:cNvPr>
          <p:cNvSpPr>
            <a:spLocks noGrp="1"/>
          </p:cNvSpPr>
          <p:nvPr/>
        </p:nvSpPr>
        <p:spPr>
          <a:xfrm>
            <a:off x="9020175" y="4981575"/>
            <a:ext cx="2390775" cy="409575"/>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75" b="0">
                <a:solidFill>
                  <a:srgbClr val="B7CED8"/>
                </a:solidFill>
                <a:latin typeface="Nimbus Sans"/>
                <a:ea typeface="Nimbus Sans"/>
                <a:cs typeface="Nimbus Sans"/>
              </a:defRPr>
            </a:pPr>
            <a:r>
              <a:rPr kumimoji="0" sz="1575" b="0" i="0" u="none" strike="noStrike" kern="1200" cap="none" spc="0" normalizeH="0" baseline="0" noProof="0">
                <a:ln>
                  <a:noFill/>
                </a:ln>
                <a:solidFill>
                  <a:srgbClr val="B7CED8"/>
                </a:solidFill>
                <a:effectLst/>
                <a:uLnTx/>
                <a:uFillTx/>
                <a:latin typeface="Nimbus Sans"/>
                <a:ea typeface="Nimbus Sans"/>
                <a:cs typeface="Nimbus Sans"/>
              </a:rPr>
              <a:t>Understand reliability, spend and value.</a:t>
            </a:r>
          </a:p>
        </p:txBody>
      </p:sp>
      <p:sp>
        <p:nvSpPr>
          <p:cNvPr id="33" name="box">
            <a:extLst>
              <a:ext uri="{FF2B5EF4-FFF2-40B4-BE49-F238E27FC236}">
                <a16:creationId xmlns:a16="http://schemas.microsoft.com/office/drawing/2014/main" id="{974DCC5F-EBDB-2F89-5B4D-1CBB5252E4D6}"/>
              </a:ext>
            </a:extLst>
          </p:cNvPr>
          <p:cNvSpPr>
            <a:spLocks noGrp="1"/>
          </p:cNvSpPr>
          <p:nvPr/>
        </p:nvSpPr>
        <p:spPr>
          <a:xfrm>
            <a:off x="609600" y="5743575"/>
            <a:ext cx="10972800" cy="542925"/>
          </a:xfrm>
          <a:prstGeom prst="roundRect">
            <a:avLst>
              <a:gd name="adj" fmla="val 12281"/>
            </a:avLst>
          </a:prstGeom>
          <a:solidFill>
            <a:srgbClr val="E6F3F5"/>
          </a:solidFill>
          <a:ln w="0">
            <a:noFill/>
          </a:ln>
        </p:spPr>
      </p:sp>
      <p:sp>
        <p:nvSpPr>
          <p:cNvPr id="34" name="text">
            <a:extLst>
              <a:ext uri="{FF2B5EF4-FFF2-40B4-BE49-F238E27FC236}">
                <a16:creationId xmlns:a16="http://schemas.microsoft.com/office/drawing/2014/main" id="{70405900-8A7B-5705-BD92-5F1E2724F4A4}"/>
              </a:ext>
            </a:extLst>
          </p:cNvPr>
          <p:cNvSpPr>
            <a:spLocks noGrp="1"/>
          </p:cNvSpPr>
          <p:nvPr/>
        </p:nvSpPr>
        <p:spPr>
          <a:xfrm>
            <a:off x="781050" y="5838825"/>
            <a:ext cx="10629900" cy="361950"/>
          </a:xfrm>
          <a:prstGeom prst="rect">
            <a:avLst/>
          </a:prstGeom>
          <a:noFill/>
          <a:ln w="0">
            <a:noFill/>
          </a:ln>
        </p:spPr>
        <p:txBody>
          <a:bodyPr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2100" b="1">
                <a:solidFill>
                  <a:srgbClr val="0D2430"/>
                </a:solidFill>
                <a:latin typeface="Nimbus Sans"/>
                <a:ea typeface="Nimbus Sans"/>
                <a:cs typeface="Nimbus Sans"/>
              </a:defRPr>
            </a:pPr>
            <a:r>
              <a:rPr kumimoji="0" sz="2100" b="1" i="0" u="none" strike="noStrike" kern="1200" cap="none" spc="0" normalizeH="0" baseline="0" noProof="0">
                <a:ln>
                  <a:noFill/>
                </a:ln>
                <a:solidFill>
                  <a:srgbClr val="0D2430"/>
                </a:solidFill>
                <a:effectLst/>
                <a:uLnTx/>
                <a:uFillTx/>
                <a:latin typeface="Nimbus Sans"/>
                <a:ea typeface="Nimbus Sans"/>
                <a:cs typeface="Nimbus Sans"/>
              </a:rPr>
              <a:t>Build the shared foundation once. Let teams focus on business logic.</a:t>
            </a:r>
          </a:p>
        </p:txBody>
      </p:sp>
      <p:sp>
        <p:nvSpPr>
          <p:cNvPr id="35" name="text">
            <a:extLst>
              <a:ext uri="{FF2B5EF4-FFF2-40B4-BE49-F238E27FC236}">
                <a16:creationId xmlns:a16="http://schemas.microsoft.com/office/drawing/2014/main" id="{0BF5BDC1-C905-8E1B-3CD9-40E88C9775D5}"/>
              </a:ext>
            </a:extLst>
          </p:cNvPr>
          <p:cNvSpPr>
            <a:spLocks noGrp="1"/>
          </p:cNvSpPr>
          <p:nvPr/>
        </p:nvSpPr>
        <p:spPr>
          <a:xfrm>
            <a:off x="609600" y="6486525"/>
            <a:ext cx="10972800" cy="209550"/>
          </a:xfrm>
          <a:prstGeom prst="rect">
            <a:avLst/>
          </a:prstGeom>
          <a:noFill/>
          <a:ln w="0">
            <a:noFill/>
          </a:ln>
        </p:spPr>
        <p:txBody>
          <a:bodyPr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0">
                <a:solidFill>
                  <a:srgbClr val="7DD6DD"/>
                </a:solidFill>
                <a:latin typeface="Nimbus Sans"/>
                <a:ea typeface="Nimbus Sans"/>
                <a:cs typeface="Nimbus Sans"/>
              </a:defRPr>
            </a:pPr>
            <a:r>
              <a:rPr kumimoji="0" sz="1200" b="0" i="0" u="none" strike="noStrike" kern="1200" cap="none" spc="0" normalizeH="0" baseline="0" noProof="0">
                <a:ln>
                  <a:noFill/>
                </a:ln>
                <a:solidFill>
                  <a:srgbClr val="7DD6DD"/>
                </a:solidFill>
                <a:effectLst/>
                <a:uLnTx/>
                <a:uFillTx/>
                <a:latin typeface="Nimbus Sans"/>
                <a:ea typeface="Nimbus Sans"/>
                <a:cs typeface="Nimbus Sans"/>
              </a:rPr>
              <a:t>Target operating model; enterprise controls and FinOps capabilities are being developed in stages.</a:t>
            </a:r>
          </a:p>
        </p:txBody>
      </p:sp>
    </p:spTree>
    <p:extLst>
      <p:ext uri="{BB962C8B-B14F-4D97-AF65-F5344CB8AC3E}">
        <p14:creationId xmlns:p14="http://schemas.microsoft.com/office/powerpoint/2010/main" val="3637513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2238"/>
        </a:solidFill>
        <a:effectLst/>
      </p:bgPr>
    </p:bg>
    <p:spTree>
      <p:nvGrpSpPr>
        <p:cNvPr id="1" name=""/>
        <p:cNvGrpSpPr/>
        <p:nvPr/>
      </p:nvGrpSpPr>
      <p:grpSpPr>
        <a:xfrm>
          <a:off x="0" y="0"/>
          <a:ext cx="0" cy="0"/>
          <a:chOff x="0" y="0"/>
          <a:chExt cx="0" cy="0"/>
        </a:xfrm>
      </p:grpSpPr>
      <p:sp>
        <p:nvSpPr>
          <p:cNvPr id="53" name="text">
            <a:extLst>
              <a:ext uri="{FF2B5EF4-FFF2-40B4-BE49-F238E27FC236}">
                <a16:creationId xmlns:a16="http://schemas.microsoft.com/office/drawing/2014/main" id="{601442FD-C6F1-4997-AA57-D97C00DB2C9F}"/>
              </a:ext>
            </a:extLst>
          </p:cNvPr>
          <p:cNvSpPr>
            <a:spLocks noGrp="1"/>
          </p:cNvSpPr>
          <p:nvPr/>
        </p:nvSpPr>
        <p:spPr>
          <a:xfrm>
            <a:off x="400050" y="333375"/>
            <a:ext cx="11391900" cy="1133475"/>
          </a:xfrm>
          <a:prstGeom prst="rect">
            <a:avLst/>
          </a:prstGeom>
          <a:noFill/>
          <a:ln w="0">
            <a:noFill/>
          </a:ln>
        </p:spPr>
        <p:txBody>
          <a:bodyPr lIns="0" tIns="0" rIns="0" bIns="0" anchor="t">
            <a:noAutofit/>
          </a:bodyPr>
          <a:lstStyle/>
          <a:p>
            <a:pPr algn="l">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One enterprise experience for shared</a:t>
            </a:r>
          </a:p>
          <a:p>
            <a:pPr algn="l">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resources and delivery</a:t>
            </a:r>
          </a:p>
        </p:txBody>
      </p:sp>
      <p:sp>
        <p:nvSpPr>
          <p:cNvPr id="2" name="box">
            <a:extLst>
              <a:ext uri="{FF2B5EF4-FFF2-40B4-BE49-F238E27FC236}">
                <a16:creationId xmlns:a16="http://schemas.microsoft.com/office/drawing/2014/main" id="{B607952C-D3BD-4631-BB62-F858665F1AC0}"/>
              </a:ext>
            </a:extLst>
          </p:cNvPr>
          <p:cNvSpPr>
            <a:spLocks noGrp="1"/>
          </p:cNvSpPr>
          <p:nvPr/>
        </p:nvSpPr>
        <p:spPr>
          <a:xfrm>
            <a:off x="400050" y="1762125"/>
            <a:ext cx="3638550" cy="4343400"/>
          </a:xfrm>
          <a:prstGeom prst="roundRect">
            <a:avLst>
              <a:gd name="adj" fmla="val 1832"/>
            </a:avLst>
          </a:prstGeom>
          <a:solidFill>
            <a:srgbClr val="FFFFFF"/>
          </a:solidFill>
          <a:ln w="15240">
            <a:solidFill>
              <a:srgbClr val="536575"/>
            </a:solidFill>
          </a:ln>
        </p:spPr>
      </p:sp>
      <p:sp>
        <p:nvSpPr>
          <p:cNvPr id="3" name="text">
            <a:extLst>
              <a:ext uri="{FF2B5EF4-FFF2-40B4-BE49-F238E27FC236}">
                <a16:creationId xmlns:a16="http://schemas.microsoft.com/office/drawing/2014/main" id="{34ECCCAE-7978-4461-B906-BD930DAD594C}"/>
              </a:ext>
            </a:extLst>
          </p:cNvPr>
          <p:cNvSpPr>
            <a:spLocks noGrp="1"/>
          </p:cNvSpPr>
          <p:nvPr/>
        </p:nvSpPr>
        <p:spPr>
          <a:xfrm>
            <a:off x="638175" y="1943100"/>
            <a:ext cx="3162300" cy="752475"/>
          </a:xfrm>
          <a:prstGeom prst="rect">
            <a:avLst/>
          </a:prstGeom>
          <a:noFill/>
          <a:ln w="0">
            <a:noFill/>
          </a:ln>
        </p:spPr>
        <p:txBody>
          <a:bodyPr lIns="0" tIns="0" rIns="0" bIns="0" anchor="ctr">
            <a:noAutofit/>
          </a:bodyPr>
          <a:lstStyle/>
          <a:p>
            <a:pPr algn="l">
              <a:defRPr sz="2475" b="1">
                <a:solidFill>
                  <a:srgbClr val="102030"/>
                </a:solidFill>
                <a:latin typeface="Nimbus Sans"/>
                <a:ea typeface="Nimbus Sans"/>
                <a:cs typeface="Nimbus Sans"/>
              </a:defRPr>
            </a:pPr>
            <a:r>
              <a:rPr sz="2475" b="1">
                <a:solidFill>
                  <a:srgbClr val="102030"/>
                </a:solidFill>
                <a:latin typeface="Nimbus Sans"/>
                <a:ea typeface="Nimbus Sans"/>
                <a:cs typeface="Nimbus Sans"/>
              </a:rPr>
              <a:t>Organization</a:t>
            </a:r>
          </a:p>
          <a:p>
            <a:pPr algn="l">
              <a:defRPr sz="2475" b="1">
                <a:solidFill>
                  <a:srgbClr val="102030"/>
                </a:solidFill>
                <a:latin typeface="Nimbus Sans"/>
                <a:ea typeface="Nimbus Sans"/>
                <a:cs typeface="Nimbus Sans"/>
              </a:defRPr>
            </a:pPr>
            <a:r>
              <a:rPr sz="2475" b="1">
                <a:solidFill>
                  <a:srgbClr val="102030"/>
                </a:solidFill>
                <a:latin typeface="Nimbus Sans"/>
                <a:ea typeface="Nimbus Sans"/>
                <a:cs typeface="Nimbus Sans"/>
              </a:rPr>
              <a:t>Administrators</a:t>
            </a:r>
          </a:p>
        </p:txBody>
      </p:sp>
      <p:sp>
        <p:nvSpPr>
          <p:cNvPr id="4" name="text">
            <a:extLst>
              <a:ext uri="{FF2B5EF4-FFF2-40B4-BE49-F238E27FC236}">
                <a16:creationId xmlns:a16="http://schemas.microsoft.com/office/drawing/2014/main" id="{2931B051-F97E-43BE-9398-9E8152D55BFC}"/>
              </a:ext>
            </a:extLst>
          </p:cNvPr>
          <p:cNvSpPr>
            <a:spLocks noGrp="1"/>
          </p:cNvSpPr>
          <p:nvPr/>
        </p:nvSpPr>
        <p:spPr>
          <a:xfrm>
            <a:off x="638175" y="2743200"/>
            <a:ext cx="3162300" cy="571500"/>
          </a:xfrm>
          <a:prstGeom prst="rect">
            <a:avLst/>
          </a:prstGeom>
          <a:noFill/>
          <a:ln w="0">
            <a:noFill/>
          </a:ln>
        </p:spPr>
        <p:txBody>
          <a:bodyPr lIns="0" tIns="0" rIns="0" bIns="0" anchor="ctr">
            <a:noAutofit/>
          </a:bodyPr>
          <a:lstStyle/>
          <a:p>
            <a:pPr algn="l">
              <a:defRPr sz="1800" b="0">
                <a:solidFill>
                  <a:srgbClr val="102030"/>
                </a:solidFill>
                <a:latin typeface="Nimbus Sans"/>
                <a:ea typeface="Nimbus Sans"/>
                <a:cs typeface="Nimbus Sans"/>
              </a:defRPr>
            </a:pPr>
            <a:r>
              <a:rPr sz="1800" b="0">
                <a:solidFill>
                  <a:srgbClr val="102030"/>
                </a:solidFill>
                <a:latin typeface="Nimbus Sans"/>
                <a:ea typeface="Nimbus Sans"/>
                <a:cs typeface="Nimbus Sans"/>
              </a:rPr>
              <a:t>Establish shared resources</a:t>
            </a:r>
          </a:p>
          <a:p>
            <a:pPr algn="l">
              <a:defRPr sz="1800" b="0">
                <a:solidFill>
                  <a:srgbClr val="102030"/>
                </a:solidFill>
                <a:latin typeface="Nimbus Sans"/>
                <a:ea typeface="Nimbus Sans"/>
                <a:cs typeface="Nimbus Sans"/>
              </a:defRPr>
            </a:pPr>
            <a:r>
              <a:rPr sz="1800" b="0">
                <a:solidFill>
                  <a:srgbClr val="102030"/>
                </a:solidFill>
                <a:latin typeface="Nimbus Sans"/>
                <a:ea typeface="Nimbus Sans"/>
                <a:cs typeface="Nimbus Sans"/>
              </a:rPr>
              <a:t>and access.</a:t>
            </a:r>
          </a:p>
        </p:txBody>
      </p:sp>
      <p:sp>
        <p:nvSpPr>
          <p:cNvPr id="5" name="box">
            <a:extLst>
              <a:ext uri="{FF2B5EF4-FFF2-40B4-BE49-F238E27FC236}">
                <a16:creationId xmlns:a16="http://schemas.microsoft.com/office/drawing/2014/main" id="{5D930D33-A53D-4757-AC3E-E34F38CFC872}"/>
              </a:ext>
            </a:extLst>
          </p:cNvPr>
          <p:cNvSpPr>
            <a:spLocks noGrp="1"/>
          </p:cNvSpPr>
          <p:nvPr/>
        </p:nvSpPr>
        <p:spPr>
          <a:xfrm>
            <a:off x="685800" y="3629025"/>
            <a:ext cx="19050" cy="1933575"/>
          </a:xfrm>
          <a:prstGeom prst="rect">
            <a:avLst/>
          </a:prstGeom>
          <a:solidFill>
            <a:srgbClr val="72AAA9"/>
          </a:solidFill>
          <a:ln w="0">
            <a:noFill/>
          </a:ln>
        </p:spPr>
      </p:sp>
      <p:sp>
        <p:nvSpPr>
          <p:cNvPr id="6" name="box">
            <a:extLst>
              <a:ext uri="{FF2B5EF4-FFF2-40B4-BE49-F238E27FC236}">
                <a16:creationId xmlns:a16="http://schemas.microsoft.com/office/drawing/2014/main" id="{0AC8B426-B95B-4A34-893E-F7A963E65DAE}"/>
              </a:ext>
            </a:extLst>
          </p:cNvPr>
          <p:cNvSpPr>
            <a:spLocks noGrp="1"/>
          </p:cNvSpPr>
          <p:nvPr/>
        </p:nvSpPr>
        <p:spPr>
          <a:xfrm>
            <a:off x="685800" y="3705225"/>
            <a:ext cx="247650" cy="19050"/>
          </a:xfrm>
          <a:prstGeom prst="rect">
            <a:avLst/>
          </a:prstGeom>
          <a:solidFill>
            <a:srgbClr val="72AAA9"/>
          </a:solidFill>
          <a:ln w="0">
            <a:noFill/>
          </a:ln>
        </p:spPr>
      </p:sp>
      <p:sp>
        <p:nvSpPr>
          <p:cNvPr id="7" name="box">
            <a:extLst>
              <a:ext uri="{FF2B5EF4-FFF2-40B4-BE49-F238E27FC236}">
                <a16:creationId xmlns:a16="http://schemas.microsoft.com/office/drawing/2014/main" id="{9AC2C111-7385-4BB9-BD5E-61C493C00485}"/>
              </a:ext>
            </a:extLst>
          </p:cNvPr>
          <p:cNvSpPr>
            <a:spLocks noGrp="1"/>
          </p:cNvSpPr>
          <p:nvPr/>
        </p:nvSpPr>
        <p:spPr>
          <a:xfrm>
            <a:off x="923925" y="3457575"/>
            <a:ext cx="2895600" cy="495300"/>
          </a:xfrm>
          <a:prstGeom prst="roundRect">
            <a:avLst>
              <a:gd name="adj" fmla="val 50000"/>
            </a:avLst>
          </a:prstGeom>
          <a:solidFill>
            <a:srgbClr val="EDF0F3"/>
          </a:solidFill>
          <a:ln w="15240">
            <a:solidFill>
              <a:srgbClr val="354858"/>
            </a:solidFill>
          </a:ln>
        </p:spPr>
      </p:sp>
      <p:sp>
        <p:nvSpPr>
          <p:cNvPr id="8" name="text">
            <a:extLst>
              <a:ext uri="{FF2B5EF4-FFF2-40B4-BE49-F238E27FC236}">
                <a16:creationId xmlns:a16="http://schemas.microsoft.com/office/drawing/2014/main" id="{9C288E56-E077-4E67-BF9B-857A953864D4}"/>
              </a:ext>
            </a:extLst>
          </p:cNvPr>
          <p:cNvSpPr>
            <a:spLocks noGrp="1"/>
          </p:cNvSpPr>
          <p:nvPr/>
        </p:nvSpPr>
        <p:spPr>
          <a:xfrm>
            <a:off x="1038225" y="3505200"/>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Connect AWS accounts</a:t>
            </a:r>
          </a:p>
        </p:txBody>
      </p:sp>
      <p:sp>
        <p:nvSpPr>
          <p:cNvPr id="9" name="box">
            <a:extLst>
              <a:ext uri="{FF2B5EF4-FFF2-40B4-BE49-F238E27FC236}">
                <a16:creationId xmlns:a16="http://schemas.microsoft.com/office/drawing/2014/main" id="{D3E923F0-47E6-4793-8959-E858196FB012}"/>
              </a:ext>
            </a:extLst>
          </p:cNvPr>
          <p:cNvSpPr>
            <a:spLocks noGrp="1"/>
          </p:cNvSpPr>
          <p:nvPr/>
        </p:nvSpPr>
        <p:spPr>
          <a:xfrm>
            <a:off x="685800" y="4286250"/>
            <a:ext cx="247650" cy="19050"/>
          </a:xfrm>
          <a:prstGeom prst="rect">
            <a:avLst/>
          </a:prstGeom>
          <a:solidFill>
            <a:srgbClr val="72AAA9"/>
          </a:solidFill>
          <a:ln w="0">
            <a:noFill/>
          </a:ln>
        </p:spPr>
      </p:sp>
      <p:sp>
        <p:nvSpPr>
          <p:cNvPr id="10" name="box">
            <a:extLst>
              <a:ext uri="{FF2B5EF4-FFF2-40B4-BE49-F238E27FC236}">
                <a16:creationId xmlns:a16="http://schemas.microsoft.com/office/drawing/2014/main" id="{6A7F52A0-DDC3-48D2-88BF-8ED8CF6F8ABE}"/>
              </a:ext>
            </a:extLst>
          </p:cNvPr>
          <p:cNvSpPr>
            <a:spLocks noGrp="1"/>
          </p:cNvSpPr>
          <p:nvPr/>
        </p:nvSpPr>
        <p:spPr>
          <a:xfrm>
            <a:off x="923925" y="4038600"/>
            <a:ext cx="2895600" cy="495300"/>
          </a:xfrm>
          <a:prstGeom prst="roundRect">
            <a:avLst>
              <a:gd name="adj" fmla="val 50000"/>
            </a:avLst>
          </a:prstGeom>
          <a:solidFill>
            <a:srgbClr val="EDF0F3"/>
          </a:solidFill>
          <a:ln w="15240">
            <a:solidFill>
              <a:srgbClr val="354858"/>
            </a:solidFill>
          </a:ln>
        </p:spPr>
      </p:sp>
      <p:sp>
        <p:nvSpPr>
          <p:cNvPr id="11" name="text">
            <a:extLst>
              <a:ext uri="{FF2B5EF4-FFF2-40B4-BE49-F238E27FC236}">
                <a16:creationId xmlns:a16="http://schemas.microsoft.com/office/drawing/2014/main" id="{5C79FF89-33EE-4711-9DFB-50F6358D57F2}"/>
              </a:ext>
            </a:extLst>
          </p:cNvPr>
          <p:cNvSpPr>
            <a:spLocks noGrp="1"/>
          </p:cNvSpPr>
          <p:nvPr/>
        </p:nvSpPr>
        <p:spPr>
          <a:xfrm>
            <a:off x="1038225" y="4086225"/>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Discover resources</a:t>
            </a:r>
          </a:p>
        </p:txBody>
      </p:sp>
      <p:sp>
        <p:nvSpPr>
          <p:cNvPr id="12" name="box">
            <a:extLst>
              <a:ext uri="{FF2B5EF4-FFF2-40B4-BE49-F238E27FC236}">
                <a16:creationId xmlns:a16="http://schemas.microsoft.com/office/drawing/2014/main" id="{A17528DD-C15B-43C3-A5D3-C97569FA8EC9}"/>
              </a:ext>
            </a:extLst>
          </p:cNvPr>
          <p:cNvSpPr>
            <a:spLocks noGrp="1"/>
          </p:cNvSpPr>
          <p:nvPr/>
        </p:nvSpPr>
        <p:spPr>
          <a:xfrm>
            <a:off x="685800" y="4867275"/>
            <a:ext cx="247650" cy="19050"/>
          </a:xfrm>
          <a:prstGeom prst="rect">
            <a:avLst/>
          </a:prstGeom>
          <a:solidFill>
            <a:srgbClr val="72AAA9"/>
          </a:solidFill>
          <a:ln w="0">
            <a:noFill/>
          </a:ln>
        </p:spPr>
      </p:sp>
      <p:sp>
        <p:nvSpPr>
          <p:cNvPr id="13" name="box">
            <a:extLst>
              <a:ext uri="{FF2B5EF4-FFF2-40B4-BE49-F238E27FC236}">
                <a16:creationId xmlns:a16="http://schemas.microsoft.com/office/drawing/2014/main" id="{EF8D2267-3919-4724-96EF-27D8A74FCA93}"/>
              </a:ext>
            </a:extLst>
          </p:cNvPr>
          <p:cNvSpPr>
            <a:spLocks noGrp="1"/>
          </p:cNvSpPr>
          <p:nvPr/>
        </p:nvSpPr>
        <p:spPr>
          <a:xfrm>
            <a:off x="923925" y="4619625"/>
            <a:ext cx="2895600" cy="495300"/>
          </a:xfrm>
          <a:prstGeom prst="roundRect">
            <a:avLst>
              <a:gd name="adj" fmla="val 50000"/>
            </a:avLst>
          </a:prstGeom>
          <a:solidFill>
            <a:srgbClr val="EDF0F3"/>
          </a:solidFill>
          <a:ln w="15240">
            <a:solidFill>
              <a:srgbClr val="354858"/>
            </a:solidFill>
          </a:ln>
        </p:spPr>
      </p:sp>
      <p:sp>
        <p:nvSpPr>
          <p:cNvPr id="14" name="text">
            <a:extLst>
              <a:ext uri="{FF2B5EF4-FFF2-40B4-BE49-F238E27FC236}">
                <a16:creationId xmlns:a16="http://schemas.microsoft.com/office/drawing/2014/main" id="{32ACF46A-2FF5-4568-9C58-AE6255D7991F}"/>
              </a:ext>
            </a:extLst>
          </p:cNvPr>
          <p:cNvSpPr>
            <a:spLocks noGrp="1"/>
          </p:cNvSpPr>
          <p:nvPr/>
        </p:nvSpPr>
        <p:spPr>
          <a:xfrm>
            <a:off x="1038225" y="4667250"/>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Curate the approved</a:t>
            </a:r>
          </a:p>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tool catalog</a:t>
            </a:r>
          </a:p>
        </p:txBody>
      </p:sp>
      <p:sp>
        <p:nvSpPr>
          <p:cNvPr id="15" name="box">
            <a:extLst>
              <a:ext uri="{FF2B5EF4-FFF2-40B4-BE49-F238E27FC236}">
                <a16:creationId xmlns:a16="http://schemas.microsoft.com/office/drawing/2014/main" id="{06B97FF2-8E2A-4EF9-9416-BCB99D89ABE1}"/>
              </a:ext>
            </a:extLst>
          </p:cNvPr>
          <p:cNvSpPr>
            <a:spLocks noGrp="1"/>
          </p:cNvSpPr>
          <p:nvPr/>
        </p:nvSpPr>
        <p:spPr>
          <a:xfrm>
            <a:off x="685800" y="5448300"/>
            <a:ext cx="247650" cy="19050"/>
          </a:xfrm>
          <a:prstGeom prst="rect">
            <a:avLst/>
          </a:prstGeom>
          <a:solidFill>
            <a:srgbClr val="72AAA9"/>
          </a:solidFill>
          <a:ln w="0">
            <a:noFill/>
          </a:ln>
        </p:spPr>
      </p:sp>
      <p:sp>
        <p:nvSpPr>
          <p:cNvPr id="16" name="box">
            <a:extLst>
              <a:ext uri="{FF2B5EF4-FFF2-40B4-BE49-F238E27FC236}">
                <a16:creationId xmlns:a16="http://schemas.microsoft.com/office/drawing/2014/main" id="{9F52B629-3755-4DB0-AF9D-83F28BEF917C}"/>
              </a:ext>
            </a:extLst>
          </p:cNvPr>
          <p:cNvSpPr>
            <a:spLocks noGrp="1"/>
          </p:cNvSpPr>
          <p:nvPr/>
        </p:nvSpPr>
        <p:spPr>
          <a:xfrm>
            <a:off x="923925" y="5200650"/>
            <a:ext cx="2895600" cy="495300"/>
          </a:xfrm>
          <a:prstGeom prst="roundRect">
            <a:avLst>
              <a:gd name="adj" fmla="val 50000"/>
            </a:avLst>
          </a:prstGeom>
          <a:solidFill>
            <a:srgbClr val="EDF0F3"/>
          </a:solidFill>
          <a:ln w="15240">
            <a:solidFill>
              <a:srgbClr val="354858"/>
            </a:solidFill>
          </a:ln>
        </p:spPr>
      </p:sp>
      <p:sp>
        <p:nvSpPr>
          <p:cNvPr id="17" name="text">
            <a:extLst>
              <a:ext uri="{FF2B5EF4-FFF2-40B4-BE49-F238E27FC236}">
                <a16:creationId xmlns:a16="http://schemas.microsoft.com/office/drawing/2014/main" id="{24538019-6418-4720-8709-E4D1136909AC}"/>
              </a:ext>
            </a:extLst>
          </p:cNvPr>
          <p:cNvSpPr>
            <a:spLocks noGrp="1"/>
          </p:cNvSpPr>
          <p:nvPr/>
        </p:nvSpPr>
        <p:spPr>
          <a:xfrm>
            <a:off x="1038225" y="5248275"/>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Grant project access</a:t>
            </a:r>
          </a:p>
        </p:txBody>
      </p:sp>
      <p:sp>
        <p:nvSpPr>
          <p:cNvPr id="18" name="glow arrow">
            <a:extLst>
              <a:ext uri="{FF2B5EF4-FFF2-40B4-BE49-F238E27FC236}">
                <a16:creationId xmlns:a16="http://schemas.microsoft.com/office/drawing/2014/main" id="{95FE6237-1F61-4E45-AC44-080741B150D6}"/>
              </a:ext>
            </a:extLst>
          </p:cNvPr>
          <p:cNvSpPr>
            <a:spLocks noGrp="1"/>
          </p:cNvSpPr>
          <p:nvPr/>
        </p:nvSpPr>
        <p:spPr>
          <a:xfrm>
            <a:off x="4067175" y="3914775"/>
            <a:ext cx="190500" cy="219075"/>
          </a:xfrm>
          <a:prstGeom prst="rightArrow">
            <a:avLst/>
          </a:prstGeom>
          <a:solidFill>
            <a:srgbClr val="34B7C2"/>
          </a:solidFill>
          <a:ln w="19050">
            <a:solidFill>
              <a:srgbClr val="7DD6DD"/>
            </a:solidFill>
          </a:ln>
        </p:spPr>
      </p:sp>
      <p:sp>
        <p:nvSpPr>
          <p:cNvPr id="19" name="box">
            <a:extLst>
              <a:ext uri="{FF2B5EF4-FFF2-40B4-BE49-F238E27FC236}">
                <a16:creationId xmlns:a16="http://schemas.microsoft.com/office/drawing/2014/main" id="{4CF6BF07-E142-4623-8292-DAC3ECF4132D}"/>
              </a:ext>
            </a:extLst>
          </p:cNvPr>
          <p:cNvSpPr>
            <a:spLocks noGrp="1"/>
          </p:cNvSpPr>
          <p:nvPr/>
        </p:nvSpPr>
        <p:spPr>
          <a:xfrm>
            <a:off x="4276725" y="1762125"/>
            <a:ext cx="3638550" cy="4343400"/>
          </a:xfrm>
          <a:prstGeom prst="roundRect">
            <a:avLst>
              <a:gd name="adj" fmla="val 1832"/>
            </a:avLst>
          </a:prstGeom>
          <a:solidFill>
            <a:srgbClr val="FFFFFF"/>
          </a:solidFill>
          <a:ln w="15240">
            <a:solidFill>
              <a:srgbClr val="536575"/>
            </a:solidFill>
          </a:ln>
        </p:spPr>
      </p:sp>
      <p:sp>
        <p:nvSpPr>
          <p:cNvPr id="20" name="text">
            <a:extLst>
              <a:ext uri="{FF2B5EF4-FFF2-40B4-BE49-F238E27FC236}">
                <a16:creationId xmlns:a16="http://schemas.microsoft.com/office/drawing/2014/main" id="{87903D55-8ADA-490C-8F96-0364B4A4BB28}"/>
              </a:ext>
            </a:extLst>
          </p:cNvPr>
          <p:cNvSpPr>
            <a:spLocks noGrp="1"/>
          </p:cNvSpPr>
          <p:nvPr/>
        </p:nvSpPr>
        <p:spPr>
          <a:xfrm>
            <a:off x="4514850" y="1943100"/>
            <a:ext cx="3162300" cy="752475"/>
          </a:xfrm>
          <a:prstGeom prst="rect">
            <a:avLst/>
          </a:prstGeom>
          <a:noFill/>
          <a:ln w="0">
            <a:noFill/>
          </a:ln>
        </p:spPr>
        <p:txBody>
          <a:bodyPr lIns="0" tIns="0" rIns="0" bIns="0" anchor="ctr">
            <a:noAutofit/>
          </a:bodyPr>
          <a:lstStyle/>
          <a:p>
            <a:pPr algn="l">
              <a:defRPr sz="2475" b="1">
                <a:solidFill>
                  <a:srgbClr val="102030"/>
                </a:solidFill>
                <a:latin typeface="Nimbus Sans"/>
                <a:ea typeface="Nimbus Sans"/>
                <a:cs typeface="Nimbus Sans"/>
              </a:defRPr>
            </a:pPr>
            <a:r>
              <a:rPr sz="2475" b="1">
                <a:solidFill>
                  <a:srgbClr val="102030"/>
                </a:solidFill>
                <a:latin typeface="Nimbus Sans"/>
                <a:ea typeface="Nimbus Sans"/>
                <a:cs typeface="Nimbus Sans"/>
              </a:rPr>
              <a:t>Project</a:t>
            </a:r>
          </a:p>
          <a:p>
            <a:pPr algn="l">
              <a:defRPr sz="2475" b="1">
                <a:solidFill>
                  <a:srgbClr val="102030"/>
                </a:solidFill>
                <a:latin typeface="Nimbus Sans"/>
                <a:ea typeface="Nimbus Sans"/>
                <a:cs typeface="Nimbus Sans"/>
              </a:defRPr>
            </a:pPr>
            <a:r>
              <a:rPr sz="2475" b="1">
                <a:solidFill>
                  <a:srgbClr val="102030"/>
                </a:solidFill>
                <a:latin typeface="Nimbus Sans"/>
                <a:ea typeface="Nimbus Sans"/>
                <a:cs typeface="Nimbus Sans"/>
              </a:rPr>
              <a:t>Teams</a:t>
            </a:r>
          </a:p>
        </p:txBody>
      </p:sp>
      <p:sp>
        <p:nvSpPr>
          <p:cNvPr id="21" name="text">
            <a:extLst>
              <a:ext uri="{FF2B5EF4-FFF2-40B4-BE49-F238E27FC236}">
                <a16:creationId xmlns:a16="http://schemas.microsoft.com/office/drawing/2014/main" id="{5AC5163D-D072-4DFF-9C80-25EF2482D8CA}"/>
              </a:ext>
            </a:extLst>
          </p:cNvPr>
          <p:cNvSpPr>
            <a:spLocks noGrp="1"/>
          </p:cNvSpPr>
          <p:nvPr/>
        </p:nvSpPr>
        <p:spPr>
          <a:xfrm>
            <a:off x="4514850" y="2743200"/>
            <a:ext cx="3162300" cy="571500"/>
          </a:xfrm>
          <a:prstGeom prst="rect">
            <a:avLst/>
          </a:prstGeom>
          <a:noFill/>
          <a:ln w="0">
            <a:noFill/>
          </a:ln>
        </p:spPr>
        <p:txBody>
          <a:bodyPr lIns="0" tIns="0" rIns="0" bIns="0" anchor="ctr">
            <a:noAutofit/>
          </a:bodyPr>
          <a:lstStyle/>
          <a:p>
            <a:pPr algn="l">
              <a:defRPr sz="1800" b="0">
                <a:solidFill>
                  <a:srgbClr val="102030"/>
                </a:solidFill>
                <a:latin typeface="Nimbus Sans"/>
                <a:ea typeface="Nimbus Sans"/>
                <a:cs typeface="Nimbus Sans"/>
              </a:defRPr>
            </a:pPr>
            <a:r>
              <a:rPr sz="1800" b="0">
                <a:solidFill>
                  <a:srgbClr val="102030"/>
                </a:solidFill>
                <a:latin typeface="Nimbus Sans"/>
                <a:ea typeface="Nimbus Sans"/>
                <a:cs typeface="Nimbus Sans"/>
              </a:rPr>
              <a:t>Configure agents using</a:t>
            </a:r>
          </a:p>
          <a:p>
            <a:pPr algn="l">
              <a:defRPr sz="1800" b="0">
                <a:solidFill>
                  <a:srgbClr val="102030"/>
                </a:solidFill>
                <a:latin typeface="Nimbus Sans"/>
                <a:ea typeface="Nimbus Sans"/>
                <a:cs typeface="Nimbus Sans"/>
              </a:defRPr>
            </a:pPr>
            <a:r>
              <a:rPr sz="1800" b="0">
                <a:solidFill>
                  <a:srgbClr val="102030"/>
                </a:solidFill>
                <a:latin typeface="Nimbus Sans"/>
                <a:ea typeface="Nimbus Sans"/>
                <a:cs typeface="Nimbus Sans"/>
              </a:rPr>
              <a:t>granted tools.</a:t>
            </a:r>
          </a:p>
        </p:txBody>
      </p:sp>
      <p:sp>
        <p:nvSpPr>
          <p:cNvPr id="22" name="box">
            <a:extLst>
              <a:ext uri="{FF2B5EF4-FFF2-40B4-BE49-F238E27FC236}">
                <a16:creationId xmlns:a16="http://schemas.microsoft.com/office/drawing/2014/main" id="{7623A2AF-2989-4F93-A64C-F576A0A4EEAF}"/>
              </a:ext>
            </a:extLst>
          </p:cNvPr>
          <p:cNvSpPr>
            <a:spLocks noGrp="1"/>
          </p:cNvSpPr>
          <p:nvPr/>
        </p:nvSpPr>
        <p:spPr>
          <a:xfrm>
            <a:off x="4562475" y="3629025"/>
            <a:ext cx="19050" cy="1933575"/>
          </a:xfrm>
          <a:prstGeom prst="rect">
            <a:avLst/>
          </a:prstGeom>
          <a:solidFill>
            <a:srgbClr val="72AAA9"/>
          </a:solidFill>
          <a:ln w="0">
            <a:noFill/>
          </a:ln>
        </p:spPr>
      </p:sp>
      <p:sp>
        <p:nvSpPr>
          <p:cNvPr id="23" name="box">
            <a:extLst>
              <a:ext uri="{FF2B5EF4-FFF2-40B4-BE49-F238E27FC236}">
                <a16:creationId xmlns:a16="http://schemas.microsoft.com/office/drawing/2014/main" id="{5E51229D-A64B-4B54-A1A5-62DE45CFBAE9}"/>
              </a:ext>
            </a:extLst>
          </p:cNvPr>
          <p:cNvSpPr>
            <a:spLocks noGrp="1"/>
          </p:cNvSpPr>
          <p:nvPr/>
        </p:nvSpPr>
        <p:spPr>
          <a:xfrm>
            <a:off x="4562475" y="3705225"/>
            <a:ext cx="247650" cy="19050"/>
          </a:xfrm>
          <a:prstGeom prst="rect">
            <a:avLst/>
          </a:prstGeom>
          <a:solidFill>
            <a:srgbClr val="72AAA9"/>
          </a:solidFill>
          <a:ln w="0">
            <a:noFill/>
          </a:ln>
        </p:spPr>
      </p:sp>
      <p:sp>
        <p:nvSpPr>
          <p:cNvPr id="24" name="box">
            <a:extLst>
              <a:ext uri="{FF2B5EF4-FFF2-40B4-BE49-F238E27FC236}">
                <a16:creationId xmlns:a16="http://schemas.microsoft.com/office/drawing/2014/main" id="{D134F41A-7884-4789-BB12-60FAD8656379}"/>
              </a:ext>
            </a:extLst>
          </p:cNvPr>
          <p:cNvSpPr>
            <a:spLocks noGrp="1"/>
          </p:cNvSpPr>
          <p:nvPr/>
        </p:nvSpPr>
        <p:spPr>
          <a:xfrm>
            <a:off x="4800600" y="3457575"/>
            <a:ext cx="2895600" cy="495300"/>
          </a:xfrm>
          <a:prstGeom prst="roundRect">
            <a:avLst>
              <a:gd name="adj" fmla="val 50000"/>
            </a:avLst>
          </a:prstGeom>
          <a:solidFill>
            <a:srgbClr val="EDF0F3"/>
          </a:solidFill>
          <a:ln w="15240">
            <a:solidFill>
              <a:srgbClr val="354858"/>
            </a:solidFill>
          </a:ln>
        </p:spPr>
      </p:sp>
      <p:sp>
        <p:nvSpPr>
          <p:cNvPr id="25" name="text">
            <a:extLst>
              <a:ext uri="{FF2B5EF4-FFF2-40B4-BE49-F238E27FC236}">
                <a16:creationId xmlns:a16="http://schemas.microsoft.com/office/drawing/2014/main" id="{4464FAE8-11E1-4F96-B16B-91E98AD92166}"/>
              </a:ext>
            </a:extLst>
          </p:cNvPr>
          <p:cNvSpPr>
            <a:spLocks noGrp="1"/>
          </p:cNvSpPr>
          <p:nvPr/>
        </p:nvSpPr>
        <p:spPr>
          <a:xfrm>
            <a:off x="4914900" y="3505200"/>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Select tools</a:t>
            </a:r>
          </a:p>
        </p:txBody>
      </p:sp>
      <p:sp>
        <p:nvSpPr>
          <p:cNvPr id="26" name="box">
            <a:extLst>
              <a:ext uri="{FF2B5EF4-FFF2-40B4-BE49-F238E27FC236}">
                <a16:creationId xmlns:a16="http://schemas.microsoft.com/office/drawing/2014/main" id="{1046D2C0-AE93-437B-9588-D72502F1796E}"/>
              </a:ext>
            </a:extLst>
          </p:cNvPr>
          <p:cNvSpPr>
            <a:spLocks noGrp="1"/>
          </p:cNvSpPr>
          <p:nvPr/>
        </p:nvSpPr>
        <p:spPr>
          <a:xfrm>
            <a:off x="4562475" y="4286250"/>
            <a:ext cx="247650" cy="19050"/>
          </a:xfrm>
          <a:prstGeom prst="rect">
            <a:avLst/>
          </a:prstGeom>
          <a:solidFill>
            <a:srgbClr val="72AAA9"/>
          </a:solidFill>
          <a:ln w="0">
            <a:noFill/>
          </a:ln>
        </p:spPr>
      </p:sp>
      <p:sp>
        <p:nvSpPr>
          <p:cNvPr id="27" name="box">
            <a:extLst>
              <a:ext uri="{FF2B5EF4-FFF2-40B4-BE49-F238E27FC236}">
                <a16:creationId xmlns:a16="http://schemas.microsoft.com/office/drawing/2014/main" id="{6BD18CC7-DB9F-41B8-8787-68843ECD490D}"/>
              </a:ext>
            </a:extLst>
          </p:cNvPr>
          <p:cNvSpPr>
            <a:spLocks noGrp="1"/>
          </p:cNvSpPr>
          <p:nvPr/>
        </p:nvSpPr>
        <p:spPr>
          <a:xfrm>
            <a:off x="4800600" y="4038600"/>
            <a:ext cx="2895600" cy="495300"/>
          </a:xfrm>
          <a:prstGeom prst="roundRect">
            <a:avLst>
              <a:gd name="adj" fmla="val 50000"/>
            </a:avLst>
          </a:prstGeom>
          <a:solidFill>
            <a:srgbClr val="EDF0F3"/>
          </a:solidFill>
          <a:ln w="15240">
            <a:solidFill>
              <a:srgbClr val="354858"/>
            </a:solidFill>
          </a:ln>
        </p:spPr>
      </p:sp>
      <p:sp>
        <p:nvSpPr>
          <p:cNvPr id="28" name="text">
            <a:extLst>
              <a:ext uri="{FF2B5EF4-FFF2-40B4-BE49-F238E27FC236}">
                <a16:creationId xmlns:a16="http://schemas.microsoft.com/office/drawing/2014/main" id="{C78B56DA-C776-4C26-9113-46DEB98F7A87}"/>
              </a:ext>
            </a:extLst>
          </p:cNvPr>
          <p:cNvSpPr>
            <a:spLocks noGrp="1"/>
          </p:cNvSpPr>
          <p:nvPr/>
        </p:nvSpPr>
        <p:spPr>
          <a:xfrm>
            <a:off x="4914900" y="4086225"/>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Submit for approval</a:t>
            </a:r>
          </a:p>
        </p:txBody>
      </p:sp>
      <p:sp>
        <p:nvSpPr>
          <p:cNvPr id="29" name="box">
            <a:extLst>
              <a:ext uri="{FF2B5EF4-FFF2-40B4-BE49-F238E27FC236}">
                <a16:creationId xmlns:a16="http://schemas.microsoft.com/office/drawing/2014/main" id="{36D8B33D-9028-4853-8584-6EC83CC9874A}"/>
              </a:ext>
            </a:extLst>
          </p:cNvPr>
          <p:cNvSpPr>
            <a:spLocks noGrp="1"/>
          </p:cNvSpPr>
          <p:nvPr/>
        </p:nvSpPr>
        <p:spPr>
          <a:xfrm>
            <a:off x="4562475" y="4867275"/>
            <a:ext cx="247650" cy="19050"/>
          </a:xfrm>
          <a:prstGeom prst="rect">
            <a:avLst/>
          </a:prstGeom>
          <a:solidFill>
            <a:srgbClr val="72AAA9"/>
          </a:solidFill>
          <a:ln w="0">
            <a:noFill/>
          </a:ln>
        </p:spPr>
      </p:sp>
      <p:sp>
        <p:nvSpPr>
          <p:cNvPr id="30" name="box">
            <a:extLst>
              <a:ext uri="{FF2B5EF4-FFF2-40B4-BE49-F238E27FC236}">
                <a16:creationId xmlns:a16="http://schemas.microsoft.com/office/drawing/2014/main" id="{86A12207-B4F9-4A25-87CD-DF57495042EE}"/>
              </a:ext>
            </a:extLst>
          </p:cNvPr>
          <p:cNvSpPr>
            <a:spLocks noGrp="1"/>
          </p:cNvSpPr>
          <p:nvPr/>
        </p:nvSpPr>
        <p:spPr>
          <a:xfrm>
            <a:off x="4800600" y="4619625"/>
            <a:ext cx="2895600" cy="495300"/>
          </a:xfrm>
          <a:prstGeom prst="roundRect">
            <a:avLst>
              <a:gd name="adj" fmla="val 50000"/>
            </a:avLst>
          </a:prstGeom>
          <a:solidFill>
            <a:srgbClr val="EDF0F3"/>
          </a:solidFill>
          <a:ln w="15240">
            <a:solidFill>
              <a:srgbClr val="354858"/>
            </a:solidFill>
          </a:ln>
        </p:spPr>
      </p:sp>
      <p:sp>
        <p:nvSpPr>
          <p:cNvPr id="31" name="text">
            <a:extLst>
              <a:ext uri="{FF2B5EF4-FFF2-40B4-BE49-F238E27FC236}">
                <a16:creationId xmlns:a16="http://schemas.microsoft.com/office/drawing/2014/main" id="{D2989C3E-5512-4CA9-8CAE-850131EFF475}"/>
              </a:ext>
            </a:extLst>
          </p:cNvPr>
          <p:cNvSpPr>
            <a:spLocks noGrp="1"/>
          </p:cNvSpPr>
          <p:nvPr/>
        </p:nvSpPr>
        <p:spPr>
          <a:xfrm>
            <a:off x="4914900" y="4667250"/>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Deploy to development</a:t>
            </a:r>
          </a:p>
        </p:txBody>
      </p:sp>
      <p:sp>
        <p:nvSpPr>
          <p:cNvPr id="32" name="box">
            <a:extLst>
              <a:ext uri="{FF2B5EF4-FFF2-40B4-BE49-F238E27FC236}">
                <a16:creationId xmlns:a16="http://schemas.microsoft.com/office/drawing/2014/main" id="{3E68BAEA-64C7-43B0-B34E-0D5BD77B71F7}"/>
              </a:ext>
            </a:extLst>
          </p:cNvPr>
          <p:cNvSpPr>
            <a:spLocks noGrp="1"/>
          </p:cNvSpPr>
          <p:nvPr/>
        </p:nvSpPr>
        <p:spPr>
          <a:xfrm>
            <a:off x="4562475" y="5448300"/>
            <a:ext cx="247650" cy="19050"/>
          </a:xfrm>
          <a:prstGeom prst="rect">
            <a:avLst/>
          </a:prstGeom>
          <a:solidFill>
            <a:srgbClr val="72AAA9"/>
          </a:solidFill>
          <a:ln w="0">
            <a:noFill/>
          </a:ln>
        </p:spPr>
      </p:sp>
      <p:sp>
        <p:nvSpPr>
          <p:cNvPr id="33" name="box">
            <a:extLst>
              <a:ext uri="{FF2B5EF4-FFF2-40B4-BE49-F238E27FC236}">
                <a16:creationId xmlns:a16="http://schemas.microsoft.com/office/drawing/2014/main" id="{BC070C0C-0FD2-4E95-A966-45DE73C142D1}"/>
              </a:ext>
            </a:extLst>
          </p:cNvPr>
          <p:cNvSpPr>
            <a:spLocks noGrp="1"/>
          </p:cNvSpPr>
          <p:nvPr/>
        </p:nvSpPr>
        <p:spPr>
          <a:xfrm>
            <a:off x="4800600" y="5200650"/>
            <a:ext cx="2895600" cy="495300"/>
          </a:xfrm>
          <a:prstGeom prst="roundRect">
            <a:avLst>
              <a:gd name="adj" fmla="val 50000"/>
            </a:avLst>
          </a:prstGeom>
          <a:solidFill>
            <a:srgbClr val="EDF0F3"/>
          </a:solidFill>
          <a:ln w="15240">
            <a:solidFill>
              <a:srgbClr val="354858"/>
            </a:solidFill>
          </a:ln>
        </p:spPr>
      </p:sp>
      <p:sp>
        <p:nvSpPr>
          <p:cNvPr id="34" name="text">
            <a:extLst>
              <a:ext uri="{FF2B5EF4-FFF2-40B4-BE49-F238E27FC236}">
                <a16:creationId xmlns:a16="http://schemas.microsoft.com/office/drawing/2014/main" id="{682E61F9-EFBC-4ADB-9393-645289722E31}"/>
              </a:ext>
            </a:extLst>
          </p:cNvPr>
          <p:cNvSpPr>
            <a:spLocks noGrp="1"/>
          </p:cNvSpPr>
          <p:nvPr/>
        </p:nvSpPr>
        <p:spPr>
          <a:xfrm>
            <a:off x="4914900" y="5248275"/>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Test in project</a:t>
            </a:r>
          </a:p>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workspaces</a:t>
            </a:r>
          </a:p>
        </p:txBody>
      </p:sp>
      <p:sp>
        <p:nvSpPr>
          <p:cNvPr id="35" name="glow arrow">
            <a:extLst>
              <a:ext uri="{FF2B5EF4-FFF2-40B4-BE49-F238E27FC236}">
                <a16:creationId xmlns:a16="http://schemas.microsoft.com/office/drawing/2014/main" id="{EAA6565B-2D2F-4DD9-A3BE-C1BE6194C148}"/>
              </a:ext>
            </a:extLst>
          </p:cNvPr>
          <p:cNvSpPr>
            <a:spLocks noGrp="1"/>
          </p:cNvSpPr>
          <p:nvPr/>
        </p:nvSpPr>
        <p:spPr>
          <a:xfrm>
            <a:off x="7943850" y="3914775"/>
            <a:ext cx="190500" cy="219075"/>
          </a:xfrm>
          <a:prstGeom prst="rightArrow">
            <a:avLst/>
          </a:prstGeom>
          <a:solidFill>
            <a:srgbClr val="34B7C2"/>
          </a:solidFill>
          <a:ln w="19050">
            <a:solidFill>
              <a:srgbClr val="7DD6DD"/>
            </a:solidFill>
          </a:ln>
        </p:spPr>
      </p:sp>
      <p:sp>
        <p:nvSpPr>
          <p:cNvPr id="36" name="box">
            <a:extLst>
              <a:ext uri="{FF2B5EF4-FFF2-40B4-BE49-F238E27FC236}">
                <a16:creationId xmlns:a16="http://schemas.microsoft.com/office/drawing/2014/main" id="{2D3FA0EC-AA8B-4089-BDE0-D62B436112E9}"/>
              </a:ext>
            </a:extLst>
          </p:cNvPr>
          <p:cNvSpPr>
            <a:spLocks noGrp="1"/>
          </p:cNvSpPr>
          <p:nvPr/>
        </p:nvSpPr>
        <p:spPr>
          <a:xfrm>
            <a:off x="8153400" y="1762125"/>
            <a:ext cx="3638550" cy="4343400"/>
          </a:xfrm>
          <a:prstGeom prst="roundRect">
            <a:avLst>
              <a:gd name="adj" fmla="val 1832"/>
            </a:avLst>
          </a:prstGeom>
          <a:solidFill>
            <a:srgbClr val="FFFFFF"/>
          </a:solidFill>
          <a:ln w="15240">
            <a:solidFill>
              <a:srgbClr val="536575"/>
            </a:solidFill>
          </a:ln>
        </p:spPr>
      </p:sp>
      <p:sp>
        <p:nvSpPr>
          <p:cNvPr id="37" name="text">
            <a:extLst>
              <a:ext uri="{FF2B5EF4-FFF2-40B4-BE49-F238E27FC236}">
                <a16:creationId xmlns:a16="http://schemas.microsoft.com/office/drawing/2014/main" id="{38303AFE-EB04-4528-873A-13B8B77CB0E0}"/>
              </a:ext>
            </a:extLst>
          </p:cNvPr>
          <p:cNvSpPr>
            <a:spLocks noGrp="1"/>
          </p:cNvSpPr>
          <p:nvPr/>
        </p:nvSpPr>
        <p:spPr>
          <a:xfrm>
            <a:off x="8391525" y="1943100"/>
            <a:ext cx="3162300" cy="752475"/>
          </a:xfrm>
          <a:prstGeom prst="rect">
            <a:avLst/>
          </a:prstGeom>
          <a:noFill/>
          <a:ln w="0">
            <a:noFill/>
          </a:ln>
        </p:spPr>
        <p:txBody>
          <a:bodyPr lIns="0" tIns="0" rIns="0" bIns="0" anchor="ctr">
            <a:noAutofit/>
          </a:bodyPr>
          <a:lstStyle/>
          <a:p>
            <a:pPr algn="l">
              <a:defRPr sz="2475" b="1">
                <a:solidFill>
                  <a:srgbClr val="102030"/>
                </a:solidFill>
                <a:latin typeface="Nimbus Sans"/>
                <a:ea typeface="Nimbus Sans"/>
                <a:cs typeface="Nimbus Sans"/>
              </a:defRPr>
            </a:pPr>
            <a:r>
              <a:rPr sz="2475" b="1">
                <a:solidFill>
                  <a:srgbClr val="102030"/>
                </a:solidFill>
                <a:latin typeface="Nimbus Sans"/>
                <a:ea typeface="Nimbus Sans"/>
                <a:cs typeface="Nimbus Sans"/>
              </a:rPr>
              <a:t>Business &amp;</a:t>
            </a:r>
          </a:p>
          <a:p>
            <a:pPr algn="l">
              <a:defRPr sz="2475" b="1">
                <a:solidFill>
                  <a:srgbClr val="102030"/>
                </a:solidFill>
                <a:latin typeface="Nimbus Sans"/>
                <a:ea typeface="Nimbus Sans"/>
                <a:cs typeface="Nimbus Sans"/>
              </a:defRPr>
            </a:pPr>
            <a:r>
              <a:rPr sz="2475" b="1">
                <a:solidFill>
                  <a:srgbClr val="102030"/>
                </a:solidFill>
                <a:latin typeface="Nimbus Sans"/>
                <a:ea typeface="Nimbus Sans"/>
                <a:cs typeface="Nimbus Sans"/>
              </a:rPr>
              <a:t>Platform Owners</a:t>
            </a:r>
          </a:p>
        </p:txBody>
      </p:sp>
      <p:sp>
        <p:nvSpPr>
          <p:cNvPr id="38" name="text">
            <a:extLst>
              <a:ext uri="{FF2B5EF4-FFF2-40B4-BE49-F238E27FC236}">
                <a16:creationId xmlns:a16="http://schemas.microsoft.com/office/drawing/2014/main" id="{B417C56D-E5B0-45CE-B53D-D8404CC3A7F3}"/>
              </a:ext>
            </a:extLst>
          </p:cNvPr>
          <p:cNvSpPr>
            <a:spLocks noGrp="1"/>
          </p:cNvSpPr>
          <p:nvPr/>
        </p:nvSpPr>
        <p:spPr>
          <a:xfrm>
            <a:off x="8391525" y="2743200"/>
            <a:ext cx="3162300" cy="571500"/>
          </a:xfrm>
          <a:prstGeom prst="rect">
            <a:avLst/>
          </a:prstGeom>
          <a:noFill/>
          <a:ln w="0">
            <a:noFill/>
          </a:ln>
        </p:spPr>
        <p:txBody>
          <a:bodyPr lIns="0" tIns="0" rIns="0" bIns="0" anchor="ctr">
            <a:noAutofit/>
          </a:bodyPr>
          <a:lstStyle/>
          <a:p>
            <a:pPr algn="l">
              <a:defRPr sz="1800" b="0">
                <a:solidFill>
                  <a:srgbClr val="102030"/>
                </a:solidFill>
                <a:latin typeface="Nimbus Sans"/>
                <a:ea typeface="Nimbus Sans"/>
                <a:cs typeface="Nimbus Sans"/>
              </a:defRPr>
            </a:pPr>
            <a:r>
              <a:rPr sz="1800" b="0">
                <a:solidFill>
                  <a:srgbClr val="102030"/>
                </a:solidFill>
                <a:latin typeface="Nimbus Sans"/>
                <a:ea typeface="Nimbus Sans"/>
                <a:cs typeface="Nimbus Sans"/>
              </a:rPr>
              <a:t>Review deployments</a:t>
            </a:r>
          </a:p>
          <a:p>
            <a:pPr algn="l">
              <a:defRPr sz="1800" b="0">
                <a:solidFill>
                  <a:srgbClr val="102030"/>
                </a:solidFill>
                <a:latin typeface="Nimbus Sans"/>
                <a:ea typeface="Nimbus Sans"/>
                <a:cs typeface="Nimbus Sans"/>
              </a:defRPr>
            </a:pPr>
            <a:r>
              <a:rPr sz="1800" b="0">
                <a:solidFill>
                  <a:srgbClr val="102030"/>
                </a:solidFill>
                <a:latin typeface="Nimbus Sans"/>
                <a:ea typeface="Nimbus Sans"/>
                <a:cs typeface="Nimbus Sans"/>
              </a:rPr>
              <a:t>and operations.</a:t>
            </a:r>
          </a:p>
        </p:txBody>
      </p:sp>
      <p:sp>
        <p:nvSpPr>
          <p:cNvPr id="39" name="box">
            <a:extLst>
              <a:ext uri="{FF2B5EF4-FFF2-40B4-BE49-F238E27FC236}">
                <a16:creationId xmlns:a16="http://schemas.microsoft.com/office/drawing/2014/main" id="{133DB66D-7435-4D86-8AC0-4988652343E7}"/>
              </a:ext>
            </a:extLst>
          </p:cNvPr>
          <p:cNvSpPr>
            <a:spLocks noGrp="1"/>
          </p:cNvSpPr>
          <p:nvPr/>
        </p:nvSpPr>
        <p:spPr>
          <a:xfrm>
            <a:off x="8439150" y="3629025"/>
            <a:ext cx="19050" cy="1933575"/>
          </a:xfrm>
          <a:prstGeom prst="rect">
            <a:avLst/>
          </a:prstGeom>
          <a:solidFill>
            <a:srgbClr val="72AAA9"/>
          </a:solidFill>
          <a:ln w="0">
            <a:noFill/>
          </a:ln>
        </p:spPr>
      </p:sp>
      <p:sp>
        <p:nvSpPr>
          <p:cNvPr id="40" name="box">
            <a:extLst>
              <a:ext uri="{FF2B5EF4-FFF2-40B4-BE49-F238E27FC236}">
                <a16:creationId xmlns:a16="http://schemas.microsoft.com/office/drawing/2014/main" id="{492FB33E-B361-4B39-B7D6-038448A37492}"/>
              </a:ext>
            </a:extLst>
          </p:cNvPr>
          <p:cNvSpPr>
            <a:spLocks noGrp="1"/>
          </p:cNvSpPr>
          <p:nvPr/>
        </p:nvSpPr>
        <p:spPr>
          <a:xfrm>
            <a:off x="8439150" y="3705225"/>
            <a:ext cx="247650" cy="19050"/>
          </a:xfrm>
          <a:prstGeom prst="rect">
            <a:avLst/>
          </a:prstGeom>
          <a:solidFill>
            <a:srgbClr val="72AAA9"/>
          </a:solidFill>
          <a:ln w="0">
            <a:noFill/>
          </a:ln>
        </p:spPr>
      </p:sp>
      <p:sp>
        <p:nvSpPr>
          <p:cNvPr id="41" name="box">
            <a:extLst>
              <a:ext uri="{FF2B5EF4-FFF2-40B4-BE49-F238E27FC236}">
                <a16:creationId xmlns:a16="http://schemas.microsoft.com/office/drawing/2014/main" id="{71B59EF3-C26D-411F-B435-2787919BA2C9}"/>
              </a:ext>
            </a:extLst>
          </p:cNvPr>
          <p:cNvSpPr>
            <a:spLocks noGrp="1"/>
          </p:cNvSpPr>
          <p:nvPr/>
        </p:nvSpPr>
        <p:spPr>
          <a:xfrm>
            <a:off x="8677275" y="3457575"/>
            <a:ext cx="2895600" cy="495300"/>
          </a:xfrm>
          <a:prstGeom prst="roundRect">
            <a:avLst>
              <a:gd name="adj" fmla="val 50000"/>
            </a:avLst>
          </a:prstGeom>
          <a:solidFill>
            <a:srgbClr val="EDF0F3"/>
          </a:solidFill>
          <a:ln w="15240">
            <a:solidFill>
              <a:srgbClr val="354858"/>
            </a:solidFill>
          </a:ln>
        </p:spPr>
      </p:sp>
      <p:sp>
        <p:nvSpPr>
          <p:cNvPr id="42" name="text">
            <a:extLst>
              <a:ext uri="{FF2B5EF4-FFF2-40B4-BE49-F238E27FC236}">
                <a16:creationId xmlns:a16="http://schemas.microsoft.com/office/drawing/2014/main" id="{80F3C357-CAD0-4090-AB9F-6F114DFC870C}"/>
              </a:ext>
            </a:extLst>
          </p:cNvPr>
          <p:cNvSpPr>
            <a:spLocks noGrp="1"/>
          </p:cNvSpPr>
          <p:nvPr/>
        </p:nvSpPr>
        <p:spPr>
          <a:xfrm>
            <a:off x="8791575" y="3505200"/>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Establish accountability</a:t>
            </a:r>
          </a:p>
        </p:txBody>
      </p:sp>
      <p:sp>
        <p:nvSpPr>
          <p:cNvPr id="43" name="box">
            <a:extLst>
              <a:ext uri="{FF2B5EF4-FFF2-40B4-BE49-F238E27FC236}">
                <a16:creationId xmlns:a16="http://schemas.microsoft.com/office/drawing/2014/main" id="{E67D5CDC-4052-4C29-8241-7AE2890D3735}"/>
              </a:ext>
            </a:extLst>
          </p:cNvPr>
          <p:cNvSpPr>
            <a:spLocks noGrp="1"/>
          </p:cNvSpPr>
          <p:nvPr/>
        </p:nvSpPr>
        <p:spPr>
          <a:xfrm>
            <a:off x="8439150" y="4286250"/>
            <a:ext cx="247650" cy="19050"/>
          </a:xfrm>
          <a:prstGeom prst="rect">
            <a:avLst/>
          </a:prstGeom>
          <a:solidFill>
            <a:srgbClr val="72AAA9"/>
          </a:solidFill>
          <a:ln w="0">
            <a:noFill/>
          </a:ln>
        </p:spPr>
      </p:sp>
      <p:sp>
        <p:nvSpPr>
          <p:cNvPr id="44" name="box">
            <a:extLst>
              <a:ext uri="{FF2B5EF4-FFF2-40B4-BE49-F238E27FC236}">
                <a16:creationId xmlns:a16="http://schemas.microsoft.com/office/drawing/2014/main" id="{8C9BD8E3-2104-47DC-A60C-F14CC44A00A3}"/>
              </a:ext>
            </a:extLst>
          </p:cNvPr>
          <p:cNvSpPr>
            <a:spLocks noGrp="1"/>
          </p:cNvSpPr>
          <p:nvPr/>
        </p:nvSpPr>
        <p:spPr>
          <a:xfrm>
            <a:off x="8677275" y="4038600"/>
            <a:ext cx="2895600" cy="495300"/>
          </a:xfrm>
          <a:prstGeom prst="roundRect">
            <a:avLst>
              <a:gd name="adj" fmla="val 50000"/>
            </a:avLst>
          </a:prstGeom>
          <a:solidFill>
            <a:srgbClr val="EDF0F3"/>
          </a:solidFill>
          <a:ln w="15240">
            <a:solidFill>
              <a:srgbClr val="354858"/>
            </a:solidFill>
          </a:ln>
        </p:spPr>
      </p:sp>
      <p:sp>
        <p:nvSpPr>
          <p:cNvPr id="45" name="text">
            <a:extLst>
              <a:ext uri="{FF2B5EF4-FFF2-40B4-BE49-F238E27FC236}">
                <a16:creationId xmlns:a16="http://schemas.microsoft.com/office/drawing/2014/main" id="{0CB5E6D4-9FAD-4FD4-B3FC-FB4D1815D39B}"/>
              </a:ext>
            </a:extLst>
          </p:cNvPr>
          <p:cNvSpPr>
            <a:spLocks noGrp="1"/>
          </p:cNvSpPr>
          <p:nvPr/>
        </p:nvSpPr>
        <p:spPr>
          <a:xfrm>
            <a:off x="8791575" y="4086225"/>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Oversee runtime activity</a:t>
            </a:r>
          </a:p>
        </p:txBody>
      </p:sp>
      <p:sp>
        <p:nvSpPr>
          <p:cNvPr id="46" name="box">
            <a:extLst>
              <a:ext uri="{FF2B5EF4-FFF2-40B4-BE49-F238E27FC236}">
                <a16:creationId xmlns:a16="http://schemas.microsoft.com/office/drawing/2014/main" id="{5BE0A340-2EC9-4C62-8BBC-14D57C07968E}"/>
              </a:ext>
            </a:extLst>
          </p:cNvPr>
          <p:cNvSpPr>
            <a:spLocks noGrp="1"/>
          </p:cNvSpPr>
          <p:nvPr/>
        </p:nvSpPr>
        <p:spPr>
          <a:xfrm>
            <a:off x="8439150" y="4867275"/>
            <a:ext cx="247650" cy="19050"/>
          </a:xfrm>
          <a:prstGeom prst="rect">
            <a:avLst/>
          </a:prstGeom>
          <a:solidFill>
            <a:srgbClr val="72AAA9"/>
          </a:solidFill>
          <a:ln w="0">
            <a:noFill/>
          </a:ln>
        </p:spPr>
      </p:sp>
      <p:sp>
        <p:nvSpPr>
          <p:cNvPr id="47" name="box">
            <a:extLst>
              <a:ext uri="{FF2B5EF4-FFF2-40B4-BE49-F238E27FC236}">
                <a16:creationId xmlns:a16="http://schemas.microsoft.com/office/drawing/2014/main" id="{135D1B0D-7E77-448A-B875-DF4D4EADF97C}"/>
              </a:ext>
            </a:extLst>
          </p:cNvPr>
          <p:cNvSpPr>
            <a:spLocks noGrp="1"/>
          </p:cNvSpPr>
          <p:nvPr/>
        </p:nvSpPr>
        <p:spPr>
          <a:xfrm>
            <a:off x="8677275" y="4619625"/>
            <a:ext cx="2895600" cy="495300"/>
          </a:xfrm>
          <a:prstGeom prst="roundRect">
            <a:avLst>
              <a:gd name="adj" fmla="val 50000"/>
            </a:avLst>
          </a:prstGeom>
          <a:solidFill>
            <a:srgbClr val="EDF0F3"/>
          </a:solidFill>
          <a:ln w="15240">
            <a:solidFill>
              <a:srgbClr val="354858"/>
            </a:solidFill>
          </a:ln>
        </p:spPr>
      </p:sp>
      <p:sp>
        <p:nvSpPr>
          <p:cNvPr id="48" name="text">
            <a:extLst>
              <a:ext uri="{FF2B5EF4-FFF2-40B4-BE49-F238E27FC236}">
                <a16:creationId xmlns:a16="http://schemas.microsoft.com/office/drawing/2014/main" id="{AB1245E2-0A38-41A2-AA95-9EB64D883FFF}"/>
              </a:ext>
            </a:extLst>
          </p:cNvPr>
          <p:cNvSpPr>
            <a:spLocks noGrp="1"/>
          </p:cNvSpPr>
          <p:nvPr/>
        </p:nvSpPr>
        <p:spPr>
          <a:xfrm>
            <a:off x="8791575" y="4667250"/>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Guide adoption</a:t>
            </a:r>
          </a:p>
        </p:txBody>
      </p:sp>
      <p:sp>
        <p:nvSpPr>
          <p:cNvPr id="49" name="box">
            <a:extLst>
              <a:ext uri="{FF2B5EF4-FFF2-40B4-BE49-F238E27FC236}">
                <a16:creationId xmlns:a16="http://schemas.microsoft.com/office/drawing/2014/main" id="{099B5900-CC3D-4163-B4AD-5F720ABDDE57}"/>
              </a:ext>
            </a:extLst>
          </p:cNvPr>
          <p:cNvSpPr>
            <a:spLocks noGrp="1"/>
          </p:cNvSpPr>
          <p:nvPr/>
        </p:nvSpPr>
        <p:spPr>
          <a:xfrm>
            <a:off x="8439150" y="5448300"/>
            <a:ext cx="247650" cy="19050"/>
          </a:xfrm>
          <a:prstGeom prst="rect">
            <a:avLst/>
          </a:prstGeom>
          <a:solidFill>
            <a:srgbClr val="72AAA9"/>
          </a:solidFill>
          <a:ln w="0">
            <a:noFill/>
          </a:ln>
        </p:spPr>
      </p:sp>
      <p:sp>
        <p:nvSpPr>
          <p:cNvPr id="50" name="box">
            <a:extLst>
              <a:ext uri="{FF2B5EF4-FFF2-40B4-BE49-F238E27FC236}">
                <a16:creationId xmlns:a16="http://schemas.microsoft.com/office/drawing/2014/main" id="{FA2CA6E7-486C-480C-B9A9-0E80282A36C6}"/>
              </a:ext>
            </a:extLst>
          </p:cNvPr>
          <p:cNvSpPr>
            <a:spLocks noGrp="1"/>
          </p:cNvSpPr>
          <p:nvPr/>
        </p:nvSpPr>
        <p:spPr>
          <a:xfrm>
            <a:off x="8677275" y="5200650"/>
            <a:ext cx="2895600" cy="495300"/>
          </a:xfrm>
          <a:prstGeom prst="roundRect">
            <a:avLst>
              <a:gd name="adj" fmla="val 50000"/>
            </a:avLst>
          </a:prstGeom>
          <a:solidFill>
            <a:srgbClr val="EDF0F3"/>
          </a:solidFill>
          <a:ln w="15240">
            <a:solidFill>
              <a:srgbClr val="354858"/>
            </a:solidFill>
          </a:ln>
        </p:spPr>
      </p:sp>
      <p:sp>
        <p:nvSpPr>
          <p:cNvPr id="51" name="text">
            <a:extLst>
              <a:ext uri="{FF2B5EF4-FFF2-40B4-BE49-F238E27FC236}">
                <a16:creationId xmlns:a16="http://schemas.microsoft.com/office/drawing/2014/main" id="{01EEF5F1-063D-4798-9C4E-91E4B66A5F54}"/>
              </a:ext>
            </a:extLst>
          </p:cNvPr>
          <p:cNvSpPr>
            <a:spLocks noGrp="1"/>
          </p:cNvSpPr>
          <p:nvPr/>
        </p:nvSpPr>
        <p:spPr>
          <a:xfrm>
            <a:off x="8791575" y="5248275"/>
            <a:ext cx="2667000" cy="400050"/>
          </a:xfrm>
          <a:prstGeom prst="rect">
            <a:avLst/>
          </a:prstGeom>
          <a:noFill/>
          <a:ln w="0">
            <a:noFill/>
          </a:ln>
        </p:spPr>
        <p:txBody>
          <a:bodyPr lIns="0" tIns="0" rIns="0" bIns="0" anchor="ctr">
            <a:noAutofit/>
          </a:bodyPr>
          <a:lstStyle/>
          <a:p>
            <a:pPr algn="ctr">
              <a:defRPr sz="1650" b="0">
                <a:solidFill>
                  <a:srgbClr val="102030"/>
                </a:solidFill>
                <a:latin typeface="Nimbus Sans"/>
                <a:ea typeface="Nimbus Sans"/>
                <a:cs typeface="Nimbus Sans"/>
              </a:defRPr>
            </a:pPr>
            <a:r>
              <a:rPr sz="1650" b="0">
                <a:solidFill>
                  <a:srgbClr val="102030"/>
                </a:solidFill>
                <a:latin typeface="Nimbus Sans"/>
                <a:ea typeface="Nimbus Sans"/>
                <a:cs typeface="Nimbus Sans"/>
              </a:rPr>
              <a:t>Review requests</a:t>
            </a:r>
          </a:p>
        </p:txBody>
      </p:sp>
      <p:sp>
        <p:nvSpPr>
          <p:cNvPr id="52" name="text">
            <a:extLst>
              <a:ext uri="{FF2B5EF4-FFF2-40B4-BE49-F238E27FC236}">
                <a16:creationId xmlns:a16="http://schemas.microsoft.com/office/drawing/2014/main" id="{B39CAB47-31C8-422D-983A-64E39DE7ED38}"/>
              </a:ext>
            </a:extLst>
          </p:cNvPr>
          <p:cNvSpPr>
            <a:spLocks noGrp="1"/>
          </p:cNvSpPr>
          <p:nvPr/>
        </p:nvSpPr>
        <p:spPr>
          <a:xfrm>
            <a:off x="400050" y="6257925"/>
            <a:ext cx="11391900" cy="276225"/>
          </a:xfrm>
          <a:prstGeom prst="rect">
            <a:avLst/>
          </a:prstGeom>
          <a:noFill/>
          <a:ln w="0">
            <a:noFill/>
          </a:ln>
        </p:spPr>
        <p:txBody>
          <a:bodyPr lIns="0" tIns="0" rIns="0" bIns="0" anchor="ctr">
            <a:noAutofit/>
          </a:bodyPr>
          <a:lstStyle/>
          <a:p>
            <a:pPr algn="l">
              <a:defRPr sz="1350" b="0">
                <a:solidFill>
                  <a:srgbClr val="7DD6DD"/>
                </a:solidFill>
                <a:latin typeface="Nimbus Sans"/>
                <a:ea typeface="Nimbus Sans"/>
                <a:cs typeface="Nimbus Sans"/>
              </a:defRPr>
            </a:pPr>
            <a:r>
              <a:rPr sz="1350" b="0">
                <a:solidFill>
                  <a:srgbClr val="7DD6DD"/>
                </a:solidFill>
                <a:latin typeface="Nimbus Sans"/>
                <a:ea typeface="Nimbus Sans"/>
                <a:cs typeface="Nimbus Sans"/>
              </a:rPr>
              <a:t>Target operating model. Approval enforcement and production promotion are being strengthened.</a:t>
            </a:r>
          </a:p>
        </p:txBody>
      </p:sp>
    </p:spTree>
    <p:extLst>
      <p:ext uri="{BB962C8B-B14F-4D97-AF65-F5344CB8AC3E}">
        <p14:creationId xmlns:p14="http://schemas.microsoft.com/office/powerpoint/2010/main" val="16283797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22238"/>
        </a:solidFill>
        <a:effectLst/>
      </p:bgPr>
    </p:bg>
    <p:spTree>
      <p:nvGrpSpPr>
        <p:cNvPr id="1" name=""/>
        <p:cNvGrpSpPr/>
        <p:nvPr/>
      </p:nvGrpSpPr>
      <p:grpSpPr>
        <a:xfrm>
          <a:off x="0" y="0"/>
          <a:ext cx="0" cy="0"/>
          <a:chOff x="0" y="0"/>
          <a:chExt cx="0" cy="0"/>
        </a:xfrm>
      </p:grpSpPr>
      <p:sp>
        <p:nvSpPr>
          <p:cNvPr id="32" name="text">
            <a:extLst>
              <a:ext uri="{FF2B5EF4-FFF2-40B4-BE49-F238E27FC236}">
                <a16:creationId xmlns:a16="http://schemas.microsoft.com/office/drawing/2014/main" id="{22888C64-ABAA-4E01-9F52-9CE83BF68336}"/>
              </a:ext>
            </a:extLst>
          </p:cNvPr>
          <p:cNvSpPr>
            <a:spLocks noGrp="1"/>
          </p:cNvSpPr>
          <p:nvPr/>
        </p:nvSpPr>
        <p:spPr>
          <a:xfrm>
            <a:off x="400050" y="333375"/>
            <a:ext cx="11391900" cy="1133475"/>
          </a:xfrm>
          <a:prstGeom prst="rect">
            <a:avLst/>
          </a:prstGeom>
          <a:noFill/>
          <a:ln w="0">
            <a:noFill/>
          </a:ln>
        </p:spPr>
        <p:txBody>
          <a:bodyPr lIns="0" tIns="0" rIns="0" bIns="0" anchor="t">
            <a:noAutofit/>
          </a:bodyPr>
          <a:lstStyle/>
          <a:p>
            <a:pPr algn="l">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Shared resources with explicit access</a:t>
            </a:r>
          </a:p>
          <a:p>
            <a:pPr algn="l">
              <a:defRPr sz="3450" b="1">
                <a:solidFill>
                  <a:srgbClr val="FFFFFF"/>
                </a:solidFill>
                <a:latin typeface="Nimbus Sans"/>
                <a:ea typeface="Nimbus Sans"/>
                <a:cs typeface="Nimbus Sans"/>
              </a:defRPr>
            </a:pPr>
            <a:r>
              <a:rPr sz="3450" b="1">
                <a:solidFill>
                  <a:srgbClr val="FFFFFF"/>
                </a:solidFill>
                <a:latin typeface="Nimbus Sans"/>
                <a:ea typeface="Nimbus Sans"/>
                <a:cs typeface="Nimbus Sans"/>
              </a:rPr>
              <a:t>boundaries</a:t>
            </a:r>
          </a:p>
        </p:txBody>
      </p:sp>
      <p:sp>
        <p:nvSpPr>
          <p:cNvPr id="2" name="organization boundary">
            <a:extLst>
              <a:ext uri="{FF2B5EF4-FFF2-40B4-BE49-F238E27FC236}">
                <a16:creationId xmlns:a16="http://schemas.microsoft.com/office/drawing/2014/main" id="{D0FDFCC5-FCAA-4AEF-AC82-268A0A71B34D}"/>
              </a:ext>
            </a:extLst>
          </p:cNvPr>
          <p:cNvSpPr>
            <a:spLocks noGrp="1"/>
          </p:cNvSpPr>
          <p:nvPr/>
        </p:nvSpPr>
        <p:spPr>
          <a:xfrm>
            <a:off x="400050" y="1771650"/>
            <a:ext cx="6762750" cy="3533775"/>
          </a:xfrm>
          <a:prstGeom prst="roundRect">
            <a:avLst>
              <a:gd name="adj" fmla="val 1887"/>
            </a:avLst>
          </a:prstGeom>
          <a:noFill/>
          <a:ln w="15240">
            <a:solidFill>
              <a:srgbClr val="72AAA9"/>
            </a:solidFill>
            <a:prstDash val="dash"/>
          </a:ln>
        </p:spPr>
      </p:sp>
      <p:sp>
        <p:nvSpPr>
          <p:cNvPr id="3" name="text">
            <a:extLst>
              <a:ext uri="{FF2B5EF4-FFF2-40B4-BE49-F238E27FC236}">
                <a16:creationId xmlns:a16="http://schemas.microsoft.com/office/drawing/2014/main" id="{B21D4605-376E-4561-8181-1E3FBD3CAA72}"/>
              </a:ext>
            </a:extLst>
          </p:cNvPr>
          <p:cNvSpPr>
            <a:spLocks noGrp="1"/>
          </p:cNvSpPr>
          <p:nvPr/>
        </p:nvSpPr>
        <p:spPr>
          <a:xfrm>
            <a:off x="638175" y="1933575"/>
            <a:ext cx="2400300" cy="409575"/>
          </a:xfrm>
          <a:prstGeom prst="rect">
            <a:avLst/>
          </a:prstGeom>
          <a:noFill/>
          <a:ln w="0">
            <a:noFill/>
          </a:ln>
        </p:spPr>
        <p:txBody>
          <a:bodyPr lIns="0" tIns="0" rIns="0" bIns="0" anchor="ctr">
            <a:noAutofit/>
          </a:bodyPr>
          <a:lstStyle/>
          <a:p>
            <a:pPr algn="l">
              <a:defRPr sz="2400" b="1">
                <a:solidFill>
                  <a:srgbClr val="FFFFFF"/>
                </a:solidFill>
                <a:latin typeface="Nimbus Sans"/>
                <a:ea typeface="Nimbus Sans"/>
                <a:cs typeface="Nimbus Sans"/>
              </a:defRPr>
            </a:pPr>
            <a:r>
              <a:rPr sz="2400" b="1">
                <a:solidFill>
                  <a:srgbClr val="FFFFFF"/>
                </a:solidFill>
                <a:latin typeface="Nimbus Sans"/>
                <a:ea typeface="Nimbus Sans"/>
                <a:cs typeface="Nimbus Sans"/>
              </a:rPr>
              <a:t>Organization</a:t>
            </a:r>
          </a:p>
        </p:txBody>
      </p:sp>
      <p:sp>
        <p:nvSpPr>
          <p:cNvPr id="4" name="text">
            <a:extLst>
              <a:ext uri="{FF2B5EF4-FFF2-40B4-BE49-F238E27FC236}">
                <a16:creationId xmlns:a16="http://schemas.microsoft.com/office/drawing/2014/main" id="{5AAB467D-13B6-4CF1-8E9F-2CBAFEA3BE1A}"/>
              </a:ext>
            </a:extLst>
          </p:cNvPr>
          <p:cNvSpPr>
            <a:spLocks noGrp="1"/>
          </p:cNvSpPr>
          <p:nvPr/>
        </p:nvSpPr>
        <p:spPr>
          <a:xfrm>
            <a:off x="3038475" y="1962150"/>
            <a:ext cx="3914775" cy="400050"/>
          </a:xfrm>
          <a:prstGeom prst="rect">
            <a:avLst/>
          </a:prstGeom>
          <a:noFill/>
          <a:ln w="0">
            <a:noFill/>
          </a:ln>
        </p:spPr>
        <p:txBody>
          <a:bodyPr lIns="0" tIns="0" rIns="0" bIns="0" anchor="ctr">
            <a:noAutofit/>
          </a:bodyPr>
          <a:lstStyle/>
          <a:p>
            <a:pPr algn="l">
              <a:defRPr sz="1875" b="0">
                <a:solidFill>
                  <a:srgbClr val="FFFFFF"/>
                </a:solidFill>
                <a:latin typeface="Nimbus Sans"/>
                <a:ea typeface="Nimbus Sans"/>
                <a:cs typeface="Nimbus Sans"/>
              </a:defRPr>
            </a:pPr>
            <a:r>
              <a:rPr sz="1875" b="0">
                <a:solidFill>
                  <a:srgbClr val="FFFFFF"/>
                </a:solidFill>
                <a:latin typeface="Nimbus Sans"/>
                <a:ea typeface="Nimbus Sans"/>
                <a:cs typeface="Nimbus Sans"/>
              </a:rPr>
              <a:t>Ownership and administration</a:t>
            </a:r>
          </a:p>
        </p:txBody>
      </p:sp>
      <p:sp>
        <p:nvSpPr>
          <p:cNvPr id="5" name="box">
            <a:extLst>
              <a:ext uri="{FF2B5EF4-FFF2-40B4-BE49-F238E27FC236}">
                <a16:creationId xmlns:a16="http://schemas.microsoft.com/office/drawing/2014/main" id="{95C4C9BC-E91F-4C26-81AB-881BE76691B2}"/>
              </a:ext>
            </a:extLst>
          </p:cNvPr>
          <p:cNvSpPr>
            <a:spLocks noGrp="1"/>
          </p:cNvSpPr>
          <p:nvPr/>
        </p:nvSpPr>
        <p:spPr>
          <a:xfrm>
            <a:off x="895350" y="2867025"/>
            <a:ext cx="2571750" cy="1590675"/>
          </a:xfrm>
          <a:prstGeom prst="roundRect">
            <a:avLst>
              <a:gd name="adj" fmla="val 4790"/>
            </a:avLst>
          </a:prstGeom>
          <a:solidFill>
            <a:srgbClr val="FFFFFF"/>
          </a:solidFill>
          <a:ln w="15240">
            <a:solidFill>
              <a:srgbClr val="536575"/>
            </a:solidFill>
          </a:ln>
        </p:spPr>
      </p:sp>
      <p:sp>
        <p:nvSpPr>
          <p:cNvPr id="6" name="text">
            <a:extLst>
              <a:ext uri="{FF2B5EF4-FFF2-40B4-BE49-F238E27FC236}">
                <a16:creationId xmlns:a16="http://schemas.microsoft.com/office/drawing/2014/main" id="{55950462-A3A6-41C3-8FC9-923626160E26}"/>
              </a:ext>
            </a:extLst>
          </p:cNvPr>
          <p:cNvSpPr>
            <a:spLocks noGrp="1"/>
          </p:cNvSpPr>
          <p:nvPr/>
        </p:nvSpPr>
        <p:spPr>
          <a:xfrm>
            <a:off x="1114425" y="3181350"/>
            <a:ext cx="2133600" cy="895350"/>
          </a:xfrm>
          <a:prstGeom prst="rect">
            <a:avLst/>
          </a:prstGeom>
          <a:noFill/>
          <a:ln w="0">
            <a:noFill/>
          </a:ln>
        </p:spPr>
        <p:txBody>
          <a:bodyPr lIns="0" tIns="0" rIns="0" bIns="0" anchor="ctr">
            <a:noAutofit/>
          </a:bodyPr>
          <a:lstStyle/>
          <a:p>
            <a:pPr algn="ctr">
              <a:defRPr sz="2325" b="0">
                <a:solidFill>
                  <a:srgbClr val="102030"/>
                </a:solidFill>
                <a:latin typeface="Nimbus Sans"/>
                <a:ea typeface="Nimbus Sans"/>
                <a:cs typeface="Nimbus Sans"/>
              </a:defRPr>
            </a:pPr>
            <a:r>
              <a:rPr sz="2325" b="0">
                <a:solidFill>
                  <a:srgbClr val="102030"/>
                </a:solidFill>
                <a:latin typeface="Nimbus Sans"/>
                <a:ea typeface="Nimbus Sans"/>
                <a:cs typeface="Nimbus Sans"/>
              </a:rPr>
              <a:t>Connected</a:t>
            </a:r>
          </a:p>
          <a:p>
            <a:pPr algn="ctr">
              <a:defRPr sz="2325" b="0">
                <a:solidFill>
                  <a:srgbClr val="102030"/>
                </a:solidFill>
                <a:latin typeface="Nimbus Sans"/>
                <a:ea typeface="Nimbus Sans"/>
                <a:cs typeface="Nimbus Sans"/>
              </a:defRPr>
            </a:pPr>
            <a:r>
              <a:rPr sz="2325" b="0">
                <a:solidFill>
                  <a:srgbClr val="102030"/>
                </a:solidFill>
                <a:latin typeface="Nimbus Sans"/>
                <a:ea typeface="Nimbus Sans"/>
                <a:cs typeface="Nimbus Sans"/>
              </a:rPr>
              <a:t>AWS accounts</a:t>
            </a:r>
          </a:p>
        </p:txBody>
      </p:sp>
      <p:sp>
        <p:nvSpPr>
          <p:cNvPr id="7" name="catalog body">
            <a:extLst>
              <a:ext uri="{FF2B5EF4-FFF2-40B4-BE49-F238E27FC236}">
                <a16:creationId xmlns:a16="http://schemas.microsoft.com/office/drawing/2014/main" id="{6EEC3D3A-EA22-4930-8DEA-B90F3C32DF2A}"/>
              </a:ext>
            </a:extLst>
          </p:cNvPr>
          <p:cNvSpPr>
            <a:spLocks noGrp="1"/>
          </p:cNvSpPr>
          <p:nvPr/>
        </p:nvSpPr>
        <p:spPr>
          <a:xfrm>
            <a:off x="4133850" y="3114675"/>
            <a:ext cx="1800225" cy="1066800"/>
          </a:xfrm>
          <a:prstGeom prst="rect">
            <a:avLst/>
          </a:prstGeom>
          <a:solidFill>
            <a:srgbClr val="FFFFFF"/>
          </a:solidFill>
          <a:ln w="15240">
            <a:solidFill>
              <a:srgbClr val="354858"/>
            </a:solidFill>
          </a:ln>
        </p:spPr>
      </p:sp>
      <p:sp>
        <p:nvSpPr>
          <p:cNvPr id="8" name="catalog bottom">
            <a:extLst>
              <a:ext uri="{FF2B5EF4-FFF2-40B4-BE49-F238E27FC236}">
                <a16:creationId xmlns:a16="http://schemas.microsoft.com/office/drawing/2014/main" id="{45B199FF-BD91-493F-85D7-2182F399A6FD}"/>
              </a:ext>
            </a:extLst>
          </p:cNvPr>
          <p:cNvSpPr>
            <a:spLocks noGrp="1"/>
          </p:cNvSpPr>
          <p:nvPr/>
        </p:nvSpPr>
        <p:spPr>
          <a:xfrm>
            <a:off x="4133850" y="3981450"/>
            <a:ext cx="1800225" cy="352425"/>
          </a:xfrm>
          <a:prstGeom prst="ellipse">
            <a:avLst/>
          </a:prstGeom>
          <a:solidFill>
            <a:srgbClr val="FFFFFF"/>
          </a:solidFill>
          <a:ln w="13335">
            <a:solidFill>
              <a:srgbClr val="354858"/>
            </a:solidFill>
          </a:ln>
        </p:spPr>
      </p:sp>
      <p:sp>
        <p:nvSpPr>
          <p:cNvPr id="9" name="box">
            <a:extLst>
              <a:ext uri="{FF2B5EF4-FFF2-40B4-BE49-F238E27FC236}">
                <a16:creationId xmlns:a16="http://schemas.microsoft.com/office/drawing/2014/main" id="{C94C512C-BD02-4022-8520-8175C0A09905}"/>
              </a:ext>
            </a:extLst>
          </p:cNvPr>
          <p:cNvSpPr>
            <a:spLocks noGrp="1"/>
          </p:cNvSpPr>
          <p:nvPr/>
        </p:nvSpPr>
        <p:spPr>
          <a:xfrm>
            <a:off x="4143375" y="3190875"/>
            <a:ext cx="1781175" cy="942975"/>
          </a:xfrm>
          <a:prstGeom prst="rect">
            <a:avLst/>
          </a:prstGeom>
          <a:solidFill>
            <a:srgbClr val="FFFFFF"/>
          </a:solidFill>
          <a:ln w="0">
            <a:noFill/>
          </a:ln>
        </p:spPr>
      </p:sp>
      <p:sp>
        <p:nvSpPr>
          <p:cNvPr id="10" name="catalog top">
            <a:extLst>
              <a:ext uri="{FF2B5EF4-FFF2-40B4-BE49-F238E27FC236}">
                <a16:creationId xmlns:a16="http://schemas.microsoft.com/office/drawing/2014/main" id="{C82C3E86-E975-4F8C-B04E-4A5CA562E5F7}"/>
              </a:ext>
            </a:extLst>
          </p:cNvPr>
          <p:cNvSpPr>
            <a:spLocks noGrp="1"/>
          </p:cNvSpPr>
          <p:nvPr/>
        </p:nvSpPr>
        <p:spPr>
          <a:xfrm>
            <a:off x="4133850" y="2933700"/>
            <a:ext cx="1800225" cy="352425"/>
          </a:xfrm>
          <a:prstGeom prst="ellipse">
            <a:avLst/>
          </a:prstGeom>
          <a:solidFill>
            <a:srgbClr val="FFFFFF"/>
          </a:solidFill>
          <a:ln w="13335">
            <a:solidFill>
              <a:srgbClr val="354858"/>
            </a:solidFill>
          </a:ln>
        </p:spPr>
      </p:sp>
      <p:sp>
        <p:nvSpPr>
          <p:cNvPr id="11" name="text">
            <a:extLst>
              <a:ext uri="{FF2B5EF4-FFF2-40B4-BE49-F238E27FC236}">
                <a16:creationId xmlns:a16="http://schemas.microsoft.com/office/drawing/2014/main" id="{CD3C7635-F50B-4037-93BE-67C5CA3AB2DD}"/>
              </a:ext>
            </a:extLst>
          </p:cNvPr>
          <p:cNvSpPr>
            <a:spLocks noGrp="1"/>
          </p:cNvSpPr>
          <p:nvPr/>
        </p:nvSpPr>
        <p:spPr>
          <a:xfrm>
            <a:off x="4257675" y="3371850"/>
            <a:ext cx="1552575" cy="704850"/>
          </a:xfrm>
          <a:prstGeom prst="rect">
            <a:avLst/>
          </a:prstGeom>
          <a:noFill/>
          <a:ln w="0">
            <a:noFill/>
          </a:ln>
        </p:spPr>
        <p:txBody>
          <a:bodyPr lIns="0" tIns="0" rIns="0" bIns="0" anchor="ctr">
            <a:noAutofit/>
          </a:bodyPr>
          <a:lstStyle/>
          <a:p>
            <a:pPr algn="ctr">
              <a:defRPr sz="2025" b="0">
                <a:solidFill>
                  <a:srgbClr val="102030"/>
                </a:solidFill>
                <a:latin typeface="Nimbus Sans"/>
                <a:ea typeface="Nimbus Sans"/>
                <a:cs typeface="Nimbus Sans"/>
              </a:defRPr>
            </a:pPr>
            <a:r>
              <a:rPr sz="2025" b="0">
                <a:solidFill>
                  <a:srgbClr val="102030"/>
                </a:solidFill>
                <a:latin typeface="Nimbus Sans"/>
                <a:ea typeface="Nimbus Sans"/>
                <a:cs typeface="Nimbus Sans"/>
              </a:rPr>
              <a:t>Approved</a:t>
            </a:r>
          </a:p>
          <a:p>
            <a:pPr algn="ctr">
              <a:defRPr sz="2025" b="0">
                <a:solidFill>
                  <a:srgbClr val="102030"/>
                </a:solidFill>
                <a:latin typeface="Nimbus Sans"/>
                <a:ea typeface="Nimbus Sans"/>
                <a:cs typeface="Nimbus Sans"/>
              </a:defRPr>
            </a:pPr>
            <a:r>
              <a:rPr sz="2025" b="0">
                <a:solidFill>
                  <a:srgbClr val="102030"/>
                </a:solidFill>
                <a:latin typeface="Nimbus Sans"/>
                <a:ea typeface="Nimbus Sans"/>
                <a:cs typeface="Nimbus Sans"/>
              </a:rPr>
              <a:t>Tool Catalog</a:t>
            </a:r>
          </a:p>
        </p:txBody>
      </p:sp>
      <p:sp>
        <p:nvSpPr>
          <p:cNvPr id="12" name="box">
            <a:extLst>
              <a:ext uri="{FF2B5EF4-FFF2-40B4-BE49-F238E27FC236}">
                <a16:creationId xmlns:a16="http://schemas.microsoft.com/office/drawing/2014/main" id="{BA6A0C83-599E-45D1-98D6-40AE82BDCF15}"/>
              </a:ext>
            </a:extLst>
          </p:cNvPr>
          <p:cNvSpPr>
            <a:spLocks noGrp="1"/>
          </p:cNvSpPr>
          <p:nvPr/>
        </p:nvSpPr>
        <p:spPr>
          <a:xfrm>
            <a:off x="5953125" y="3457575"/>
            <a:ext cx="1257300" cy="28575"/>
          </a:xfrm>
          <a:prstGeom prst="rect">
            <a:avLst/>
          </a:prstGeom>
          <a:solidFill>
            <a:srgbClr val="72AAA9"/>
          </a:solidFill>
          <a:ln w="0">
            <a:noFill/>
          </a:ln>
        </p:spPr>
      </p:sp>
      <p:sp>
        <p:nvSpPr>
          <p:cNvPr id="13" name="box">
            <a:extLst>
              <a:ext uri="{FF2B5EF4-FFF2-40B4-BE49-F238E27FC236}">
                <a16:creationId xmlns:a16="http://schemas.microsoft.com/office/drawing/2014/main" id="{F912FAB0-1AE9-4312-823E-BF0921CCEF2F}"/>
              </a:ext>
            </a:extLst>
          </p:cNvPr>
          <p:cNvSpPr>
            <a:spLocks noGrp="1"/>
          </p:cNvSpPr>
          <p:nvPr/>
        </p:nvSpPr>
        <p:spPr>
          <a:xfrm>
            <a:off x="7181850" y="2647950"/>
            <a:ext cx="28575" cy="809625"/>
          </a:xfrm>
          <a:prstGeom prst="rect">
            <a:avLst/>
          </a:prstGeom>
          <a:solidFill>
            <a:srgbClr val="72AAA9"/>
          </a:solidFill>
          <a:ln w="0">
            <a:noFill/>
          </a:ln>
        </p:spPr>
      </p:sp>
      <p:sp>
        <p:nvSpPr>
          <p:cNvPr id="14" name="box">
            <a:extLst>
              <a:ext uri="{FF2B5EF4-FFF2-40B4-BE49-F238E27FC236}">
                <a16:creationId xmlns:a16="http://schemas.microsoft.com/office/drawing/2014/main" id="{08E3FC05-EDFB-4E6D-884A-9C4B3B0D880B}"/>
              </a:ext>
            </a:extLst>
          </p:cNvPr>
          <p:cNvSpPr>
            <a:spLocks noGrp="1"/>
          </p:cNvSpPr>
          <p:nvPr/>
        </p:nvSpPr>
        <p:spPr>
          <a:xfrm>
            <a:off x="7181850" y="2647950"/>
            <a:ext cx="876300" cy="28575"/>
          </a:xfrm>
          <a:prstGeom prst="rect">
            <a:avLst/>
          </a:prstGeom>
          <a:solidFill>
            <a:srgbClr val="72AAA9"/>
          </a:solidFill>
          <a:ln w="0">
            <a:noFill/>
          </a:ln>
        </p:spPr>
      </p:sp>
      <p:sp>
        <p:nvSpPr>
          <p:cNvPr id="15" name="glow arrow">
            <a:extLst>
              <a:ext uri="{FF2B5EF4-FFF2-40B4-BE49-F238E27FC236}">
                <a16:creationId xmlns:a16="http://schemas.microsoft.com/office/drawing/2014/main" id="{B0854FA1-773B-4183-81AB-58650608EC95}"/>
              </a:ext>
            </a:extLst>
          </p:cNvPr>
          <p:cNvSpPr>
            <a:spLocks noGrp="1"/>
          </p:cNvSpPr>
          <p:nvPr/>
        </p:nvSpPr>
        <p:spPr>
          <a:xfrm>
            <a:off x="7981950" y="2524125"/>
            <a:ext cx="238125" cy="266700"/>
          </a:xfrm>
          <a:prstGeom prst="rightArrow">
            <a:avLst/>
          </a:prstGeom>
          <a:solidFill>
            <a:srgbClr val="34B7C2"/>
          </a:solidFill>
          <a:ln w="19050">
            <a:solidFill>
              <a:srgbClr val="7DD6DD"/>
            </a:solidFill>
          </a:ln>
        </p:spPr>
      </p:sp>
      <p:sp>
        <p:nvSpPr>
          <p:cNvPr id="16" name="box">
            <a:extLst>
              <a:ext uri="{FF2B5EF4-FFF2-40B4-BE49-F238E27FC236}">
                <a16:creationId xmlns:a16="http://schemas.microsoft.com/office/drawing/2014/main" id="{AE074189-8AC4-45BA-91C7-4621529F3415}"/>
              </a:ext>
            </a:extLst>
          </p:cNvPr>
          <p:cNvSpPr>
            <a:spLocks noGrp="1"/>
          </p:cNvSpPr>
          <p:nvPr/>
        </p:nvSpPr>
        <p:spPr>
          <a:xfrm>
            <a:off x="5953125" y="3743325"/>
            <a:ext cx="1257300" cy="28575"/>
          </a:xfrm>
          <a:prstGeom prst="rect">
            <a:avLst/>
          </a:prstGeom>
          <a:solidFill>
            <a:srgbClr val="72AAA9"/>
          </a:solidFill>
          <a:ln w="0">
            <a:noFill/>
          </a:ln>
        </p:spPr>
      </p:sp>
      <p:sp>
        <p:nvSpPr>
          <p:cNvPr id="17" name="box">
            <a:extLst>
              <a:ext uri="{FF2B5EF4-FFF2-40B4-BE49-F238E27FC236}">
                <a16:creationId xmlns:a16="http://schemas.microsoft.com/office/drawing/2014/main" id="{0F78AD94-E98E-46B3-A1EF-6DFE7B29859B}"/>
              </a:ext>
            </a:extLst>
          </p:cNvPr>
          <p:cNvSpPr>
            <a:spLocks noGrp="1"/>
          </p:cNvSpPr>
          <p:nvPr/>
        </p:nvSpPr>
        <p:spPr>
          <a:xfrm>
            <a:off x="7181850" y="3743325"/>
            <a:ext cx="28575" cy="771525"/>
          </a:xfrm>
          <a:prstGeom prst="rect">
            <a:avLst/>
          </a:prstGeom>
          <a:solidFill>
            <a:srgbClr val="72AAA9"/>
          </a:solidFill>
          <a:ln w="0">
            <a:noFill/>
          </a:ln>
        </p:spPr>
      </p:sp>
      <p:sp>
        <p:nvSpPr>
          <p:cNvPr id="18" name="box">
            <a:extLst>
              <a:ext uri="{FF2B5EF4-FFF2-40B4-BE49-F238E27FC236}">
                <a16:creationId xmlns:a16="http://schemas.microsoft.com/office/drawing/2014/main" id="{759A94D9-6649-4345-94C2-E7E86BBC5280}"/>
              </a:ext>
            </a:extLst>
          </p:cNvPr>
          <p:cNvSpPr>
            <a:spLocks noGrp="1"/>
          </p:cNvSpPr>
          <p:nvPr/>
        </p:nvSpPr>
        <p:spPr>
          <a:xfrm>
            <a:off x="7181850" y="4514850"/>
            <a:ext cx="876300" cy="28575"/>
          </a:xfrm>
          <a:prstGeom prst="rect">
            <a:avLst/>
          </a:prstGeom>
          <a:solidFill>
            <a:srgbClr val="72AAA9"/>
          </a:solidFill>
          <a:ln w="0">
            <a:noFill/>
          </a:ln>
        </p:spPr>
      </p:sp>
      <p:sp>
        <p:nvSpPr>
          <p:cNvPr id="19" name="glow arrow">
            <a:extLst>
              <a:ext uri="{FF2B5EF4-FFF2-40B4-BE49-F238E27FC236}">
                <a16:creationId xmlns:a16="http://schemas.microsoft.com/office/drawing/2014/main" id="{1A202F77-703D-4DE7-831C-E4DB4CBA59E7}"/>
              </a:ext>
            </a:extLst>
          </p:cNvPr>
          <p:cNvSpPr>
            <a:spLocks noGrp="1"/>
          </p:cNvSpPr>
          <p:nvPr/>
        </p:nvSpPr>
        <p:spPr>
          <a:xfrm>
            <a:off x="7981950" y="4391025"/>
            <a:ext cx="238125" cy="266700"/>
          </a:xfrm>
          <a:prstGeom prst="rightArrow">
            <a:avLst/>
          </a:prstGeom>
          <a:solidFill>
            <a:srgbClr val="34B7C2"/>
          </a:solidFill>
          <a:ln w="19050">
            <a:solidFill>
              <a:srgbClr val="7DD6DD"/>
            </a:solidFill>
          </a:ln>
        </p:spPr>
      </p:sp>
      <p:sp>
        <p:nvSpPr>
          <p:cNvPr id="20" name="box">
            <a:extLst>
              <a:ext uri="{FF2B5EF4-FFF2-40B4-BE49-F238E27FC236}">
                <a16:creationId xmlns:a16="http://schemas.microsoft.com/office/drawing/2014/main" id="{5360363A-51A9-4CF5-8710-DC389C427526}"/>
              </a:ext>
            </a:extLst>
          </p:cNvPr>
          <p:cNvSpPr>
            <a:spLocks noGrp="1"/>
          </p:cNvSpPr>
          <p:nvPr/>
        </p:nvSpPr>
        <p:spPr>
          <a:xfrm>
            <a:off x="8267700" y="1771650"/>
            <a:ext cx="3524250" cy="1619250"/>
          </a:xfrm>
          <a:prstGeom prst="roundRect">
            <a:avLst>
              <a:gd name="adj" fmla="val 4706"/>
            </a:avLst>
          </a:prstGeom>
          <a:solidFill>
            <a:srgbClr val="EDF0F3"/>
          </a:solidFill>
          <a:ln w="15240">
            <a:solidFill>
              <a:srgbClr val="536575"/>
            </a:solidFill>
          </a:ln>
        </p:spPr>
      </p:sp>
      <p:sp>
        <p:nvSpPr>
          <p:cNvPr id="21" name="text">
            <a:extLst>
              <a:ext uri="{FF2B5EF4-FFF2-40B4-BE49-F238E27FC236}">
                <a16:creationId xmlns:a16="http://schemas.microsoft.com/office/drawing/2014/main" id="{D7C1EE99-ED76-4C78-97A5-E153820AE6FF}"/>
              </a:ext>
            </a:extLst>
          </p:cNvPr>
          <p:cNvSpPr>
            <a:spLocks noGrp="1"/>
          </p:cNvSpPr>
          <p:nvPr/>
        </p:nvSpPr>
        <p:spPr>
          <a:xfrm>
            <a:off x="8477250" y="2190750"/>
            <a:ext cx="3105150" cy="409575"/>
          </a:xfrm>
          <a:prstGeom prst="rect">
            <a:avLst/>
          </a:prstGeom>
          <a:noFill/>
          <a:ln w="0">
            <a:noFill/>
          </a:ln>
        </p:spPr>
        <p:txBody>
          <a:bodyPr lIns="0" tIns="0" rIns="0" bIns="0" anchor="ctr">
            <a:noAutofit/>
          </a:bodyPr>
          <a:lstStyle/>
          <a:p>
            <a:pPr algn="ctr">
              <a:defRPr sz="2175" b="1">
                <a:solidFill>
                  <a:srgbClr val="102030"/>
                </a:solidFill>
                <a:latin typeface="Nimbus Sans"/>
                <a:ea typeface="Nimbus Sans"/>
                <a:cs typeface="Nimbus Sans"/>
              </a:defRPr>
            </a:pPr>
            <a:r>
              <a:rPr sz="2175" b="1">
                <a:solidFill>
                  <a:srgbClr val="102030"/>
                </a:solidFill>
                <a:latin typeface="Nimbus Sans"/>
                <a:ea typeface="Nimbus Sans"/>
                <a:cs typeface="Nimbus Sans"/>
              </a:rPr>
              <a:t>Project Workspaces</a:t>
            </a:r>
          </a:p>
        </p:txBody>
      </p:sp>
      <p:sp>
        <p:nvSpPr>
          <p:cNvPr id="22" name="text">
            <a:extLst>
              <a:ext uri="{FF2B5EF4-FFF2-40B4-BE49-F238E27FC236}">
                <a16:creationId xmlns:a16="http://schemas.microsoft.com/office/drawing/2014/main" id="{8580DD0F-8817-4D04-BDB0-EB1B2ABA6029}"/>
              </a:ext>
            </a:extLst>
          </p:cNvPr>
          <p:cNvSpPr>
            <a:spLocks noGrp="1"/>
          </p:cNvSpPr>
          <p:nvPr/>
        </p:nvSpPr>
        <p:spPr>
          <a:xfrm>
            <a:off x="8477250" y="2638425"/>
            <a:ext cx="3105150" cy="371475"/>
          </a:xfrm>
          <a:prstGeom prst="rect">
            <a:avLst/>
          </a:prstGeom>
          <a:noFill/>
          <a:ln w="0">
            <a:noFill/>
          </a:ln>
        </p:spPr>
        <p:txBody>
          <a:bodyPr lIns="0" tIns="0" rIns="0" bIns="0" anchor="ctr">
            <a:noAutofit/>
          </a:bodyPr>
          <a:lstStyle/>
          <a:p>
            <a:pPr algn="ctr">
              <a:defRPr sz="1875" b="0">
                <a:solidFill>
                  <a:srgbClr val="102030"/>
                </a:solidFill>
                <a:latin typeface="Nimbus Sans"/>
                <a:ea typeface="Nimbus Sans"/>
                <a:cs typeface="Nimbus Sans"/>
              </a:defRPr>
            </a:pPr>
            <a:r>
              <a:rPr sz="1875" b="0">
                <a:solidFill>
                  <a:srgbClr val="102030"/>
                </a:solidFill>
                <a:latin typeface="Nimbus Sans"/>
                <a:ea typeface="Nimbus Sans"/>
                <a:cs typeface="Nimbus Sans"/>
              </a:rPr>
              <a:t>Agents and deployments</a:t>
            </a:r>
          </a:p>
        </p:txBody>
      </p:sp>
      <p:sp>
        <p:nvSpPr>
          <p:cNvPr id="23" name="box">
            <a:extLst>
              <a:ext uri="{FF2B5EF4-FFF2-40B4-BE49-F238E27FC236}">
                <a16:creationId xmlns:a16="http://schemas.microsoft.com/office/drawing/2014/main" id="{6CED2323-EC67-44B9-A364-591730B5E0DB}"/>
              </a:ext>
            </a:extLst>
          </p:cNvPr>
          <p:cNvSpPr>
            <a:spLocks noGrp="1"/>
          </p:cNvSpPr>
          <p:nvPr/>
        </p:nvSpPr>
        <p:spPr>
          <a:xfrm>
            <a:off x="8267700" y="3705225"/>
            <a:ext cx="3524250" cy="1619250"/>
          </a:xfrm>
          <a:prstGeom prst="roundRect">
            <a:avLst>
              <a:gd name="adj" fmla="val 4706"/>
            </a:avLst>
          </a:prstGeom>
          <a:solidFill>
            <a:srgbClr val="EDF0F3"/>
          </a:solidFill>
          <a:ln w="15240">
            <a:solidFill>
              <a:srgbClr val="536575"/>
            </a:solidFill>
          </a:ln>
        </p:spPr>
      </p:sp>
      <p:sp>
        <p:nvSpPr>
          <p:cNvPr id="24" name="text">
            <a:extLst>
              <a:ext uri="{FF2B5EF4-FFF2-40B4-BE49-F238E27FC236}">
                <a16:creationId xmlns:a16="http://schemas.microsoft.com/office/drawing/2014/main" id="{3E1A2DBD-15CF-45C7-BBA8-8EC966E88A47}"/>
              </a:ext>
            </a:extLst>
          </p:cNvPr>
          <p:cNvSpPr>
            <a:spLocks noGrp="1"/>
          </p:cNvSpPr>
          <p:nvPr/>
        </p:nvSpPr>
        <p:spPr>
          <a:xfrm>
            <a:off x="8477250" y="4124325"/>
            <a:ext cx="3105150" cy="409575"/>
          </a:xfrm>
          <a:prstGeom prst="rect">
            <a:avLst/>
          </a:prstGeom>
          <a:noFill/>
          <a:ln w="0">
            <a:noFill/>
          </a:ln>
        </p:spPr>
        <p:txBody>
          <a:bodyPr lIns="0" tIns="0" rIns="0" bIns="0" anchor="ctr">
            <a:noAutofit/>
          </a:bodyPr>
          <a:lstStyle/>
          <a:p>
            <a:pPr algn="ctr">
              <a:defRPr sz="2175" b="1">
                <a:solidFill>
                  <a:srgbClr val="102030"/>
                </a:solidFill>
                <a:latin typeface="Nimbus Sans"/>
                <a:ea typeface="Nimbus Sans"/>
                <a:cs typeface="Nimbus Sans"/>
              </a:defRPr>
            </a:pPr>
            <a:r>
              <a:rPr sz="2175" b="1">
                <a:solidFill>
                  <a:srgbClr val="102030"/>
                </a:solidFill>
                <a:latin typeface="Nimbus Sans"/>
                <a:ea typeface="Nimbus Sans"/>
                <a:cs typeface="Nimbus Sans"/>
              </a:rPr>
              <a:t>Project Workspaces</a:t>
            </a:r>
          </a:p>
        </p:txBody>
      </p:sp>
      <p:sp>
        <p:nvSpPr>
          <p:cNvPr id="25" name="text">
            <a:extLst>
              <a:ext uri="{FF2B5EF4-FFF2-40B4-BE49-F238E27FC236}">
                <a16:creationId xmlns:a16="http://schemas.microsoft.com/office/drawing/2014/main" id="{20564D55-3C7F-46F4-9334-2BB0EB97CA09}"/>
              </a:ext>
            </a:extLst>
          </p:cNvPr>
          <p:cNvSpPr>
            <a:spLocks noGrp="1"/>
          </p:cNvSpPr>
          <p:nvPr/>
        </p:nvSpPr>
        <p:spPr>
          <a:xfrm>
            <a:off x="8477250" y="4572000"/>
            <a:ext cx="3105150" cy="371475"/>
          </a:xfrm>
          <a:prstGeom prst="rect">
            <a:avLst/>
          </a:prstGeom>
          <a:noFill/>
          <a:ln w="0">
            <a:noFill/>
          </a:ln>
        </p:spPr>
        <p:txBody>
          <a:bodyPr lIns="0" tIns="0" rIns="0" bIns="0" anchor="ctr">
            <a:noAutofit/>
          </a:bodyPr>
          <a:lstStyle/>
          <a:p>
            <a:pPr algn="ctr">
              <a:defRPr sz="1875" b="0">
                <a:solidFill>
                  <a:srgbClr val="102030"/>
                </a:solidFill>
                <a:latin typeface="Nimbus Sans"/>
                <a:ea typeface="Nimbus Sans"/>
                <a:cs typeface="Nimbus Sans"/>
              </a:defRPr>
            </a:pPr>
            <a:r>
              <a:rPr sz="1875" b="0">
                <a:solidFill>
                  <a:srgbClr val="102030"/>
                </a:solidFill>
                <a:latin typeface="Nimbus Sans"/>
                <a:ea typeface="Nimbus Sans"/>
                <a:cs typeface="Nimbus Sans"/>
              </a:rPr>
              <a:t>Agents and deployments</a:t>
            </a:r>
          </a:p>
        </p:txBody>
      </p:sp>
      <p:sp>
        <p:nvSpPr>
          <p:cNvPr id="26" name="text">
            <a:extLst>
              <a:ext uri="{FF2B5EF4-FFF2-40B4-BE49-F238E27FC236}">
                <a16:creationId xmlns:a16="http://schemas.microsoft.com/office/drawing/2014/main" id="{C16474DA-F82C-4D7A-AE94-76A4AABF64F2}"/>
              </a:ext>
            </a:extLst>
          </p:cNvPr>
          <p:cNvSpPr>
            <a:spLocks noGrp="1"/>
          </p:cNvSpPr>
          <p:nvPr/>
        </p:nvSpPr>
        <p:spPr>
          <a:xfrm>
            <a:off x="7258050" y="2114550"/>
            <a:ext cx="952500" cy="485775"/>
          </a:xfrm>
          <a:prstGeom prst="rect">
            <a:avLst/>
          </a:prstGeom>
          <a:noFill/>
          <a:ln w="0">
            <a:noFill/>
          </a:ln>
        </p:spPr>
        <p:txBody>
          <a:bodyPr lIns="0" tIns="0" rIns="0" bIns="0" anchor="ctr">
            <a:noAutofit/>
          </a:bodyPr>
          <a:lstStyle/>
          <a:p>
            <a:pPr algn="ctr">
              <a:defRPr sz="1500" b="0">
                <a:solidFill>
                  <a:srgbClr val="FFFFFF"/>
                </a:solidFill>
                <a:latin typeface="Nimbus Sans"/>
                <a:ea typeface="Nimbus Sans"/>
                <a:cs typeface="Nimbus Sans"/>
              </a:defRPr>
            </a:pPr>
            <a:r>
              <a:rPr sz="1500" b="0">
                <a:solidFill>
                  <a:srgbClr val="FFFFFF"/>
                </a:solidFill>
                <a:latin typeface="Nimbus Sans"/>
                <a:ea typeface="Nimbus Sans"/>
                <a:cs typeface="Nimbus Sans"/>
              </a:rPr>
              <a:t>Selected</a:t>
            </a:r>
          </a:p>
          <a:p>
            <a:pPr algn="ctr">
              <a:defRPr sz="1500" b="0">
                <a:solidFill>
                  <a:srgbClr val="FFFFFF"/>
                </a:solidFill>
                <a:latin typeface="Nimbus Sans"/>
                <a:ea typeface="Nimbus Sans"/>
                <a:cs typeface="Nimbus Sans"/>
              </a:defRPr>
            </a:pPr>
            <a:r>
              <a:rPr sz="1500" b="0">
                <a:solidFill>
                  <a:srgbClr val="FFFFFF"/>
                </a:solidFill>
                <a:latin typeface="Nimbus Sans"/>
                <a:ea typeface="Nimbus Sans"/>
                <a:cs typeface="Nimbus Sans"/>
              </a:rPr>
              <a:t>tools</a:t>
            </a:r>
          </a:p>
        </p:txBody>
      </p:sp>
      <p:sp>
        <p:nvSpPr>
          <p:cNvPr id="27" name="text">
            <a:extLst>
              <a:ext uri="{FF2B5EF4-FFF2-40B4-BE49-F238E27FC236}">
                <a16:creationId xmlns:a16="http://schemas.microsoft.com/office/drawing/2014/main" id="{2EED60B0-FADF-477E-98AA-B9BAA7AC7970}"/>
              </a:ext>
            </a:extLst>
          </p:cNvPr>
          <p:cNvSpPr>
            <a:spLocks noGrp="1"/>
          </p:cNvSpPr>
          <p:nvPr/>
        </p:nvSpPr>
        <p:spPr>
          <a:xfrm>
            <a:off x="7258050" y="4667250"/>
            <a:ext cx="952500" cy="485775"/>
          </a:xfrm>
          <a:prstGeom prst="rect">
            <a:avLst/>
          </a:prstGeom>
          <a:noFill/>
          <a:ln w="0">
            <a:noFill/>
          </a:ln>
        </p:spPr>
        <p:txBody>
          <a:bodyPr lIns="0" tIns="0" rIns="0" bIns="0" anchor="ctr">
            <a:noAutofit/>
          </a:bodyPr>
          <a:lstStyle/>
          <a:p>
            <a:pPr algn="ctr">
              <a:defRPr sz="1500" b="0">
                <a:solidFill>
                  <a:srgbClr val="FFFFFF"/>
                </a:solidFill>
                <a:latin typeface="Nimbus Sans"/>
                <a:ea typeface="Nimbus Sans"/>
                <a:cs typeface="Nimbus Sans"/>
              </a:defRPr>
            </a:pPr>
            <a:r>
              <a:rPr sz="1500" b="0">
                <a:solidFill>
                  <a:srgbClr val="FFFFFF"/>
                </a:solidFill>
                <a:latin typeface="Nimbus Sans"/>
                <a:ea typeface="Nimbus Sans"/>
                <a:cs typeface="Nimbus Sans"/>
              </a:rPr>
              <a:t>Selected</a:t>
            </a:r>
          </a:p>
          <a:p>
            <a:pPr algn="ctr">
              <a:defRPr sz="1500" b="0">
                <a:solidFill>
                  <a:srgbClr val="FFFFFF"/>
                </a:solidFill>
                <a:latin typeface="Nimbus Sans"/>
                <a:ea typeface="Nimbus Sans"/>
                <a:cs typeface="Nimbus Sans"/>
              </a:defRPr>
            </a:pPr>
            <a:r>
              <a:rPr sz="1500" b="0">
                <a:solidFill>
                  <a:srgbClr val="FFFFFF"/>
                </a:solidFill>
                <a:latin typeface="Nimbus Sans"/>
                <a:ea typeface="Nimbus Sans"/>
                <a:cs typeface="Nimbus Sans"/>
              </a:rPr>
              <a:t>tools</a:t>
            </a:r>
          </a:p>
        </p:txBody>
      </p:sp>
      <p:sp>
        <p:nvSpPr>
          <p:cNvPr id="28" name="text">
            <a:extLst>
              <a:ext uri="{FF2B5EF4-FFF2-40B4-BE49-F238E27FC236}">
                <a16:creationId xmlns:a16="http://schemas.microsoft.com/office/drawing/2014/main" id="{F55050BC-42EC-4368-93B4-172C8F56DF58}"/>
              </a:ext>
            </a:extLst>
          </p:cNvPr>
          <p:cNvSpPr>
            <a:spLocks noGrp="1"/>
          </p:cNvSpPr>
          <p:nvPr/>
        </p:nvSpPr>
        <p:spPr>
          <a:xfrm>
            <a:off x="400050" y="5657850"/>
            <a:ext cx="3905250" cy="628650"/>
          </a:xfrm>
          <a:prstGeom prst="rect">
            <a:avLst/>
          </a:prstGeom>
          <a:noFill/>
          <a:ln w="0">
            <a:noFill/>
          </a:ln>
        </p:spPr>
        <p:txBody>
          <a:bodyPr lIns="0" tIns="0" rIns="0" bIns="0" anchor="t">
            <a:noAutofit/>
          </a:bodyPr>
          <a:lstStyle/>
          <a:p>
            <a:pPr algn="l">
              <a:defRPr sz="1650" b="0">
                <a:solidFill>
                  <a:srgbClr val="FFFFFF"/>
                </a:solidFill>
                <a:latin typeface="Nimbus Sans"/>
                <a:ea typeface="Nimbus Sans"/>
                <a:cs typeface="Nimbus Sans"/>
              </a:defRPr>
            </a:pPr>
            <a:r>
              <a:rPr sz="1650" b="0">
                <a:solidFill>
                  <a:srgbClr val="FFFFFF"/>
                </a:solidFill>
                <a:latin typeface="Nimbus Sans"/>
                <a:ea typeface="Nimbus Sans"/>
                <a:cs typeface="Nimbus Sans"/>
              </a:rPr>
              <a:t>1. Organizations connect AWS accounts</a:t>
            </a:r>
          </a:p>
          <a:p>
            <a:pPr algn="l">
              <a:defRPr sz="1650" b="0">
                <a:solidFill>
                  <a:srgbClr val="FFFFFF"/>
                </a:solidFill>
                <a:latin typeface="Nimbus Sans"/>
                <a:ea typeface="Nimbus Sans"/>
                <a:cs typeface="Nimbus Sans"/>
              </a:defRPr>
            </a:pPr>
            <a:r>
              <a:rPr sz="1650" b="0">
                <a:solidFill>
                  <a:srgbClr val="FFFFFF"/>
                </a:solidFill>
                <a:latin typeface="Nimbus Sans"/>
                <a:ea typeface="Nimbus Sans"/>
                <a:cs typeface="Nimbus Sans"/>
              </a:rPr>
              <a:t>and curate a shared tool catalog.</a:t>
            </a:r>
          </a:p>
        </p:txBody>
      </p:sp>
      <p:sp>
        <p:nvSpPr>
          <p:cNvPr id="29" name="text">
            <a:extLst>
              <a:ext uri="{FF2B5EF4-FFF2-40B4-BE49-F238E27FC236}">
                <a16:creationId xmlns:a16="http://schemas.microsoft.com/office/drawing/2014/main" id="{CEAE6341-D9FB-4469-A460-F52A921644B2}"/>
              </a:ext>
            </a:extLst>
          </p:cNvPr>
          <p:cNvSpPr>
            <a:spLocks noGrp="1"/>
          </p:cNvSpPr>
          <p:nvPr/>
        </p:nvSpPr>
        <p:spPr>
          <a:xfrm>
            <a:off x="4629150" y="5657850"/>
            <a:ext cx="3095625" cy="628650"/>
          </a:xfrm>
          <a:prstGeom prst="rect">
            <a:avLst/>
          </a:prstGeom>
          <a:noFill/>
          <a:ln w="0">
            <a:noFill/>
          </a:ln>
        </p:spPr>
        <p:txBody>
          <a:bodyPr lIns="0" tIns="0" rIns="0" bIns="0" anchor="t">
            <a:noAutofit/>
          </a:bodyPr>
          <a:lstStyle/>
          <a:p>
            <a:pPr algn="l">
              <a:defRPr sz="1650" b="0">
                <a:solidFill>
                  <a:srgbClr val="FFFFFF"/>
                </a:solidFill>
                <a:latin typeface="Nimbus Sans"/>
                <a:ea typeface="Nimbus Sans"/>
                <a:cs typeface="Nimbus Sans"/>
              </a:defRPr>
            </a:pPr>
            <a:r>
              <a:rPr sz="1650" b="0">
                <a:solidFill>
                  <a:srgbClr val="FFFFFF"/>
                </a:solidFill>
                <a:latin typeface="Nimbus Sans"/>
                <a:ea typeface="Nimbus Sans"/>
                <a:cs typeface="Nimbus Sans"/>
              </a:rPr>
              <a:t>2. Projects receive explicitly</a:t>
            </a:r>
          </a:p>
          <a:p>
            <a:pPr algn="l">
              <a:defRPr sz="1650" b="0">
                <a:solidFill>
                  <a:srgbClr val="FFFFFF"/>
                </a:solidFill>
                <a:latin typeface="Nimbus Sans"/>
                <a:ea typeface="Nimbus Sans"/>
                <a:cs typeface="Nimbus Sans"/>
              </a:defRPr>
            </a:pPr>
            <a:r>
              <a:rPr sz="1650" b="0">
                <a:solidFill>
                  <a:srgbClr val="FFFFFF"/>
                </a:solidFill>
                <a:latin typeface="Nimbus Sans"/>
                <a:ea typeface="Nimbus Sans"/>
                <a:cs typeface="Nimbus Sans"/>
              </a:rPr>
              <a:t>selected tools.</a:t>
            </a:r>
          </a:p>
        </p:txBody>
      </p:sp>
      <p:sp>
        <p:nvSpPr>
          <p:cNvPr id="30" name="text">
            <a:extLst>
              <a:ext uri="{FF2B5EF4-FFF2-40B4-BE49-F238E27FC236}">
                <a16:creationId xmlns:a16="http://schemas.microsoft.com/office/drawing/2014/main" id="{F82DEDCE-7D06-431D-A070-48920A672944}"/>
              </a:ext>
            </a:extLst>
          </p:cNvPr>
          <p:cNvSpPr>
            <a:spLocks noGrp="1"/>
          </p:cNvSpPr>
          <p:nvPr/>
        </p:nvSpPr>
        <p:spPr>
          <a:xfrm>
            <a:off x="8134350" y="5657850"/>
            <a:ext cx="3657600" cy="628650"/>
          </a:xfrm>
          <a:prstGeom prst="rect">
            <a:avLst/>
          </a:prstGeom>
          <a:noFill/>
          <a:ln w="0">
            <a:noFill/>
          </a:ln>
        </p:spPr>
        <p:txBody>
          <a:bodyPr lIns="0" tIns="0" rIns="0" bIns="0" anchor="t">
            <a:noAutofit/>
          </a:bodyPr>
          <a:lstStyle/>
          <a:p>
            <a:pPr algn="l">
              <a:defRPr sz="1650" b="0">
                <a:solidFill>
                  <a:srgbClr val="FFFFFF"/>
                </a:solidFill>
                <a:latin typeface="Nimbus Sans"/>
                <a:ea typeface="Nimbus Sans"/>
                <a:cs typeface="Nimbus Sans"/>
              </a:defRPr>
            </a:pPr>
            <a:r>
              <a:rPr sz="1650" b="0">
                <a:solidFill>
                  <a:srgbClr val="FFFFFF"/>
                </a:solidFill>
                <a:latin typeface="Nimbus Sans"/>
                <a:ea typeface="Nimbus Sans"/>
                <a:cs typeface="Nimbus Sans"/>
              </a:rPr>
              <a:t>3. Workspaces organize each project’s</a:t>
            </a:r>
          </a:p>
          <a:p>
            <a:pPr algn="l">
              <a:defRPr sz="1650" b="0">
                <a:solidFill>
                  <a:srgbClr val="FFFFFF"/>
                </a:solidFill>
                <a:latin typeface="Nimbus Sans"/>
                <a:ea typeface="Nimbus Sans"/>
                <a:cs typeface="Nimbus Sans"/>
              </a:defRPr>
            </a:pPr>
            <a:r>
              <a:rPr sz="1650" b="0">
                <a:solidFill>
                  <a:srgbClr val="FFFFFF"/>
                </a:solidFill>
                <a:latin typeface="Nimbus Sans"/>
                <a:ea typeface="Nimbus Sans"/>
                <a:cs typeface="Nimbus Sans"/>
              </a:rPr>
              <a:t>agents and deployments.</a:t>
            </a:r>
          </a:p>
        </p:txBody>
      </p:sp>
      <p:sp>
        <p:nvSpPr>
          <p:cNvPr id="31" name="text">
            <a:extLst>
              <a:ext uri="{FF2B5EF4-FFF2-40B4-BE49-F238E27FC236}">
                <a16:creationId xmlns:a16="http://schemas.microsoft.com/office/drawing/2014/main" id="{8470C6C4-02C6-43B4-9C69-C520ED795E91}"/>
              </a:ext>
            </a:extLst>
          </p:cNvPr>
          <p:cNvSpPr>
            <a:spLocks noGrp="1"/>
          </p:cNvSpPr>
          <p:nvPr/>
        </p:nvSpPr>
        <p:spPr>
          <a:xfrm>
            <a:off x="400050" y="6438900"/>
            <a:ext cx="11391900" cy="247650"/>
          </a:xfrm>
          <a:prstGeom prst="rect">
            <a:avLst/>
          </a:prstGeom>
          <a:noFill/>
          <a:ln w="0">
            <a:noFill/>
          </a:ln>
        </p:spPr>
        <p:txBody>
          <a:bodyPr lIns="0" tIns="0" rIns="0" bIns="0" anchor="ctr">
            <a:noAutofit/>
          </a:bodyPr>
          <a:lstStyle/>
          <a:p>
            <a:pPr algn="l">
              <a:defRPr sz="1275" b="0">
                <a:solidFill>
                  <a:srgbClr val="7DD6DD"/>
                </a:solidFill>
                <a:latin typeface="Nimbus Sans"/>
                <a:ea typeface="Nimbus Sans"/>
                <a:cs typeface="Nimbus Sans"/>
              </a:defRPr>
            </a:pPr>
            <a:r>
              <a:rPr sz="1275" b="0">
                <a:solidFill>
                  <a:srgbClr val="7DD6DD"/>
                </a:solidFill>
                <a:latin typeface="Nimbus Sans"/>
                <a:ea typeface="Nimbus Sans"/>
                <a:cs typeface="Nimbus Sans"/>
              </a:rPr>
              <a:t>Access model shown. Consistent runtime enforcement remains a hardening milestone.</a:t>
            </a:r>
          </a:p>
        </p:txBody>
      </p:sp>
    </p:spTree>
    <p:extLst>
      <p:ext uri="{BB962C8B-B14F-4D97-AF65-F5344CB8AC3E}">
        <p14:creationId xmlns:p14="http://schemas.microsoft.com/office/powerpoint/2010/main" val="1576558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2430"/>
        </a:solidFill>
        <a:effectLst/>
      </p:bgPr>
    </p:bg>
    <p:spTree>
      <p:nvGrpSpPr>
        <p:cNvPr id="1" name=""/>
        <p:cNvGrpSpPr/>
        <p:nvPr/>
      </p:nvGrpSpPr>
      <p:grpSpPr>
        <a:xfrm>
          <a:off x="0" y="0"/>
          <a:ext cx="0" cy="0"/>
          <a:chOff x="0" y="0"/>
          <a:chExt cx="0" cy="0"/>
        </a:xfrm>
      </p:grpSpPr>
      <p:sp>
        <p:nvSpPr>
          <p:cNvPr id="28" name="text">
            <a:extLst>
              <a:ext uri="{FF2B5EF4-FFF2-40B4-BE49-F238E27FC236}">
                <a16:creationId xmlns:a16="http://schemas.microsoft.com/office/drawing/2014/main" id="{2A2AB914-B23E-46FC-9B37-042D13DBF2C6}"/>
              </a:ext>
            </a:extLst>
          </p:cNvPr>
          <p:cNvSpPr>
            <a:spLocks noGrp="1"/>
          </p:cNvSpPr>
          <p:nvPr/>
        </p:nvSpPr>
        <p:spPr>
          <a:xfrm>
            <a:off x="609600" y="457200"/>
            <a:ext cx="10972800" cy="762000"/>
          </a:xfrm>
          <a:prstGeom prst="rect">
            <a:avLst/>
          </a:prstGeom>
          <a:noFill/>
          <a:ln w="0">
            <a:noFill/>
          </a:ln>
        </p:spPr>
        <p:txBody>
          <a:bodyPr lIns="0" tIns="0" rIns="0" bIns="0" anchor="t">
            <a:noAutofit/>
          </a:bodyPr>
          <a:lstStyle/>
          <a:p>
            <a:pPr algn="l">
              <a:defRPr sz="3225" b="1">
                <a:solidFill>
                  <a:srgbClr val="FFFFFF"/>
                </a:solidFill>
                <a:latin typeface="Nimbus Sans"/>
                <a:ea typeface="Nimbus Sans"/>
                <a:cs typeface="Nimbus Sans"/>
              </a:defRPr>
            </a:pPr>
            <a:r>
              <a:rPr sz="3225" b="1">
                <a:solidFill>
                  <a:srgbClr val="FFFFFF"/>
                </a:solidFill>
                <a:latin typeface="Nimbus Sans"/>
                <a:ea typeface="Nimbus Sans"/>
                <a:cs typeface="Nimbus Sans"/>
              </a:rPr>
              <a:t>Enterprise resources become reusable agent tools</a:t>
            </a:r>
          </a:p>
        </p:txBody>
      </p:sp>
      <p:sp>
        <p:nvSpPr>
          <p:cNvPr id="2" name="text">
            <a:extLst>
              <a:ext uri="{FF2B5EF4-FFF2-40B4-BE49-F238E27FC236}">
                <a16:creationId xmlns:a16="http://schemas.microsoft.com/office/drawing/2014/main" id="{E19F7FB9-27F4-425F-A620-E2439ABA9BBC}"/>
              </a:ext>
            </a:extLst>
          </p:cNvPr>
          <p:cNvSpPr>
            <a:spLocks noGrp="1"/>
          </p:cNvSpPr>
          <p:nvPr/>
        </p:nvSpPr>
        <p:spPr>
          <a:xfrm>
            <a:off x="609600" y="1323975"/>
            <a:ext cx="10972800" cy="590550"/>
          </a:xfrm>
          <a:prstGeom prst="rect">
            <a:avLst/>
          </a:prstGeom>
          <a:noFill/>
          <a:ln w="0">
            <a:noFill/>
          </a:ln>
        </p:spPr>
        <p:txBody>
          <a:bodyPr lIns="0" tIns="0" rIns="0" bIns="0" anchor="t">
            <a:noAutofit/>
          </a:bodyPr>
          <a:lstStyle/>
          <a:p>
            <a:pPr algn="l">
              <a:defRPr sz="1800" b="0">
                <a:solidFill>
                  <a:srgbClr val="7DD6DD"/>
                </a:solidFill>
                <a:latin typeface="Nimbus Sans"/>
                <a:ea typeface="Nimbus Sans"/>
                <a:cs typeface="Nimbus Sans"/>
              </a:defRPr>
            </a:pPr>
            <a:r>
              <a:rPr sz="1800" b="0">
                <a:solidFill>
                  <a:srgbClr val="7DD6DD"/>
                </a:solidFill>
                <a:latin typeface="Nimbus Sans"/>
                <a:ea typeface="Nimbus Sans"/>
                <a:cs typeface="Nimbus Sans"/>
              </a:rPr>
              <a:t>Register an integration once, then make it available to authorized project teams.</a:t>
            </a:r>
          </a:p>
        </p:txBody>
      </p:sp>
      <p:sp>
        <p:nvSpPr>
          <p:cNvPr id="3" name="box">
            <a:extLst>
              <a:ext uri="{FF2B5EF4-FFF2-40B4-BE49-F238E27FC236}">
                <a16:creationId xmlns:a16="http://schemas.microsoft.com/office/drawing/2014/main" id="{8778BC02-9820-4BF5-A32D-ECB1E0E705FB}"/>
              </a:ext>
            </a:extLst>
          </p:cNvPr>
          <p:cNvSpPr>
            <a:spLocks noGrp="1"/>
          </p:cNvSpPr>
          <p:nvPr/>
        </p:nvSpPr>
        <p:spPr>
          <a:xfrm>
            <a:off x="609600" y="6448425"/>
            <a:ext cx="10972800" cy="9525"/>
          </a:xfrm>
          <a:prstGeom prst="rect">
            <a:avLst/>
          </a:prstGeom>
          <a:solidFill>
            <a:srgbClr val="385362"/>
          </a:solidFill>
          <a:ln w="0">
            <a:noFill/>
          </a:ln>
        </p:spPr>
      </p:sp>
      <p:sp>
        <p:nvSpPr>
          <p:cNvPr id="4" name="text">
            <a:extLst>
              <a:ext uri="{FF2B5EF4-FFF2-40B4-BE49-F238E27FC236}">
                <a16:creationId xmlns:a16="http://schemas.microsoft.com/office/drawing/2014/main" id="{9F139BC3-6E1E-4FB4-95C4-3B99DFEFFE82}"/>
              </a:ext>
            </a:extLst>
          </p:cNvPr>
          <p:cNvSpPr>
            <a:spLocks noGrp="1"/>
          </p:cNvSpPr>
          <p:nvPr/>
        </p:nvSpPr>
        <p:spPr>
          <a:xfrm>
            <a:off x="609600" y="6562725"/>
            <a:ext cx="6667500" cy="209550"/>
          </a:xfrm>
          <a:prstGeom prst="rect">
            <a:avLst/>
          </a:prstGeom>
          <a:noFill/>
          <a:ln w="0">
            <a:noFill/>
          </a:ln>
        </p:spPr>
        <p:txBody>
          <a:bodyPr lIns="0" tIns="0" rIns="0" bIns="0" anchor="ctr">
            <a:noAutofit/>
          </a:bodyPr>
          <a:lstStyle/>
          <a:p>
            <a:pPr algn="l">
              <a:defRPr sz="975" b="1">
                <a:solidFill>
                  <a:srgbClr val="7DD6DD"/>
                </a:solidFill>
                <a:latin typeface="Nimbus Sans"/>
                <a:ea typeface="Nimbus Sans"/>
                <a:cs typeface="Nimbus Sans"/>
              </a:defRPr>
            </a:pPr>
            <a:r>
              <a:rPr sz="975" b="1">
                <a:solidFill>
                  <a:srgbClr val="7DD6DD"/>
                </a:solidFill>
                <a:latin typeface="Nimbus Sans"/>
                <a:ea typeface="Nimbus Sans"/>
                <a:cs typeface="Nimbus Sans"/>
              </a:rPr>
              <a:t>GUARDIAN AI  /  CONVERGENCE 2026</a:t>
            </a:r>
          </a:p>
        </p:txBody>
      </p:sp>
      <p:sp>
        <p:nvSpPr>
          <p:cNvPr id="5" name="text">
            <a:extLst>
              <a:ext uri="{FF2B5EF4-FFF2-40B4-BE49-F238E27FC236}">
                <a16:creationId xmlns:a16="http://schemas.microsoft.com/office/drawing/2014/main" id="{8EA4F5ED-BE90-47F8-BE8F-53FA2A573EC2}"/>
              </a:ext>
            </a:extLst>
          </p:cNvPr>
          <p:cNvSpPr>
            <a:spLocks noGrp="1"/>
          </p:cNvSpPr>
          <p:nvPr/>
        </p:nvSpPr>
        <p:spPr>
          <a:xfrm>
            <a:off x="11096625" y="6562725"/>
            <a:ext cx="476250" cy="209550"/>
          </a:xfrm>
          <a:prstGeom prst="rect">
            <a:avLst/>
          </a:prstGeom>
          <a:noFill/>
          <a:ln w="0">
            <a:noFill/>
          </a:ln>
        </p:spPr>
        <p:txBody>
          <a:bodyPr lIns="0" tIns="0" rIns="0" bIns="0" anchor="ctr">
            <a:noAutofit/>
          </a:bodyPr>
          <a:lstStyle/>
          <a:p>
            <a:pPr algn="r">
              <a:defRPr sz="1050" b="0">
                <a:solidFill>
                  <a:srgbClr val="7DD6DD"/>
                </a:solidFill>
                <a:latin typeface="Nimbus Sans"/>
                <a:ea typeface="Nimbus Sans"/>
                <a:cs typeface="Nimbus Sans"/>
              </a:defRPr>
            </a:pPr>
            <a:r>
              <a:rPr sz="1050" b="0">
                <a:solidFill>
                  <a:srgbClr val="7DD6DD"/>
                </a:solidFill>
                <a:latin typeface="Nimbus Sans"/>
                <a:ea typeface="Nimbus Sans"/>
                <a:cs typeface="Nimbus Sans"/>
              </a:rPr>
              <a:t>05</a:t>
            </a:r>
          </a:p>
        </p:txBody>
      </p:sp>
      <p:sp>
        <p:nvSpPr>
          <p:cNvPr id="6" name="text">
            <a:extLst>
              <a:ext uri="{FF2B5EF4-FFF2-40B4-BE49-F238E27FC236}">
                <a16:creationId xmlns:a16="http://schemas.microsoft.com/office/drawing/2014/main" id="{1140F693-C3D3-40B1-B28F-B817DF072B7F}"/>
              </a:ext>
            </a:extLst>
          </p:cNvPr>
          <p:cNvSpPr>
            <a:spLocks noGrp="1"/>
          </p:cNvSpPr>
          <p:nvPr/>
        </p:nvSpPr>
        <p:spPr>
          <a:xfrm>
            <a:off x="609600" y="2171700"/>
            <a:ext cx="857250" cy="542925"/>
          </a:xfrm>
          <a:prstGeom prst="rect">
            <a:avLst/>
          </a:prstGeom>
          <a:noFill/>
          <a:ln w="0">
            <a:noFill/>
          </a:ln>
        </p:spPr>
        <p:txBody>
          <a:bodyPr lIns="0" tIns="0" rIns="0" bIns="0" anchor="ctr">
            <a:noAutofit/>
          </a:bodyPr>
          <a:lstStyle/>
          <a:p>
            <a:pPr algn="l">
              <a:defRPr sz="3225" b="1">
                <a:solidFill>
                  <a:srgbClr val="7DD6DD"/>
                </a:solidFill>
                <a:latin typeface="Nimbus Sans"/>
                <a:ea typeface="Nimbus Sans"/>
                <a:cs typeface="Nimbus Sans"/>
              </a:defRPr>
            </a:pPr>
            <a:r>
              <a:rPr sz="3225" b="1">
                <a:solidFill>
                  <a:srgbClr val="7DD6DD"/>
                </a:solidFill>
                <a:latin typeface="Nimbus Sans"/>
                <a:ea typeface="Nimbus Sans"/>
                <a:cs typeface="Nimbus Sans"/>
              </a:rPr>
              <a:t>1</a:t>
            </a:r>
          </a:p>
        </p:txBody>
      </p:sp>
      <p:sp>
        <p:nvSpPr>
          <p:cNvPr id="7" name="box">
            <a:extLst>
              <a:ext uri="{FF2B5EF4-FFF2-40B4-BE49-F238E27FC236}">
                <a16:creationId xmlns:a16="http://schemas.microsoft.com/office/drawing/2014/main" id="{EDB6716C-9FE4-460F-9F45-2443B890168E}"/>
              </a:ext>
            </a:extLst>
          </p:cNvPr>
          <p:cNvSpPr>
            <a:spLocks noGrp="1"/>
          </p:cNvSpPr>
          <p:nvPr/>
        </p:nvSpPr>
        <p:spPr>
          <a:xfrm>
            <a:off x="609600" y="2876550"/>
            <a:ext cx="2457450" cy="2324100"/>
          </a:xfrm>
          <a:prstGeom prst="roundRect">
            <a:avLst>
              <a:gd name="adj" fmla="val 4098"/>
            </a:avLst>
          </a:prstGeom>
          <a:solidFill>
            <a:srgbClr val="173F4B"/>
          </a:solidFill>
          <a:ln w="15240">
            <a:solidFill>
              <a:srgbClr val="7DD6DD"/>
            </a:solidFill>
          </a:ln>
        </p:spPr>
      </p:sp>
      <p:sp>
        <p:nvSpPr>
          <p:cNvPr id="8" name="text">
            <a:extLst>
              <a:ext uri="{FF2B5EF4-FFF2-40B4-BE49-F238E27FC236}">
                <a16:creationId xmlns:a16="http://schemas.microsoft.com/office/drawing/2014/main" id="{16349AC1-9A71-42F3-B560-426756E1B275}"/>
              </a:ext>
            </a:extLst>
          </p:cNvPr>
          <p:cNvSpPr>
            <a:spLocks noGrp="1"/>
          </p:cNvSpPr>
          <p:nvPr/>
        </p:nvSpPr>
        <p:spPr>
          <a:xfrm>
            <a:off x="819150" y="3048000"/>
            <a:ext cx="2038350" cy="628650"/>
          </a:xfrm>
          <a:prstGeom prst="rect">
            <a:avLst/>
          </a:prstGeom>
          <a:noFill/>
          <a:ln w="0">
            <a:noFill/>
          </a:ln>
        </p:spPr>
        <p:txBody>
          <a:bodyPr lIns="0" tIns="0" rIns="0" bIns="0" anchor="ctr">
            <a:noAutofit/>
          </a:bodyPr>
          <a:lstStyle/>
          <a:p>
            <a:pPr algn="l">
              <a:defRPr sz="2100" b="1">
                <a:solidFill>
                  <a:srgbClr val="7DD6DD"/>
                </a:solidFill>
                <a:latin typeface="Nimbus Sans"/>
                <a:ea typeface="Nimbus Sans"/>
                <a:cs typeface="Nimbus Sans"/>
              </a:defRPr>
            </a:pPr>
            <a:r>
              <a:rPr sz="2100" b="1">
                <a:solidFill>
                  <a:srgbClr val="7DD6DD"/>
                </a:solidFill>
                <a:latin typeface="Nimbus Sans"/>
                <a:ea typeface="Nimbus Sans"/>
                <a:cs typeface="Nimbus Sans"/>
              </a:rPr>
              <a:t>Connect an account</a:t>
            </a:r>
          </a:p>
        </p:txBody>
      </p:sp>
      <p:sp>
        <p:nvSpPr>
          <p:cNvPr id="9" name="text">
            <a:extLst>
              <a:ext uri="{FF2B5EF4-FFF2-40B4-BE49-F238E27FC236}">
                <a16:creationId xmlns:a16="http://schemas.microsoft.com/office/drawing/2014/main" id="{0035FCFC-CF3B-415B-ACD5-A7A8609DED0B}"/>
              </a:ext>
            </a:extLst>
          </p:cNvPr>
          <p:cNvSpPr>
            <a:spLocks noGrp="1"/>
          </p:cNvSpPr>
          <p:nvPr/>
        </p:nvSpPr>
        <p:spPr>
          <a:xfrm>
            <a:off x="819150" y="3790950"/>
            <a:ext cx="2038350" cy="1295400"/>
          </a:xfrm>
          <a:prstGeom prst="rect">
            <a:avLst/>
          </a:prstGeom>
          <a:noFill/>
          <a:ln w="0">
            <a:noFill/>
          </a:ln>
        </p:spPr>
        <p:txBody>
          <a:bodyPr lIns="0" tIns="0" rIns="0" bIns="0" anchor="t">
            <a:noAutofit/>
          </a:bodyPr>
          <a:lstStyle/>
          <a:p>
            <a:pPr algn="l">
              <a:defRPr sz="1800" b="0">
                <a:solidFill>
                  <a:srgbClr val="FFFFFF"/>
                </a:solidFill>
                <a:latin typeface="Nimbus Sans"/>
                <a:ea typeface="Nimbus Sans"/>
                <a:cs typeface="Nimbus Sans"/>
              </a:defRPr>
            </a:pPr>
            <a:r>
              <a:rPr sz="1800" b="0">
                <a:solidFill>
                  <a:srgbClr val="FFFFFF"/>
                </a:solidFill>
                <a:latin typeface="Nimbus Sans"/>
                <a:ea typeface="Nimbus Sans"/>
                <a:cs typeface="Nimbus Sans"/>
              </a:rPr>
              <a:t>Capture the AWS account connection.</a:t>
            </a:r>
          </a:p>
        </p:txBody>
      </p:sp>
      <p:sp>
        <p:nvSpPr>
          <p:cNvPr id="10" name="glow arrow">
            <a:extLst>
              <a:ext uri="{FF2B5EF4-FFF2-40B4-BE49-F238E27FC236}">
                <a16:creationId xmlns:a16="http://schemas.microsoft.com/office/drawing/2014/main" id="{59613F10-3568-4ACC-9CBD-8D993B9A0F02}"/>
              </a:ext>
            </a:extLst>
          </p:cNvPr>
          <p:cNvSpPr>
            <a:spLocks noGrp="1"/>
          </p:cNvSpPr>
          <p:nvPr/>
        </p:nvSpPr>
        <p:spPr>
          <a:xfrm>
            <a:off x="3143250" y="3848100"/>
            <a:ext cx="209550" cy="257175"/>
          </a:xfrm>
          <a:prstGeom prst="rightArrow">
            <a:avLst/>
          </a:prstGeom>
          <a:solidFill>
            <a:srgbClr val="34B7C2"/>
          </a:solidFill>
          <a:ln w="19050">
            <a:solidFill>
              <a:srgbClr val="7DD6DD"/>
            </a:solidFill>
          </a:ln>
        </p:spPr>
      </p:sp>
      <p:sp>
        <p:nvSpPr>
          <p:cNvPr id="11" name="text">
            <a:extLst>
              <a:ext uri="{FF2B5EF4-FFF2-40B4-BE49-F238E27FC236}">
                <a16:creationId xmlns:a16="http://schemas.microsoft.com/office/drawing/2014/main" id="{50C57734-20C0-4FA7-B065-8272C8B02960}"/>
              </a:ext>
            </a:extLst>
          </p:cNvPr>
          <p:cNvSpPr>
            <a:spLocks noGrp="1"/>
          </p:cNvSpPr>
          <p:nvPr/>
        </p:nvSpPr>
        <p:spPr>
          <a:xfrm>
            <a:off x="3409950" y="2171700"/>
            <a:ext cx="857250" cy="542925"/>
          </a:xfrm>
          <a:prstGeom prst="rect">
            <a:avLst/>
          </a:prstGeom>
          <a:noFill/>
          <a:ln w="0">
            <a:noFill/>
          </a:ln>
        </p:spPr>
        <p:txBody>
          <a:bodyPr lIns="0" tIns="0" rIns="0" bIns="0" anchor="ctr">
            <a:noAutofit/>
          </a:bodyPr>
          <a:lstStyle/>
          <a:p>
            <a:pPr algn="l">
              <a:defRPr sz="3225" b="1">
                <a:solidFill>
                  <a:srgbClr val="7DD6DD"/>
                </a:solidFill>
                <a:latin typeface="Nimbus Sans"/>
                <a:ea typeface="Nimbus Sans"/>
                <a:cs typeface="Nimbus Sans"/>
              </a:defRPr>
            </a:pPr>
            <a:r>
              <a:rPr sz="3225" b="1">
                <a:solidFill>
                  <a:srgbClr val="7DD6DD"/>
                </a:solidFill>
                <a:latin typeface="Nimbus Sans"/>
                <a:ea typeface="Nimbus Sans"/>
                <a:cs typeface="Nimbus Sans"/>
              </a:rPr>
              <a:t>2</a:t>
            </a:r>
          </a:p>
        </p:txBody>
      </p:sp>
      <p:sp>
        <p:nvSpPr>
          <p:cNvPr id="12" name="box">
            <a:extLst>
              <a:ext uri="{FF2B5EF4-FFF2-40B4-BE49-F238E27FC236}">
                <a16:creationId xmlns:a16="http://schemas.microsoft.com/office/drawing/2014/main" id="{BE24D586-9152-4471-994E-5236000799A3}"/>
              </a:ext>
            </a:extLst>
          </p:cNvPr>
          <p:cNvSpPr>
            <a:spLocks noGrp="1"/>
          </p:cNvSpPr>
          <p:nvPr/>
        </p:nvSpPr>
        <p:spPr>
          <a:xfrm>
            <a:off x="3409950" y="2876550"/>
            <a:ext cx="2457450" cy="2324100"/>
          </a:xfrm>
          <a:prstGeom prst="roundRect">
            <a:avLst>
              <a:gd name="adj" fmla="val 4098"/>
            </a:avLst>
          </a:prstGeom>
          <a:solidFill>
            <a:srgbClr val="173F4B"/>
          </a:solidFill>
          <a:ln w="15240">
            <a:solidFill>
              <a:srgbClr val="7DD6DD"/>
            </a:solidFill>
          </a:ln>
        </p:spPr>
      </p:sp>
      <p:sp>
        <p:nvSpPr>
          <p:cNvPr id="13" name="text">
            <a:extLst>
              <a:ext uri="{FF2B5EF4-FFF2-40B4-BE49-F238E27FC236}">
                <a16:creationId xmlns:a16="http://schemas.microsoft.com/office/drawing/2014/main" id="{AA4C29AF-170D-469F-9667-A45936BA2233}"/>
              </a:ext>
            </a:extLst>
          </p:cNvPr>
          <p:cNvSpPr>
            <a:spLocks noGrp="1"/>
          </p:cNvSpPr>
          <p:nvPr/>
        </p:nvSpPr>
        <p:spPr>
          <a:xfrm>
            <a:off x="3619500" y="3048000"/>
            <a:ext cx="2038350" cy="628650"/>
          </a:xfrm>
          <a:prstGeom prst="rect">
            <a:avLst/>
          </a:prstGeom>
          <a:noFill/>
          <a:ln w="0">
            <a:noFill/>
          </a:ln>
        </p:spPr>
        <p:txBody>
          <a:bodyPr lIns="0" tIns="0" rIns="0" bIns="0" anchor="ctr">
            <a:noAutofit/>
          </a:bodyPr>
          <a:lstStyle/>
          <a:p>
            <a:pPr algn="l">
              <a:defRPr sz="2100" b="1">
                <a:solidFill>
                  <a:srgbClr val="7DD6DD"/>
                </a:solidFill>
                <a:latin typeface="Nimbus Sans"/>
                <a:ea typeface="Nimbus Sans"/>
                <a:cs typeface="Nimbus Sans"/>
              </a:defRPr>
            </a:pPr>
            <a:r>
              <a:rPr sz="2100" b="1">
                <a:solidFill>
                  <a:srgbClr val="7DD6DD"/>
                </a:solidFill>
                <a:latin typeface="Nimbus Sans"/>
                <a:ea typeface="Nimbus Sans"/>
                <a:cs typeface="Nimbus Sans"/>
              </a:rPr>
              <a:t>Discover candidates</a:t>
            </a:r>
          </a:p>
        </p:txBody>
      </p:sp>
      <p:sp>
        <p:nvSpPr>
          <p:cNvPr id="14" name="text">
            <a:extLst>
              <a:ext uri="{FF2B5EF4-FFF2-40B4-BE49-F238E27FC236}">
                <a16:creationId xmlns:a16="http://schemas.microsoft.com/office/drawing/2014/main" id="{97A5EF58-4DC3-4014-A605-05F019F7BE54}"/>
              </a:ext>
            </a:extLst>
          </p:cNvPr>
          <p:cNvSpPr>
            <a:spLocks noGrp="1"/>
          </p:cNvSpPr>
          <p:nvPr/>
        </p:nvSpPr>
        <p:spPr>
          <a:xfrm>
            <a:off x="3619500" y="3790950"/>
            <a:ext cx="2038350" cy="1295400"/>
          </a:xfrm>
          <a:prstGeom prst="rect">
            <a:avLst/>
          </a:prstGeom>
          <a:noFill/>
          <a:ln w="0">
            <a:noFill/>
          </a:ln>
        </p:spPr>
        <p:txBody>
          <a:bodyPr lIns="0" tIns="0" rIns="0" bIns="0" anchor="t">
            <a:noAutofit/>
          </a:bodyPr>
          <a:lstStyle/>
          <a:p>
            <a:pPr algn="l">
              <a:defRPr sz="1800" b="0">
                <a:solidFill>
                  <a:srgbClr val="FFFFFF"/>
                </a:solidFill>
                <a:latin typeface="Nimbus Sans"/>
                <a:ea typeface="Nimbus Sans"/>
                <a:cs typeface="Nimbus Sans"/>
              </a:defRPr>
            </a:pPr>
            <a:r>
              <a:rPr sz="1800" b="0">
                <a:solidFill>
                  <a:srgbClr val="FFFFFF"/>
                </a:solidFill>
                <a:latin typeface="Nimbus Sans"/>
                <a:ea typeface="Nimbus Sans"/>
                <a:cs typeface="Nimbus Sans"/>
              </a:rPr>
              <a:t>Find supported Lambda functions and API Gateway APIs.</a:t>
            </a:r>
          </a:p>
        </p:txBody>
      </p:sp>
      <p:sp>
        <p:nvSpPr>
          <p:cNvPr id="15" name="glow arrow">
            <a:extLst>
              <a:ext uri="{FF2B5EF4-FFF2-40B4-BE49-F238E27FC236}">
                <a16:creationId xmlns:a16="http://schemas.microsoft.com/office/drawing/2014/main" id="{124AC4A0-DC5B-44C3-AEAD-9CFD9FC55721}"/>
              </a:ext>
            </a:extLst>
          </p:cNvPr>
          <p:cNvSpPr>
            <a:spLocks noGrp="1"/>
          </p:cNvSpPr>
          <p:nvPr/>
        </p:nvSpPr>
        <p:spPr>
          <a:xfrm>
            <a:off x="5943600" y="3848100"/>
            <a:ext cx="209550" cy="257175"/>
          </a:xfrm>
          <a:prstGeom prst="rightArrow">
            <a:avLst/>
          </a:prstGeom>
          <a:solidFill>
            <a:srgbClr val="34B7C2"/>
          </a:solidFill>
          <a:ln w="19050">
            <a:solidFill>
              <a:srgbClr val="7DD6DD"/>
            </a:solidFill>
          </a:ln>
        </p:spPr>
      </p:sp>
      <p:sp>
        <p:nvSpPr>
          <p:cNvPr id="16" name="text">
            <a:extLst>
              <a:ext uri="{FF2B5EF4-FFF2-40B4-BE49-F238E27FC236}">
                <a16:creationId xmlns:a16="http://schemas.microsoft.com/office/drawing/2014/main" id="{A1BBE615-CE70-4C9F-99F8-B2E2B4E76574}"/>
              </a:ext>
            </a:extLst>
          </p:cNvPr>
          <p:cNvSpPr>
            <a:spLocks noGrp="1"/>
          </p:cNvSpPr>
          <p:nvPr/>
        </p:nvSpPr>
        <p:spPr>
          <a:xfrm>
            <a:off x="6210300" y="2171700"/>
            <a:ext cx="857250" cy="542925"/>
          </a:xfrm>
          <a:prstGeom prst="rect">
            <a:avLst/>
          </a:prstGeom>
          <a:noFill/>
          <a:ln w="0">
            <a:noFill/>
          </a:ln>
        </p:spPr>
        <p:txBody>
          <a:bodyPr lIns="0" tIns="0" rIns="0" bIns="0" anchor="ctr">
            <a:noAutofit/>
          </a:bodyPr>
          <a:lstStyle/>
          <a:p>
            <a:pPr algn="l">
              <a:defRPr sz="3225" b="1">
                <a:solidFill>
                  <a:srgbClr val="7DD6DD"/>
                </a:solidFill>
                <a:latin typeface="Nimbus Sans"/>
                <a:ea typeface="Nimbus Sans"/>
                <a:cs typeface="Nimbus Sans"/>
              </a:defRPr>
            </a:pPr>
            <a:r>
              <a:rPr sz="3225" b="1">
                <a:solidFill>
                  <a:srgbClr val="7DD6DD"/>
                </a:solidFill>
                <a:latin typeface="Nimbus Sans"/>
                <a:ea typeface="Nimbus Sans"/>
                <a:cs typeface="Nimbus Sans"/>
              </a:rPr>
              <a:t>3</a:t>
            </a:r>
          </a:p>
        </p:txBody>
      </p:sp>
      <p:sp>
        <p:nvSpPr>
          <p:cNvPr id="17" name="box">
            <a:extLst>
              <a:ext uri="{FF2B5EF4-FFF2-40B4-BE49-F238E27FC236}">
                <a16:creationId xmlns:a16="http://schemas.microsoft.com/office/drawing/2014/main" id="{90A1EC2A-75B0-4D19-903C-17336FCEF438}"/>
              </a:ext>
            </a:extLst>
          </p:cNvPr>
          <p:cNvSpPr>
            <a:spLocks noGrp="1"/>
          </p:cNvSpPr>
          <p:nvPr/>
        </p:nvSpPr>
        <p:spPr>
          <a:xfrm>
            <a:off x="6210300" y="2876550"/>
            <a:ext cx="2457450" cy="2324100"/>
          </a:xfrm>
          <a:prstGeom prst="roundRect">
            <a:avLst>
              <a:gd name="adj" fmla="val 4098"/>
            </a:avLst>
          </a:prstGeom>
          <a:solidFill>
            <a:srgbClr val="173F4B"/>
          </a:solidFill>
          <a:ln w="15240">
            <a:solidFill>
              <a:srgbClr val="7DD6DD"/>
            </a:solidFill>
          </a:ln>
        </p:spPr>
      </p:sp>
      <p:sp>
        <p:nvSpPr>
          <p:cNvPr id="18" name="text">
            <a:extLst>
              <a:ext uri="{FF2B5EF4-FFF2-40B4-BE49-F238E27FC236}">
                <a16:creationId xmlns:a16="http://schemas.microsoft.com/office/drawing/2014/main" id="{2515589C-95E9-4856-9CF6-44B617FE3AC0}"/>
              </a:ext>
            </a:extLst>
          </p:cNvPr>
          <p:cNvSpPr>
            <a:spLocks noGrp="1"/>
          </p:cNvSpPr>
          <p:nvPr/>
        </p:nvSpPr>
        <p:spPr>
          <a:xfrm>
            <a:off x="6419850" y="3048000"/>
            <a:ext cx="2038350" cy="628650"/>
          </a:xfrm>
          <a:prstGeom prst="rect">
            <a:avLst/>
          </a:prstGeom>
          <a:noFill/>
          <a:ln w="0">
            <a:noFill/>
          </a:ln>
        </p:spPr>
        <p:txBody>
          <a:bodyPr lIns="0" tIns="0" rIns="0" bIns="0" anchor="ctr">
            <a:noAutofit/>
          </a:bodyPr>
          <a:lstStyle/>
          <a:p>
            <a:pPr algn="l">
              <a:defRPr sz="2100" b="1">
                <a:solidFill>
                  <a:srgbClr val="7DD6DD"/>
                </a:solidFill>
                <a:latin typeface="Nimbus Sans"/>
                <a:ea typeface="Nimbus Sans"/>
                <a:cs typeface="Nimbus Sans"/>
              </a:defRPr>
            </a:pPr>
            <a:r>
              <a:rPr sz="2100" b="1">
                <a:solidFill>
                  <a:srgbClr val="7DD6DD"/>
                </a:solidFill>
                <a:latin typeface="Nimbus Sans"/>
                <a:ea typeface="Nimbus Sans"/>
                <a:cs typeface="Nimbus Sans"/>
              </a:rPr>
              <a:t>Review and register</a:t>
            </a:r>
          </a:p>
        </p:txBody>
      </p:sp>
      <p:sp>
        <p:nvSpPr>
          <p:cNvPr id="19" name="text">
            <a:extLst>
              <a:ext uri="{FF2B5EF4-FFF2-40B4-BE49-F238E27FC236}">
                <a16:creationId xmlns:a16="http://schemas.microsoft.com/office/drawing/2014/main" id="{DA1BB0BF-A594-470F-93DE-9E7A8604C526}"/>
              </a:ext>
            </a:extLst>
          </p:cNvPr>
          <p:cNvSpPr>
            <a:spLocks noGrp="1"/>
          </p:cNvSpPr>
          <p:nvPr/>
        </p:nvSpPr>
        <p:spPr>
          <a:xfrm>
            <a:off x="6419850" y="3790950"/>
            <a:ext cx="2038350" cy="1295400"/>
          </a:xfrm>
          <a:prstGeom prst="rect">
            <a:avLst/>
          </a:prstGeom>
          <a:noFill/>
          <a:ln w="0">
            <a:noFill/>
          </a:ln>
        </p:spPr>
        <p:txBody>
          <a:bodyPr lIns="0" tIns="0" rIns="0" bIns="0" anchor="t">
            <a:noAutofit/>
          </a:bodyPr>
          <a:lstStyle/>
          <a:p>
            <a:pPr algn="l">
              <a:defRPr sz="1800" b="0">
                <a:solidFill>
                  <a:srgbClr val="FFFFFF"/>
                </a:solidFill>
                <a:latin typeface="Nimbus Sans"/>
                <a:ea typeface="Nimbus Sans"/>
                <a:cs typeface="Nimbus Sans"/>
              </a:defRPr>
            </a:pPr>
            <a:r>
              <a:rPr sz="1800" b="0">
                <a:solidFill>
                  <a:srgbClr val="FFFFFF"/>
                </a:solidFill>
                <a:latin typeface="Nimbus Sans"/>
                <a:ea typeface="Nimbus Sans"/>
                <a:cs typeface="Nimbus Sans"/>
              </a:rPr>
              <a:t>Review suitability and add tools to the catalog.</a:t>
            </a:r>
          </a:p>
        </p:txBody>
      </p:sp>
      <p:sp>
        <p:nvSpPr>
          <p:cNvPr id="20" name="glow arrow">
            <a:extLst>
              <a:ext uri="{FF2B5EF4-FFF2-40B4-BE49-F238E27FC236}">
                <a16:creationId xmlns:a16="http://schemas.microsoft.com/office/drawing/2014/main" id="{6782C4F1-78BD-4C21-9F0E-C94D2C178EB8}"/>
              </a:ext>
            </a:extLst>
          </p:cNvPr>
          <p:cNvSpPr>
            <a:spLocks noGrp="1"/>
          </p:cNvSpPr>
          <p:nvPr/>
        </p:nvSpPr>
        <p:spPr>
          <a:xfrm>
            <a:off x="8743950" y="3848100"/>
            <a:ext cx="209550" cy="257175"/>
          </a:xfrm>
          <a:prstGeom prst="rightArrow">
            <a:avLst/>
          </a:prstGeom>
          <a:solidFill>
            <a:srgbClr val="34B7C2"/>
          </a:solidFill>
          <a:ln w="19050">
            <a:solidFill>
              <a:srgbClr val="7DD6DD"/>
            </a:solidFill>
          </a:ln>
        </p:spPr>
      </p:sp>
      <p:sp>
        <p:nvSpPr>
          <p:cNvPr id="21" name="text">
            <a:extLst>
              <a:ext uri="{FF2B5EF4-FFF2-40B4-BE49-F238E27FC236}">
                <a16:creationId xmlns:a16="http://schemas.microsoft.com/office/drawing/2014/main" id="{09E629B7-6140-413B-A965-BD0BC3AAF0C4}"/>
              </a:ext>
            </a:extLst>
          </p:cNvPr>
          <p:cNvSpPr>
            <a:spLocks noGrp="1"/>
          </p:cNvSpPr>
          <p:nvPr/>
        </p:nvSpPr>
        <p:spPr>
          <a:xfrm>
            <a:off x="9010650" y="2171700"/>
            <a:ext cx="857250" cy="542925"/>
          </a:xfrm>
          <a:prstGeom prst="rect">
            <a:avLst/>
          </a:prstGeom>
          <a:noFill/>
          <a:ln w="0">
            <a:noFill/>
          </a:ln>
        </p:spPr>
        <p:txBody>
          <a:bodyPr lIns="0" tIns="0" rIns="0" bIns="0" anchor="ctr">
            <a:noAutofit/>
          </a:bodyPr>
          <a:lstStyle/>
          <a:p>
            <a:pPr algn="l">
              <a:defRPr sz="3225" b="1">
                <a:solidFill>
                  <a:srgbClr val="7DD6DD"/>
                </a:solidFill>
                <a:latin typeface="Nimbus Sans"/>
                <a:ea typeface="Nimbus Sans"/>
                <a:cs typeface="Nimbus Sans"/>
              </a:defRPr>
            </a:pPr>
            <a:r>
              <a:rPr sz="3225" b="1">
                <a:solidFill>
                  <a:srgbClr val="7DD6DD"/>
                </a:solidFill>
                <a:latin typeface="Nimbus Sans"/>
                <a:ea typeface="Nimbus Sans"/>
                <a:cs typeface="Nimbus Sans"/>
              </a:rPr>
              <a:t>4</a:t>
            </a:r>
          </a:p>
        </p:txBody>
      </p:sp>
      <p:sp>
        <p:nvSpPr>
          <p:cNvPr id="22" name="box">
            <a:extLst>
              <a:ext uri="{FF2B5EF4-FFF2-40B4-BE49-F238E27FC236}">
                <a16:creationId xmlns:a16="http://schemas.microsoft.com/office/drawing/2014/main" id="{701906DC-177B-4E31-88DB-AD805990CCFC}"/>
              </a:ext>
            </a:extLst>
          </p:cNvPr>
          <p:cNvSpPr>
            <a:spLocks noGrp="1"/>
          </p:cNvSpPr>
          <p:nvPr/>
        </p:nvSpPr>
        <p:spPr>
          <a:xfrm>
            <a:off x="9010650" y="2876550"/>
            <a:ext cx="2457450" cy="2324100"/>
          </a:xfrm>
          <a:prstGeom prst="roundRect">
            <a:avLst>
              <a:gd name="adj" fmla="val 4098"/>
            </a:avLst>
          </a:prstGeom>
          <a:solidFill>
            <a:srgbClr val="E6F3F5"/>
          </a:solidFill>
          <a:ln w="0">
            <a:noFill/>
          </a:ln>
        </p:spPr>
      </p:sp>
      <p:sp>
        <p:nvSpPr>
          <p:cNvPr id="23" name="text">
            <a:extLst>
              <a:ext uri="{FF2B5EF4-FFF2-40B4-BE49-F238E27FC236}">
                <a16:creationId xmlns:a16="http://schemas.microsoft.com/office/drawing/2014/main" id="{8FC83E6B-59B0-4363-9BA8-00FA34075AB3}"/>
              </a:ext>
            </a:extLst>
          </p:cNvPr>
          <p:cNvSpPr>
            <a:spLocks noGrp="1"/>
          </p:cNvSpPr>
          <p:nvPr/>
        </p:nvSpPr>
        <p:spPr>
          <a:xfrm>
            <a:off x="9220200" y="3048000"/>
            <a:ext cx="2038350" cy="628650"/>
          </a:xfrm>
          <a:prstGeom prst="rect">
            <a:avLst/>
          </a:prstGeom>
          <a:noFill/>
          <a:ln w="0">
            <a:noFill/>
          </a:ln>
        </p:spPr>
        <p:txBody>
          <a:bodyPr lIns="0" tIns="0" rIns="0" bIns="0" anchor="ctr">
            <a:noAutofit/>
          </a:bodyPr>
          <a:lstStyle/>
          <a:p>
            <a:pPr algn="l">
              <a:defRPr sz="2100" b="1">
                <a:solidFill>
                  <a:srgbClr val="0D2430"/>
                </a:solidFill>
                <a:latin typeface="Nimbus Sans"/>
                <a:ea typeface="Nimbus Sans"/>
                <a:cs typeface="Nimbus Sans"/>
              </a:defRPr>
            </a:pPr>
            <a:r>
              <a:rPr sz="2100" b="1">
                <a:solidFill>
                  <a:srgbClr val="0D2430"/>
                </a:solidFill>
                <a:latin typeface="Nimbus Sans"/>
                <a:ea typeface="Nimbus Sans"/>
                <a:cs typeface="Nimbus Sans"/>
              </a:rPr>
              <a:t>Grant project access</a:t>
            </a:r>
          </a:p>
        </p:txBody>
      </p:sp>
      <p:sp>
        <p:nvSpPr>
          <p:cNvPr id="24" name="text">
            <a:extLst>
              <a:ext uri="{FF2B5EF4-FFF2-40B4-BE49-F238E27FC236}">
                <a16:creationId xmlns:a16="http://schemas.microsoft.com/office/drawing/2014/main" id="{B1291EDD-7FFB-41E2-82BA-C520E82D4EB0}"/>
              </a:ext>
            </a:extLst>
          </p:cNvPr>
          <p:cNvSpPr>
            <a:spLocks noGrp="1"/>
          </p:cNvSpPr>
          <p:nvPr/>
        </p:nvSpPr>
        <p:spPr>
          <a:xfrm>
            <a:off x="9220200" y="3790950"/>
            <a:ext cx="2038350" cy="1295400"/>
          </a:xfrm>
          <a:prstGeom prst="rect">
            <a:avLst/>
          </a:prstGeom>
          <a:noFill/>
          <a:ln w="0">
            <a:noFill/>
          </a:ln>
        </p:spPr>
        <p:txBody>
          <a:bodyPr lIns="0" tIns="0" rIns="0" bIns="0" anchor="t">
            <a:noAutofit/>
          </a:bodyPr>
          <a:lstStyle/>
          <a:p>
            <a:pPr algn="l">
              <a:defRPr sz="1800" b="0">
                <a:solidFill>
                  <a:srgbClr val="0D2430"/>
                </a:solidFill>
                <a:latin typeface="Nimbus Sans"/>
                <a:ea typeface="Nimbus Sans"/>
                <a:cs typeface="Nimbus Sans"/>
              </a:defRPr>
            </a:pPr>
            <a:r>
              <a:rPr sz="1800" b="0">
                <a:solidFill>
                  <a:srgbClr val="0D2430"/>
                </a:solidFill>
                <a:latin typeface="Nimbus Sans"/>
                <a:ea typeface="Nimbus Sans"/>
                <a:cs typeface="Nimbus Sans"/>
              </a:rPr>
              <a:t>Make selected tools available to project teams.</a:t>
            </a:r>
          </a:p>
        </p:txBody>
      </p:sp>
      <p:sp>
        <p:nvSpPr>
          <p:cNvPr id="25" name="box">
            <a:extLst>
              <a:ext uri="{FF2B5EF4-FFF2-40B4-BE49-F238E27FC236}">
                <a16:creationId xmlns:a16="http://schemas.microsoft.com/office/drawing/2014/main" id="{81634CAC-1A73-428B-B690-A676EE9DD463}"/>
              </a:ext>
            </a:extLst>
          </p:cNvPr>
          <p:cNvSpPr>
            <a:spLocks noGrp="1"/>
          </p:cNvSpPr>
          <p:nvPr/>
        </p:nvSpPr>
        <p:spPr>
          <a:xfrm>
            <a:off x="609600" y="5514975"/>
            <a:ext cx="10972800" cy="581025"/>
          </a:xfrm>
          <a:prstGeom prst="roundRect">
            <a:avLst>
              <a:gd name="adj" fmla="val 13115"/>
            </a:avLst>
          </a:prstGeom>
          <a:solidFill>
            <a:srgbClr val="E6F3F5"/>
          </a:solidFill>
          <a:ln w="0">
            <a:noFill/>
          </a:ln>
        </p:spPr>
      </p:sp>
      <p:sp>
        <p:nvSpPr>
          <p:cNvPr id="26" name="text">
            <a:extLst>
              <a:ext uri="{FF2B5EF4-FFF2-40B4-BE49-F238E27FC236}">
                <a16:creationId xmlns:a16="http://schemas.microsoft.com/office/drawing/2014/main" id="{FE773F21-B8F5-477F-842B-3A0A2950E770}"/>
              </a:ext>
            </a:extLst>
          </p:cNvPr>
          <p:cNvSpPr>
            <a:spLocks noGrp="1"/>
          </p:cNvSpPr>
          <p:nvPr/>
        </p:nvSpPr>
        <p:spPr>
          <a:xfrm>
            <a:off x="809625" y="5619750"/>
            <a:ext cx="10572750" cy="381000"/>
          </a:xfrm>
          <a:prstGeom prst="rect">
            <a:avLst/>
          </a:prstGeom>
          <a:noFill/>
          <a:ln w="0">
            <a:noFill/>
          </a:ln>
        </p:spPr>
        <p:txBody>
          <a:bodyPr lIns="0" tIns="0" rIns="0" bIns="0" anchor="ctr">
            <a:noAutofit/>
          </a:bodyPr>
          <a:lstStyle/>
          <a:p>
            <a:pPr algn="ctr">
              <a:defRPr sz="2025" b="1">
                <a:solidFill>
                  <a:srgbClr val="0D2430"/>
                </a:solidFill>
                <a:latin typeface="Nimbus Sans"/>
                <a:ea typeface="Nimbus Sans"/>
                <a:cs typeface="Nimbus Sans"/>
              </a:defRPr>
            </a:pPr>
            <a:r>
              <a:rPr sz="2025" b="1">
                <a:solidFill>
                  <a:srgbClr val="0D2430"/>
                </a:solidFill>
                <a:latin typeface="Nimbus Sans"/>
                <a:ea typeface="Nimbus Sans"/>
                <a:cs typeface="Nimbus Sans"/>
              </a:rPr>
              <a:t>Teams reuse reviewed integrations and spend less time rebuilding connections.</a:t>
            </a:r>
          </a:p>
        </p:txBody>
      </p:sp>
      <p:sp>
        <p:nvSpPr>
          <p:cNvPr id="27" name="text">
            <a:extLst>
              <a:ext uri="{FF2B5EF4-FFF2-40B4-BE49-F238E27FC236}">
                <a16:creationId xmlns:a16="http://schemas.microsoft.com/office/drawing/2014/main" id="{7FADAC48-8F32-4FFB-8515-B6EAEEAB911D}"/>
              </a:ext>
            </a:extLst>
          </p:cNvPr>
          <p:cNvSpPr>
            <a:spLocks noGrp="1"/>
          </p:cNvSpPr>
          <p:nvPr/>
        </p:nvSpPr>
        <p:spPr>
          <a:xfrm>
            <a:off x="609600" y="6143625"/>
            <a:ext cx="10972800" cy="238125"/>
          </a:xfrm>
          <a:prstGeom prst="rect">
            <a:avLst/>
          </a:prstGeom>
          <a:noFill/>
          <a:ln w="0">
            <a:noFill/>
          </a:ln>
        </p:spPr>
        <p:txBody>
          <a:bodyPr lIns="0" tIns="0" rIns="0" bIns="0" anchor="ctr">
            <a:noAutofit/>
          </a:bodyPr>
          <a:lstStyle/>
          <a:p>
            <a:pPr algn="l">
              <a:defRPr sz="1350" b="0">
                <a:solidFill>
                  <a:srgbClr val="7DD6DD"/>
                </a:solidFill>
                <a:latin typeface="Nimbus Sans"/>
                <a:ea typeface="Nimbus Sans"/>
                <a:cs typeface="Nimbus Sans"/>
              </a:defRPr>
            </a:pPr>
            <a:r>
              <a:rPr sz="1350" b="0">
                <a:solidFill>
                  <a:srgbClr val="7DD6DD"/>
                </a:solidFill>
                <a:latin typeface="Nimbus Sans"/>
                <a:ea typeface="Nimbus Sans"/>
                <a:cs typeface="Nimbus Sans"/>
              </a:rPr>
              <a:t>Supported discovery is limited today. Review enforcement and broader account coverage are still evolving.</a:t>
            </a:r>
          </a:p>
        </p:txBody>
      </p:sp>
    </p:spTree>
    <p:extLst>
      <p:ext uri="{BB962C8B-B14F-4D97-AF65-F5344CB8AC3E}">
        <p14:creationId xmlns:p14="http://schemas.microsoft.com/office/powerpoint/2010/main" val="1682142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2430"/>
        </a:solidFill>
        <a:effectLst/>
      </p:bgPr>
    </p:bg>
    <p:spTree>
      <p:nvGrpSpPr>
        <p:cNvPr id="1" name=""/>
        <p:cNvGrpSpPr/>
        <p:nvPr/>
      </p:nvGrpSpPr>
      <p:grpSpPr>
        <a:xfrm>
          <a:off x="0" y="0"/>
          <a:ext cx="0" cy="0"/>
          <a:chOff x="0" y="0"/>
          <a:chExt cx="0" cy="0"/>
        </a:xfrm>
      </p:grpSpPr>
      <p:sp>
        <p:nvSpPr>
          <p:cNvPr id="42" name="text">
            <a:extLst>
              <a:ext uri="{FF2B5EF4-FFF2-40B4-BE49-F238E27FC236}">
                <a16:creationId xmlns:a16="http://schemas.microsoft.com/office/drawing/2014/main" id="{89F67767-A1FE-4934-9A11-D6B27B4BC5E3}"/>
              </a:ext>
            </a:extLst>
          </p:cNvPr>
          <p:cNvSpPr>
            <a:spLocks noGrp="1"/>
          </p:cNvSpPr>
          <p:nvPr/>
        </p:nvSpPr>
        <p:spPr>
          <a:xfrm>
            <a:off x="609600" y="457200"/>
            <a:ext cx="10972800" cy="762000"/>
          </a:xfrm>
          <a:prstGeom prst="rect">
            <a:avLst/>
          </a:prstGeom>
          <a:noFill/>
          <a:ln w="0">
            <a:noFill/>
          </a:ln>
        </p:spPr>
        <p:txBody>
          <a:bodyPr lIns="0" tIns="0" rIns="0" bIns="0" anchor="t">
            <a:noAutofit/>
          </a:bodyPr>
          <a:lstStyle/>
          <a:p>
            <a:pPr algn="l">
              <a:defRPr sz="3225" b="1">
                <a:solidFill>
                  <a:srgbClr val="FFFFFF"/>
                </a:solidFill>
                <a:latin typeface="Nimbus Sans"/>
                <a:ea typeface="Nimbus Sans"/>
                <a:cs typeface="Nimbus Sans"/>
              </a:defRPr>
            </a:pPr>
            <a:r>
              <a:rPr sz="3225" b="1">
                <a:solidFill>
                  <a:srgbClr val="FFFFFF"/>
                </a:solidFill>
                <a:latin typeface="Nimbus Sans"/>
                <a:ea typeface="Nimbus Sans"/>
                <a:cs typeface="Nimbus Sans"/>
              </a:rPr>
              <a:t>Agent development and deployment lifecycle</a:t>
            </a:r>
          </a:p>
        </p:txBody>
      </p:sp>
      <p:sp>
        <p:nvSpPr>
          <p:cNvPr id="2" name="text">
            <a:extLst>
              <a:ext uri="{FF2B5EF4-FFF2-40B4-BE49-F238E27FC236}">
                <a16:creationId xmlns:a16="http://schemas.microsoft.com/office/drawing/2014/main" id="{087555CD-DA5E-4FBE-BFDC-5376E2EF150E}"/>
              </a:ext>
            </a:extLst>
          </p:cNvPr>
          <p:cNvSpPr>
            <a:spLocks noGrp="1"/>
          </p:cNvSpPr>
          <p:nvPr/>
        </p:nvSpPr>
        <p:spPr>
          <a:xfrm>
            <a:off x="609600" y="1323975"/>
            <a:ext cx="10972800" cy="590550"/>
          </a:xfrm>
          <a:prstGeom prst="rect">
            <a:avLst/>
          </a:prstGeom>
          <a:noFill/>
          <a:ln w="0">
            <a:noFill/>
          </a:ln>
        </p:spPr>
        <p:txBody>
          <a:bodyPr lIns="0" tIns="0" rIns="0" bIns="0" anchor="t">
            <a:noAutofit/>
          </a:bodyPr>
          <a:lstStyle/>
          <a:p>
            <a:pPr algn="l">
              <a:defRPr sz="1800" b="0">
                <a:solidFill>
                  <a:srgbClr val="7DD6DD"/>
                </a:solidFill>
                <a:latin typeface="Nimbus Sans"/>
                <a:ea typeface="Nimbus Sans"/>
                <a:cs typeface="Nimbus Sans"/>
              </a:defRPr>
            </a:pPr>
            <a:r>
              <a:rPr sz="1800" b="0">
                <a:solidFill>
                  <a:srgbClr val="7DD6DD"/>
                </a:solidFill>
                <a:latin typeface="Nimbus Sans"/>
                <a:ea typeface="Nimbus Sans"/>
                <a:cs typeface="Nimbus Sans"/>
              </a:rPr>
              <a:t>A repeatable path from agent configuration to a tested development deployment.</a:t>
            </a:r>
          </a:p>
        </p:txBody>
      </p:sp>
      <p:sp>
        <p:nvSpPr>
          <p:cNvPr id="3" name="box">
            <a:extLst>
              <a:ext uri="{FF2B5EF4-FFF2-40B4-BE49-F238E27FC236}">
                <a16:creationId xmlns:a16="http://schemas.microsoft.com/office/drawing/2014/main" id="{87520FAE-E742-47A3-9F5A-27F6260B0007}"/>
              </a:ext>
            </a:extLst>
          </p:cNvPr>
          <p:cNvSpPr>
            <a:spLocks noGrp="1"/>
          </p:cNvSpPr>
          <p:nvPr/>
        </p:nvSpPr>
        <p:spPr>
          <a:xfrm>
            <a:off x="609600" y="6448425"/>
            <a:ext cx="10972800" cy="9525"/>
          </a:xfrm>
          <a:prstGeom prst="rect">
            <a:avLst/>
          </a:prstGeom>
          <a:solidFill>
            <a:srgbClr val="385362"/>
          </a:solidFill>
          <a:ln w="0">
            <a:noFill/>
          </a:ln>
        </p:spPr>
      </p:sp>
      <p:sp>
        <p:nvSpPr>
          <p:cNvPr id="4" name="text">
            <a:extLst>
              <a:ext uri="{FF2B5EF4-FFF2-40B4-BE49-F238E27FC236}">
                <a16:creationId xmlns:a16="http://schemas.microsoft.com/office/drawing/2014/main" id="{8EE3688D-95D1-4295-8ADE-2BCDE46B5E06}"/>
              </a:ext>
            </a:extLst>
          </p:cNvPr>
          <p:cNvSpPr>
            <a:spLocks noGrp="1"/>
          </p:cNvSpPr>
          <p:nvPr/>
        </p:nvSpPr>
        <p:spPr>
          <a:xfrm>
            <a:off x="609600" y="6562725"/>
            <a:ext cx="6667500" cy="209550"/>
          </a:xfrm>
          <a:prstGeom prst="rect">
            <a:avLst/>
          </a:prstGeom>
          <a:noFill/>
          <a:ln w="0">
            <a:noFill/>
          </a:ln>
        </p:spPr>
        <p:txBody>
          <a:bodyPr lIns="0" tIns="0" rIns="0" bIns="0" anchor="ctr">
            <a:noAutofit/>
          </a:bodyPr>
          <a:lstStyle/>
          <a:p>
            <a:pPr algn="l">
              <a:defRPr sz="975" b="1">
                <a:solidFill>
                  <a:srgbClr val="7DD6DD"/>
                </a:solidFill>
                <a:latin typeface="Nimbus Sans"/>
                <a:ea typeface="Nimbus Sans"/>
                <a:cs typeface="Nimbus Sans"/>
              </a:defRPr>
            </a:pPr>
            <a:r>
              <a:rPr sz="975" b="1">
                <a:solidFill>
                  <a:srgbClr val="7DD6DD"/>
                </a:solidFill>
                <a:latin typeface="Nimbus Sans"/>
                <a:ea typeface="Nimbus Sans"/>
                <a:cs typeface="Nimbus Sans"/>
              </a:rPr>
              <a:t>GUARDIAN AI  /  CONVERGENCE 2026</a:t>
            </a:r>
          </a:p>
        </p:txBody>
      </p:sp>
      <p:sp>
        <p:nvSpPr>
          <p:cNvPr id="5" name="text">
            <a:extLst>
              <a:ext uri="{FF2B5EF4-FFF2-40B4-BE49-F238E27FC236}">
                <a16:creationId xmlns:a16="http://schemas.microsoft.com/office/drawing/2014/main" id="{51AD244D-796B-4477-A4FE-42EFC8EFAEA2}"/>
              </a:ext>
            </a:extLst>
          </p:cNvPr>
          <p:cNvSpPr>
            <a:spLocks noGrp="1"/>
          </p:cNvSpPr>
          <p:nvPr/>
        </p:nvSpPr>
        <p:spPr>
          <a:xfrm>
            <a:off x="11096625" y="6562725"/>
            <a:ext cx="476250" cy="209550"/>
          </a:xfrm>
          <a:prstGeom prst="rect">
            <a:avLst/>
          </a:prstGeom>
          <a:noFill/>
          <a:ln w="0">
            <a:noFill/>
          </a:ln>
        </p:spPr>
        <p:txBody>
          <a:bodyPr lIns="0" tIns="0" rIns="0" bIns="0" anchor="ctr">
            <a:noAutofit/>
          </a:bodyPr>
          <a:lstStyle/>
          <a:p>
            <a:pPr algn="r">
              <a:defRPr sz="1050" b="0">
                <a:solidFill>
                  <a:srgbClr val="7DD6DD"/>
                </a:solidFill>
                <a:latin typeface="Nimbus Sans"/>
                <a:ea typeface="Nimbus Sans"/>
                <a:cs typeface="Nimbus Sans"/>
              </a:defRPr>
            </a:pPr>
            <a:r>
              <a:rPr sz="1050" b="0">
                <a:solidFill>
                  <a:srgbClr val="7DD6DD"/>
                </a:solidFill>
                <a:latin typeface="Nimbus Sans"/>
                <a:ea typeface="Nimbus Sans"/>
                <a:cs typeface="Nimbus Sans"/>
              </a:rPr>
              <a:t>06</a:t>
            </a:r>
          </a:p>
        </p:txBody>
      </p:sp>
      <p:sp>
        <p:nvSpPr>
          <p:cNvPr id="6" name="box">
            <a:extLst>
              <a:ext uri="{FF2B5EF4-FFF2-40B4-BE49-F238E27FC236}">
                <a16:creationId xmlns:a16="http://schemas.microsoft.com/office/drawing/2014/main" id="{C83458EA-69AA-486E-B5AB-F6804C96172D}"/>
              </a:ext>
            </a:extLst>
          </p:cNvPr>
          <p:cNvSpPr>
            <a:spLocks noGrp="1"/>
          </p:cNvSpPr>
          <p:nvPr/>
        </p:nvSpPr>
        <p:spPr>
          <a:xfrm>
            <a:off x="609600" y="2228850"/>
            <a:ext cx="3409950" cy="1685925"/>
          </a:xfrm>
          <a:prstGeom prst="roundRect">
            <a:avLst>
              <a:gd name="adj" fmla="val 4520"/>
            </a:avLst>
          </a:prstGeom>
          <a:solidFill>
            <a:srgbClr val="173F4B"/>
          </a:solidFill>
          <a:ln w="15240">
            <a:solidFill>
              <a:srgbClr val="7DD6DD"/>
            </a:solidFill>
          </a:ln>
        </p:spPr>
      </p:sp>
      <p:sp>
        <p:nvSpPr>
          <p:cNvPr id="7" name="text">
            <a:extLst>
              <a:ext uri="{FF2B5EF4-FFF2-40B4-BE49-F238E27FC236}">
                <a16:creationId xmlns:a16="http://schemas.microsoft.com/office/drawing/2014/main" id="{CBAFC6B6-FA6D-4DE0-9899-3D198FF8A515}"/>
              </a:ext>
            </a:extLst>
          </p:cNvPr>
          <p:cNvSpPr>
            <a:spLocks noGrp="1"/>
          </p:cNvSpPr>
          <p:nvPr/>
        </p:nvSpPr>
        <p:spPr>
          <a:xfrm>
            <a:off x="762000" y="2371725"/>
            <a:ext cx="323850" cy="371475"/>
          </a:xfrm>
          <a:prstGeom prst="rect">
            <a:avLst/>
          </a:prstGeom>
          <a:noFill/>
          <a:ln w="0">
            <a:noFill/>
          </a:ln>
        </p:spPr>
        <p:txBody>
          <a:bodyPr lIns="0" tIns="0" rIns="0" bIns="0" anchor="ctr">
            <a:noAutofit/>
          </a:bodyPr>
          <a:lstStyle/>
          <a:p>
            <a:pPr algn="l">
              <a:defRPr sz="2100" b="1">
                <a:solidFill>
                  <a:srgbClr val="7DD6DD"/>
                </a:solidFill>
                <a:latin typeface="Nimbus Sans"/>
                <a:ea typeface="Nimbus Sans"/>
                <a:cs typeface="Nimbus Sans"/>
              </a:defRPr>
            </a:pPr>
            <a:r>
              <a:rPr sz="2100" b="1">
                <a:solidFill>
                  <a:srgbClr val="7DD6DD"/>
                </a:solidFill>
                <a:latin typeface="Nimbus Sans"/>
                <a:ea typeface="Nimbus Sans"/>
                <a:cs typeface="Nimbus Sans"/>
              </a:rPr>
              <a:t>1</a:t>
            </a:r>
          </a:p>
        </p:txBody>
      </p:sp>
      <p:sp>
        <p:nvSpPr>
          <p:cNvPr id="8" name="text">
            <a:extLst>
              <a:ext uri="{FF2B5EF4-FFF2-40B4-BE49-F238E27FC236}">
                <a16:creationId xmlns:a16="http://schemas.microsoft.com/office/drawing/2014/main" id="{52B8BDA8-D635-4F9E-82E2-30EC98E50A67}"/>
              </a:ext>
            </a:extLst>
          </p:cNvPr>
          <p:cNvSpPr>
            <a:spLocks noGrp="1"/>
          </p:cNvSpPr>
          <p:nvPr/>
        </p:nvSpPr>
        <p:spPr>
          <a:xfrm>
            <a:off x="1200150" y="2371725"/>
            <a:ext cx="2657475" cy="381000"/>
          </a:xfrm>
          <a:prstGeom prst="rect">
            <a:avLst/>
          </a:prstGeom>
          <a:noFill/>
          <a:ln w="0">
            <a:noFill/>
          </a:ln>
        </p:spPr>
        <p:txBody>
          <a:bodyPr lIns="0" tIns="0" rIns="0" bIns="0" anchor="ctr">
            <a:noAutofit/>
          </a:bodyPr>
          <a:lstStyle/>
          <a:p>
            <a:pPr algn="l">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Configure</a:t>
            </a:r>
          </a:p>
        </p:txBody>
      </p:sp>
      <p:sp>
        <p:nvSpPr>
          <p:cNvPr id="9" name="text">
            <a:extLst>
              <a:ext uri="{FF2B5EF4-FFF2-40B4-BE49-F238E27FC236}">
                <a16:creationId xmlns:a16="http://schemas.microsoft.com/office/drawing/2014/main" id="{2C2E9915-02C3-4AAF-930D-30D422D78E84}"/>
              </a:ext>
            </a:extLst>
          </p:cNvPr>
          <p:cNvSpPr>
            <a:spLocks noGrp="1"/>
          </p:cNvSpPr>
          <p:nvPr/>
        </p:nvSpPr>
        <p:spPr>
          <a:xfrm>
            <a:off x="781050" y="2857500"/>
            <a:ext cx="3067050" cy="571500"/>
          </a:xfrm>
          <a:prstGeom prst="rect">
            <a:avLst/>
          </a:prstGeom>
          <a:noFill/>
          <a:ln w="0">
            <a:noFill/>
          </a:ln>
        </p:spPr>
        <p:txBody>
          <a:bodyPr lIns="0" tIns="0" rIns="0" bIns="0" anchor="ctr">
            <a:noAutofit/>
          </a:bodyPr>
          <a:lstStyle/>
          <a:p>
            <a:pPr algn="l">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Define behavior, model and tool needs.</a:t>
            </a:r>
          </a:p>
        </p:txBody>
      </p:sp>
      <p:sp>
        <p:nvSpPr>
          <p:cNvPr id="10" name="text">
            <a:extLst>
              <a:ext uri="{FF2B5EF4-FFF2-40B4-BE49-F238E27FC236}">
                <a16:creationId xmlns:a16="http://schemas.microsoft.com/office/drawing/2014/main" id="{30AF5CB3-55A8-4ADA-B42E-FA34C2FC2EC7}"/>
              </a:ext>
            </a:extLst>
          </p:cNvPr>
          <p:cNvSpPr>
            <a:spLocks noGrp="1"/>
          </p:cNvSpPr>
          <p:nvPr/>
        </p:nvSpPr>
        <p:spPr>
          <a:xfrm>
            <a:off x="781050" y="3571875"/>
            <a:ext cx="3067050" cy="228600"/>
          </a:xfrm>
          <a:prstGeom prst="rect">
            <a:avLst/>
          </a:prstGeom>
          <a:noFill/>
          <a:ln w="0">
            <a:noFill/>
          </a:ln>
        </p:spPr>
        <p:txBody>
          <a:bodyPr lIns="0" tIns="0" rIns="0" bIns="0" anchor="ctr">
            <a:noAutofit/>
          </a:bodyPr>
          <a:lstStyle/>
          <a:p>
            <a:pPr algn="l">
              <a:defRPr sz="1125" b="1">
                <a:solidFill>
                  <a:srgbClr val="7DD6DD"/>
                </a:solidFill>
                <a:latin typeface="Nimbus Sans"/>
                <a:ea typeface="Nimbus Sans"/>
                <a:cs typeface="Nimbus Sans"/>
              </a:defRPr>
            </a:pPr>
            <a:r>
              <a:rPr sz="1125" b="1">
                <a:solidFill>
                  <a:srgbClr val="7DD6DD"/>
                </a:solidFill>
                <a:latin typeface="Nimbus Sans"/>
                <a:ea typeface="Nimbus Sans"/>
                <a:cs typeface="Nimbus Sans"/>
              </a:rPr>
              <a:t>WORKING FOUNDATION</a:t>
            </a:r>
          </a:p>
        </p:txBody>
      </p:sp>
      <p:sp>
        <p:nvSpPr>
          <p:cNvPr id="11" name="box">
            <a:extLst>
              <a:ext uri="{FF2B5EF4-FFF2-40B4-BE49-F238E27FC236}">
                <a16:creationId xmlns:a16="http://schemas.microsoft.com/office/drawing/2014/main" id="{AAC6AE53-9BC9-4A7C-B7F8-9A624C850CA9}"/>
              </a:ext>
            </a:extLst>
          </p:cNvPr>
          <p:cNvSpPr>
            <a:spLocks noGrp="1"/>
          </p:cNvSpPr>
          <p:nvPr/>
        </p:nvSpPr>
        <p:spPr>
          <a:xfrm>
            <a:off x="4391025" y="2228850"/>
            <a:ext cx="3409950" cy="1685925"/>
          </a:xfrm>
          <a:prstGeom prst="roundRect">
            <a:avLst>
              <a:gd name="adj" fmla="val 4520"/>
            </a:avLst>
          </a:prstGeom>
          <a:solidFill>
            <a:srgbClr val="173F4B"/>
          </a:solidFill>
          <a:ln w="15240">
            <a:solidFill>
              <a:srgbClr val="7DD6DD"/>
            </a:solidFill>
          </a:ln>
        </p:spPr>
      </p:sp>
      <p:sp>
        <p:nvSpPr>
          <p:cNvPr id="12" name="text">
            <a:extLst>
              <a:ext uri="{FF2B5EF4-FFF2-40B4-BE49-F238E27FC236}">
                <a16:creationId xmlns:a16="http://schemas.microsoft.com/office/drawing/2014/main" id="{1D3F6165-8564-46BF-8830-57ADF099E037}"/>
              </a:ext>
            </a:extLst>
          </p:cNvPr>
          <p:cNvSpPr>
            <a:spLocks noGrp="1"/>
          </p:cNvSpPr>
          <p:nvPr/>
        </p:nvSpPr>
        <p:spPr>
          <a:xfrm>
            <a:off x="4543425" y="2371725"/>
            <a:ext cx="323850" cy="371475"/>
          </a:xfrm>
          <a:prstGeom prst="rect">
            <a:avLst/>
          </a:prstGeom>
          <a:noFill/>
          <a:ln w="0">
            <a:noFill/>
          </a:ln>
        </p:spPr>
        <p:txBody>
          <a:bodyPr lIns="0" tIns="0" rIns="0" bIns="0" anchor="ctr">
            <a:noAutofit/>
          </a:bodyPr>
          <a:lstStyle/>
          <a:p>
            <a:pPr algn="l">
              <a:defRPr sz="2100" b="1">
                <a:solidFill>
                  <a:srgbClr val="7DD6DD"/>
                </a:solidFill>
                <a:latin typeface="Nimbus Sans"/>
                <a:ea typeface="Nimbus Sans"/>
                <a:cs typeface="Nimbus Sans"/>
              </a:defRPr>
            </a:pPr>
            <a:r>
              <a:rPr sz="2100" b="1">
                <a:solidFill>
                  <a:srgbClr val="7DD6DD"/>
                </a:solidFill>
                <a:latin typeface="Nimbus Sans"/>
                <a:ea typeface="Nimbus Sans"/>
                <a:cs typeface="Nimbus Sans"/>
              </a:rPr>
              <a:t>2</a:t>
            </a:r>
          </a:p>
        </p:txBody>
      </p:sp>
      <p:sp>
        <p:nvSpPr>
          <p:cNvPr id="13" name="text">
            <a:extLst>
              <a:ext uri="{FF2B5EF4-FFF2-40B4-BE49-F238E27FC236}">
                <a16:creationId xmlns:a16="http://schemas.microsoft.com/office/drawing/2014/main" id="{48CDF9A8-DD30-4ACB-BB76-F2276F7D48F7}"/>
              </a:ext>
            </a:extLst>
          </p:cNvPr>
          <p:cNvSpPr>
            <a:spLocks noGrp="1"/>
          </p:cNvSpPr>
          <p:nvPr/>
        </p:nvSpPr>
        <p:spPr>
          <a:xfrm>
            <a:off x="4981575" y="2371725"/>
            <a:ext cx="2657475" cy="381000"/>
          </a:xfrm>
          <a:prstGeom prst="rect">
            <a:avLst/>
          </a:prstGeom>
          <a:noFill/>
          <a:ln w="0">
            <a:noFill/>
          </a:ln>
        </p:spPr>
        <p:txBody>
          <a:bodyPr lIns="0" tIns="0" rIns="0" bIns="0" anchor="ctr">
            <a:noAutofit/>
          </a:bodyPr>
          <a:lstStyle/>
          <a:p>
            <a:pPr algn="l">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Register version</a:t>
            </a:r>
          </a:p>
        </p:txBody>
      </p:sp>
      <p:sp>
        <p:nvSpPr>
          <p:cNvPr id="14" name="text">
            <a:extLst>
              <a:ext uri="{FF2B5EF4-FFF2-40B4-BE49-F238E27FC236}">
                <a16:creationId xmlns:a16="http://schemas.microsoft.com/office/drawing/2014/main" id="{79003F2E-3222-4BE3-97FA-77936C86A723}"/>
              </a:ext>
            </a:extLst>
          </p:cNvPr>
          <p:cNvSpPr>
            <a:spLocks noGrp="1"/>
          </p:cNvSpPr>
          <p:nvPr/>
        </p:nvSpPr>
        <p:spPr>
          <a:xfrm>
            <a:off x="4562475" y="2857500"/>
            <a:ext cx="3067050" cy="571500"/>
          </a:xfrm>
          <a:prstGeom prst="rect">
            <a:avLst/>
          </a:prstGeom>
          <a:noFill/>
          <a:ln w="0">
            <a:noFill/>
          </a:ln>
        </p:spPr>
        <p:txBody>
          <a:bodyPr lIns="0" tIns="0" rIns="0" bIns="0" anchor="ctr">
            <a:noAutofit/>
          </a:bodyPr>
          <a:lstStyle/>
          <a:p>
            <a:pPr algn="l">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Capture the agent and version record.</a:t>
            </a:r>
          </a:p>
        </p:txBody>
      </p:sp>
      <p:sp>
        <p:nvSpPr>
          <p:cNvPr id="15" name="text">
            <a:extLst>
              <a:ext uri="{FF2B5EF4-FFF2-40B4-BE49-F238E27FC236}">
                <a16:creationId xmlns:a16="http://schemas.microsoft.com/office/drawing/2014/main" id="{AE6F65F9-0F77-4322-ACC1-94B50E1E4FEC}"/>
              </a:ext>
            </a:extLst>
          </p:cNvPr>
          <p:cNvSpPr>
            <a:spLocks noGrp="1"/>
          </p:cNvSpPr>
          <p:nvPr/>
        </p:nvSpPr>
        <p:spPr>
          <a:xfrm>
            <a:off x="4562475" y="3571875"/>
            <a:ext cx="3067050" cy="228600"/>
          </a:xfrm>
          <a:prstGeom prst="rect">
            <a:avLst/>
          </a:prstGeom>
          <a:noFill/>
          <a:ln w="0">
            <a:noFill/>
          </a:ln>
        </p:spPr>
        <p:txBody>
          <a:bodyPr lIns="0" tIns="0" rIns="0" bIns="0" anchor="ctr">
            <a:noAutofit/>
          </a:bodyPr>
          <a:lstStyle/>
          <a:p>
            <a:pPr algn="l">
              <a:defRPr sz="1125" b="1">
                <a:solidFill>
                  <a:srgbClr val="7DD6DD"/>
                </a:solidFill>
                <a:latin typeface="Nimbus Sans"/>
                <a:ea typeface="Nimbus Sans"/>
                <a:cs typeface="Nimbus Sans"/>
              </a:defRPr>
            </a:pPr>
            <a:r>
              <a:rPr sz="1125" b="1">
                <a:solidFill>
                  <a:srgbClr val="7DD6DD"/>
                </a:solidFill>
                <a:latin typeface="Nimbus Sans"/>
                <a:ea typeface="Nimbus Sans"/>
                <a:cs typeface="Nimbus Sans"/>
              </a:rPr>
              <a:t>FOUNDATION / VERIFY PATH</a:t>
            </a:r>
          </a:p>
        </p:txBody>
      </p:sp>
      <p:sp>
        <p:nvSpPr>
          <p:cNvPr id="16" name="box">
            <a:extLst>
              <a:ext uri="{FF2B5EF4-FFF2-40B4-BE49-F238E27FC236}">
                <a16:creationId xmlns:a16="http://schemas.microsoft.com/office/drawing/2014/main" id="{982AAFED-01E3-4AAC-91B4-FF837A6712BB}"/>
              </a:ext>
            </a:extLst>
          </p:cNvPr>
          <p:cNvSpPr>
            <a:spLocks noGrp="1"/>
          </p:cNvSpPr>
          <p:nvPr/>
        </p:nvSpPr>
        <p:spPr>
          <a:xfrm>
            <a:off x="8172450" y="2228850"/>
            <a:ext cx="3409950" cy="1685925"/>
          </a:xfrm>
          <a:prstGeom prst="roundRect">
            <a:avLst>
              <a:gd name="adj" fmla="val 4520"/>
            </a:avLst>
          </a:prstGeom>
          <a:solidFill>
            <a:srgbClr val="3B3330"/>
          </a:solidFill>
          <a:ln w="15240">
            <a:solidFill>
              <a:srgbClr val="D98979"/>
            </a:solidFill>
          </a:ln>
        </p:spPr>
      </p:sp>
      <p:sp>
        <p:nvSpPr>
          <p:cNvPr id="17" name="text">
            <a:extLst>
              <a:ext uri="{FF2B5EF4-FFF2-40B4-BE49-F238E27FC236}">
                <a16:creationId xmlns:a16="http://schemas.microsoft.com/office/drawing/2014/main" id="{0FB41DAC-8FF0-4AF3-864A-3C9C2E092055}"/>
              </a:ext>
            </a:extLst>
          </p:cNvPr>
          <p:cNvSpPr>
            <a:spLocks noGrp="1"/>
          </p:cNvSpPr>
          <p:nvPr/>
        </p:nvSpPr>
        <p:spPr>
          <a:xfrm>
            <a:off x="8324850" y="2371725"/>
            <a:ext cx="323850" cy="371475"/>
          </a:xfrm>
          <a:prstGeom prst="rect">
            <a:avLst/>
          </a:prstGeom>
          <a:noFill/>
          <a:ln w="0">
            <a:noFill/>
          </a:ln>
        </p:spPr>
        <p:txBody>
          <a:bodyPr lIns="0" tIns="0" rIns="0" bIns="0" anchor="ctr">
            <a:noAutofit/>
          </a:bodyPr>
          <a:lstStyle/>
          <a:p>
            <a:pPr algn="l">
              <a:defRPr sz="2100" b="1">
                <a:solidFill>
                  <a:srgbClr val="7DD6DD"/>
                </a:solidFill>
                <a:latin typeface="Nimbus Sans"/>
                <a:ea typeface="Nimbus Sans"/>
                <a:cs typeface="Nimbus Sans"/>
              </a:defRPr>
            </a:pPr>
            <a:r>
              <a:rPr sz="2100" b="1">
                <a:solidFill>
                  <a:srgbClr val="7DD6DD"/>
                </a:solidFill>
                <a:latin typeface="Nimbus Sans"/>
                <a:ea typeface="Nimbus Sans"/>
                <a:cs typeface="Nimbus Sans"/>
              </a:rPr>
              <a:t>3</a:t>
            </a:r>
          </a:p>
        </p:txBody>
      </p:sp>
      <p:sp>
        <p:nvSpPr>
          <p:cNvPr id="18" name="text">
            <a:extLst>
              <a:ext uri="{FF2B5EF4-FFF2-40B4-BE49-F238E27FC236}">
                <a16:creationId xmlns:a16="http://schemas.microsoft.com/office/drawing/2014/main" id="{65BACCF2-72AD-417B-9882-21DF10E3A5AD}"/>
              </a:ext>
            </a:extLst>
          </p:cNvPr>
          <p:cNvSpPr>
            <a:spLocks noGrp="1"/>
          </p:cNvSpPr>
          <p:nvPr/>
        </p:nvSpPr>
        <p:spPr>
          <a:xfrm>
            <a:off x="8763000" y="2371725"/>
            <a:ext cx="2657475" cy="381000"/>
          </a:xfrm>
          <a:prstGeom prst="rect">
            <a:avLst/>
          </a:prstGeom>
          <a:noFill/>
          <a:ln w="0">
            <a:noFill/>
          </a:ln>
        </p:spPr>
        <p:txBody>
          <a:bodyPr lIns="0" tIns="0" rIns="0" bIns="0" anchor="ctr">
            <a:noAutofit/>
          </a:bodyPr>
          <a:lstStyle/>
          <a:p>
            <a:pPr algn="l">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Validate &amp; evaluate</a:t>
            </a:r>
          </a:p>
        </p:txBody>
      </p:sp>
      <p:sp>
        <p:nvSpPr>
          <p:cNvPr id="19" name="text">
            <a:extLst>
              <a:ext uri="{FF2B5EF4-FFF2-40B4-BE49-F238E27FC236}">
                <a16:creationId xmlns:a16="http://schemas.microsoft.com/office/drawing/2014/main" id="{7CDF9DC3-A979-4BC1-AD39-A600F5AEB048}"/>
              </a:ext>
            </a:extLst>
          </p:cNvPr>
          <p:cNvSpPr>
            <a:spLocks noGrp="1"/>
          </p:cNvSpPr>
          <p:nvPr/>
        </p:nvSpPr>
        <p:spPr>
          <a:xfrm>
            <a:off x="8343900" y="2857500"/>
            <a:ext cx="3067050" cy="571500"/>
          </a:xfrm>
          <a:prstGeom prst="rect">
            <a:avLst/>
          </a:prstGeom>
          <a:noFill/>
          <a:ln w="0">
            <a:noFill/>
          </a:ln>
        </p:spPr>
        <p:txBody>
          <a:bodyPr lIns="0" tIns="0" rIns="0" bIns="0" anchor="ctr">
            <a:noAutofit/>
          </a:bodyPr>
          <a:lstStyle/>
          <a:p>
            <a:pPr algn="l">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Check configuration and assess quality.</a:t>
            </a:r>
          </a:p>
        </p:txBody>
      </p:sp>
      <p:sp>
        <p:nvSpPr>
          <p:cNvPr id="20" name="text">
            <a:extLst>
              <a:ext uri="{FF2B5EF4-FFF2-40B4-BE49-F238E27FC236}">
                <a16:creationId xmlns:a16="http://schemas.microsoft.com/office/drawing/2014/main" id="{18C4A262-1D3A-480B-B878-884A64E7528D}"/>
              </a:ext>
            </a:extLst>
          </p:cNvPr>
          <p:cNvSpPr>
            <a:spLocks noGrp="1"/>
          </p:cNvSpPr>
          <p:nvPr/>
        </p:nvSpPr>
        <p:spPr>
          <a:xfrm>
            <a:off x="8343900" y="3571875"/>
            <a:ext cx="3067050" cy="228600"/>
          </a:xfrm>
          <a:prstGeom prst="rect">
            <a:avLst/>
          </a:prstGeom>
          <a:noFill/>
          <a:ln w="0">
            <a:noFill/>
          </a:ln>
        </p:spPr>
        <p:txBody>
          <a:bodyPr lIns="0" tIns="0" rIns="0" bIns="0" anchor="ctr">
            <a:noAutofit/>
          </a:bodyPr>
          <a:lstStyle/>
          <a:p>
            <a:pPr algn="l">
              <a:defRPr sz="1125" b="1">
                <a:solidFill>
                  <a:srgbClr val="D98979"/>
                </a:solidFill>
                <a:latin typeface="Nimbus Sans"/>
                <a:ea typeface="Nimbus Sans"/>
                <a:cs typeface="Nimbus Sans"/>
              </a:defRPr>
            </a:pPr>
            <a:r>
              <a:rPr sz="1125" b="1">
                <a:solidFill>
                  <a:srgbClr val="D98979"/>
                </a:solidFill>
                <a:latin typeface="Nimbus Sans"/>
                <a:ea typeface="Nimbus Sans"/>
                <a:cs typeface="Nimbus Sans"/>
              </a:rPr>
              <a:t>PLANNED GOVERNED GATE</a:t>
            </a:r>
          </a:p>
        </p:txBody>
      </p:sp>
      <p:sp>
        <p:nvSpPr>
          <p:cNvPr id="21" name="box">
            <a:extLst>
              <a:ext uri="{FF2B5EF4-FFF2-40B4-BE49-F238E27FC236}">
                <a16:creationId xmlns:a16="http://schemas.microsoft.com/office/drawing/2014/main" id="{E9FE9BEA-79F2-4B55-A6A1-7C82DE14A02A}"/>
              </a:ext>
            </a:extLst>
          </p:cNvPr>
          <p:cNvSpPr>
            <a:spLocks noGrp="1"/>
          </p:cNvSpPr>
          <p:nvPr/>
        </p:nvSpPr>
        <p:spPr>
          <a:xfrm>
            <a:off x="8172450" y="4162425"/>
            <a:ext cx="3409950" cy="1685925"/>
          </a:xfrm>
          <a:prstGeom prst="roundRect">
            <a:avLst>
              <a:gd name="adj" fmla="val 4520"/>
            </a:avLst>
          </a:prstGeom>
          <a:solidFill>
            <a:srgbClr val="173F4B"/>
          </a:solidFill>
          <a:ln w="15240">
            <a:solidFill>
              <a:srgbClr val="7DD6DD"/>
            </a:solidFill>
          </a:ln>
        </p:spPr>
      </p:sp>
      <p:sp>
        <p:nvSpPr>
          <p:cNvPr id="22" name="text">
            <a:extLst>
              <a:ext uri="{FF2B5EF4-FFF2-40B4-BE49-F238E27FC236}">
                <a16:creationId xmlns:a16="http://schemas.microsoft.com/office/drawing/2014/main" id="{83E5AFEB-F61A-43EB-BF32-9AD1DF03846A}"/>
              </a:ext>
            </a:extLst>
          </p:cNvPr>
          <p:cNvSpPr>
            <a:spLocks noGrp="1"/>
          </p:cNvSpPr>
          <p:nvPr/>
        </p:nvSpPr>
        <p:spPr>
          <a:xfrm>
            <a:off x="8324850" y="4305300"/>
            <a:ext cx="323850" cy="371475"/>
          </a:xfrm>
          <a:prstGeom prst="rect">
            <a:avLst/>
          </a:prstGeom>
          <a:noFill/>
          <a:ln w="0">
            <a:noFill/>
          </a:ln>
        </p:spPr>
        <p:txBody>
          <a:bodyPr lIns="0" tIns="0" rIns="0" bIns="0" anchor="ctr">
            <a:noAutofit/>
          </a:bodyPr>
          <a:lstStyle/>
          <a:p>
            <a:pPr algn="l">
              <a:defRPr sz="2100" b="1">
                <a:solidFill>
                  <a:srgbClr val="7DD6DD"/>
                </a:solidFill>
                <a:latin typeface="Nimbus Sans"/>
                <a:ea typeface="Nimbus Sans"/>
                <a:cs typeface="Nimbus Sans"/>
              </a:defRPr>
            </a:pPr>
            <a:r>
              <a:rPr sz="2100" b="1">
                <a:solidFill>
                  <a:srgbClr val="7DD6DD"/>
                </a:solidFill>
                <a:latin typeface="Nimbus Sans"/>
                <a:ea typeface="Nimbus Sans"/>
                <a:cs typeface="Nimbus Sans"/>
              </a:rPr>
              <a:t>4</a:t>
            </a:r>
          </a:p>
        </p:txBody>
      </p:sp>
      <p:sp>
        <p:nvSpPr>
          <p:cNvPr id="23" name="text">
            <a:extLst>
              <a:ext uri="{FF2B5EF4-FFF2-40B4-BE49-F238E27FC236}">
                <a16:creationId xmlns:a16="http://schemas.microsoft.com/office/drawing/2014/main" id="{05ABEB41-8277-46C0-8D50-6636B19BCDCE}"/>
              </a:ext>
            </a:extLst>
          </p:cNvPr>
          <p:cNvSpPr>
            <a:spLocks noGrp="1"/>
          </p:cNvSpPr>
          <p:nvPr/>
        </p:nvSpPr>
        <p:spPr>
          <a:xfrm>
            <a:off x="8763000" y="4305300"/>
            <a:ext cx="2657475" cy="381000"/>
          </a:xfrm>
          <a:prstGeom prst="rect">
            <a:avLst/>
          </a:prstGeom>
          <a:noFill/>
          <a:ln w="0">
            <a:noFill/>
          </a:ln>
        </p:spPr>
        <p:txBody>
          <a:bodyPr lIns="0" tIns="0" rIns="0" bIns="0" anchor="ctr">
            <a:noAutofit/>
          </a:bodyPr>
          <a:lstStyle/>
          <a:p>
            <a:pPr algn="l">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Review &amp; approve</a:t>
            </a:r>
          </a:p>
        </p:txBody>
      </p:sp>
      <p:sp>
        <p:nvSpPr>
          <p:cNvPr id="24" name="text">
            <a:extLst>
              <a:ext uri="{FF2B5EF4-FFF2-40B4-BE49-F238E27FC236}">
                <a16:creationId xmlns:a16="http://schemas.microsoft.com/office/drawing/2014/main" id="{5E3EAF7F-0671-4512-9A58-6CA7A4E6EBD5}"/>
              </a:ext>
            </a:extLst>
          </p:cNvPr>
          <p:cNvSpPr>
            <a:spLocks noGrp="1"/>
          </p:cNvSpPr>
          <p:nvPr/>
        </p:nvSpPr>
        <p:spPr>
          <a:xfrm>
            <a:off x="8343900" y="4791075"/>
            <a:ext cx="3067050" cy="571500"/>
          </a:xfrm>
          <a:prstGeom prst="rect">
            <a:avLst/>
          </a:prstGeom>
          <a:noFill/>
          <a:ln w="0">
            <a:noFill/>
          </a:ln>
        </p:spPr>
        <p:txBody>
          <a:bodyPr lIns="0" tIns="0" rIns="0" bIns="0" anchor="ctr">
            <a:noAutofit/>
          </a:bodyPr>
          <a:lstStyle/>
          <a:p>
            <a:pPr algn="l">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Business and platform review.</a:t>
            </a:r>
          </a:p>
        </p:txBody>
      </p:sp>
      <p:sp>
        <p:nvSpPr>
          <p:cNvPr id="25" name="text">
            <a:extLst>
              <a:ext uri="{FF2B5EF4-FFF2-40B4-BE49-F238E27FC236}">
                <a16:creationId xmlns:a16="http://schemas.microsoft.com/office/drawing/2014/main" id="{63AD7A4B-6A97-45EE-885A-58C942EEE59A}"/>
              </a:ext>
            </a:extLst>
          </p:cNvPr>
          <p:cNvSpPr>
            <a:spLocks noGrp="1"/>
          </p:cNvSpPr>
          <p:nvPr/>
        </p:nvSpPr>
        <p:spPr>
          <a:xfrm>
            <a:off x="8343900" y="5505450"/>
            <a:ext cx="3067050" cy="228600"/>
          </a:xfrm>
          <a:prstGeom prst="rect">
            <a:avLst/>
          </a:prstGeom>
          <a:noFill/>
          <a:ln w="0">
            <a:noFill/>
          </a:ln>
        </p:spPr>
        <p:txBody>
          <a:bodyPr lIns="0" tIns="0" rIns="0" bIns="0" anchor="ctr">
            <a:noAutofit/>
          </a:bodyPr>
          <a:lstStyle/>
          <a:p>
            <a:pPr algn="l">
              <a:defRPr sz="1125" b="1">
                <a:solidFill>
                  <a:srgbClr val="7DD6DD"/>
                </a:solidFill>
                <a:latin typeface="Nimbus Sans"/>
                <a:ea typeface="Nimbus Sans"/>
                <a:cs typeface="Nimbus Sans"/>
              </a:defRPr>
            </a:pPr>
            <a:r>
              <a:rPr sz="1125" b="1">
                <a:solidFill>
                  <a:srgbClr val="7DD6DD"/>
                </a:solidFill>
                <a:latin typeface="Nimbus Sans"/>
                <a:ea typeface="Nimbus Sans"/>
                <a:cs typeface="Nimbus Sans"/>
              </a:rPr>
              <a:t>WORKFLOW EXISTS; HARDEN</a:t>
            </a:r>
          </a:p>
        </p:txBody>
      </p:sp>
      <p:sp>
        <p:nvSpPr>
          <p:cNvPr id="26" name="box">
            <a:extLst>
              <a:ext uri="{FF2B5EF4-FFF2-40B4-BE49-F238E27FC236}">
                <a16:creationId xmlns:a16="http://schemas.microsoft.com/office/drawing/2014/main" id="{851D49F3-3E11-4625-9407-ACA25BC00E3F}"/>
              </a:ext>
            </a:extLst>
          </p:cNvPr>
          <p:cNvSpPr>
            <a:spLocks noGrp="1"/>
          </p:cNvSpPr>
          <p:nvPr/>
        </p:nvSpPr>
        <p:spPr>
          <a:xfrm>
            <a:off x="4391025" y="4162425"/>
            <a:ext cx="3409950" cy="1685925"/>
          </a:xfrm>
          <a:prstGeom prst="roundRect">
            <a:avLst>
              <a:gd name="adj" fmla="val 4520"/>
            </a:avLst>
          </a:prstGeom>
          <a:solidFill>
            <a:srgbClr val="173F4B"/>
          </a:solidFill>
          <a:ln w="15240">
            <a:solidFill>
              <a:srgbClr val="7DD6DD"/>
            </a:solidFill>
          </a:ln>
        </p:spPr>
      </p:sp>
      <p:sp>
        <p:nvSpPr>
          <p:cNvPr id="27" name="text">
            <a:extLst>
              <a:ext uri="{FF2B5EF4-FFF2-40B4-BE49-F238E27FC236}">
                <a16:creationId xmlns:a16="http://schemas.microsoft.com/office/drawing/2014/main" id="{A3B75961-85AB-4277-80D8-8DD90F65D0FB}"/>
              </a:ext>
            </a:extLst>
          </p:cNvPr>
          <p:cNvSpPr>
            <a:spLocks noGrp="1"/>
          </p:cNvSpPr>
          <p:nvPr/>
        </p:nvSpPr>
        <p:spPr>
          <a:xfrm>
            <a:off x="4543425" y="4305300"/>
            <a:ext cx="323850" cy="371475"/>
          </a:xfrm>
          <a:prstGeom prst="rect">
            <a:avLst/>
          </a:prstGeom>
          <a:noFill/>
          <a:ln w="0">
            <a:noFill/>
          </a:ln>
        </p:spPr>
        <p:txBody>
          <a:bodyPr lIns="0" tIns="0" rIns="0" bIns="0" anchor="ctr">
            <a:noAutofit/>
          </a:bodyPr>
          <a:lstStyle/>
          <a:p>
            <a:pPr algn="l">
              <a:defRPr sz="2100" b="1">
                <a:solidFill>
                  <a:srgbClr val="7DD6DD"/>
                </a:solidFill>
                <a:latin typeface="Nimbus Sans"/>
                <a:ea typeface="Nimbus Sans"/>
                <a:cs typeface="Nimbus Sans"/>
              </a:defRPr>
            </a:pPr>
            <a:r>
              <a:rPr sz="2100" b="1">
                <a:solidFill>
                  <a:srgbClr val="7DD6DD"/>
                </a:solidFill>
                <a:latin typeface="Nimbus Sans"/>
                <a:ea typeface="Nimbus Sans"/>
                <a:cs typeface="Nimbus Sans"/>
              </a:rPr>
              <a:t>5</a:t>
            </a:r>
          </a:p>
        </p:txBody>
      </p:sp>
      <p:sp>
        <p:nvSpPr>
          <p:cNvPr id="28" name="text">
            <a:extLst>
              <a:ext uri="{FF2B5EF4-FFF2-40B4-BE49-F238E27FC236}">
                <a16:creationId xmlns:a16="http://schemas.microsoft.com/office/drawing/2014/main" id="{AE773110-AE26-4755-AF3A-591592EF2EB3}"/>
              </a:ext>
            </a:extLst>
          </p:cNvPr>
          <p:cNvSpPr>
            <a:spLocks noGrp="1"/>
          </p:cNvSpPr>
          <p:nvPr/>
        </p:nvSpPr>
        <p:spPr>
          <a:xfrm>
            <a:off x="4981575" y="4305300"/>
            <a:ext cx="2657475" cy="381000"/>
          </a:xfrm>
          <a:prstGeom prst="rect">
            <a:avLst/>
          </a:prstGeom>
          <a:noFill/>
          <a:ln w="0">
            <a:noFill/>
          </a:ln>
        </p:spPr>
        <p:txBody>
          <a:bodyPr lIns="0" tIns="0" rIns="0" bIns="0" anchor="ctr">
            <a:noAutofit/>
          </a:bodyPr>
          <a:lstStyle/>
          <a:p>
            <a:pPr algn="l">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Deploy</a:t>
            </a:r>
          </a:p>
        </p:txBody>
      </p:sp>
      <p:sp>
        <p:nvSpPr>
          <p:cNvPr id="29" name="text">
            <a:extLst>
              <a:ext uri="{FF2B5EF4-FFF2-40B4-BE49-F238E27FC236}">
                <a16:creationId xmlns:a16="http://schemas.microsoft.com/office/drawing/2014/main" id="{790CD6E3-F02E-4F2E-AC70-C4357AB38D7E}"/>
              </a:ext>
            </a:extLst>
          </p:cNvPr>
          <p:cNvSpPr>
            <a:spLocks noGrp="1"/>
          </p:cNvSpPr>
          <p:nvPr/>
        </p:nvSpPr>
        <p:spPr>
          <a:xfrm>
            <a:off x="4562475" y="4791075"/>
            <a:ext cx="3067050" cy="571500"/>
          </a:xfrm>
          <a:prstGeom prst="rect">
            <a:avLst/>
          </a:prstGeom>
          <a:noFill/>
          <a:ln w="0">
            <a:noFill/>
          </a:ln>
        </p:spPr>
        <p:txBody>
          <a:bodyPr lIns="0" tIns="0" rIns="0" bIns="0" anchor="ctr">
            <a:noAutofit/>
          </a:bodyPr>
          <a:lstStyle/>
          <a:p>
            <a:pPr algn="l">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Deploy to dev and follow live logs.</a:t>
            </a:r>
          </a:p>
        </p:txBody>
      </p:sp>
      <p:sp>
        <p:nvSpPr>
          <p:cNvPr id="30" name="text">
            <a:extLst>
              <a:ext uri="{FF2B5EF4-FFF2-40B4-BE49-F238E27FC236}">
                <a16:creationId xmlns:a16="http://schemas.microsoft.com/office/drawing/2014/main" id="{8072F6C4-C4F9-4916-8C48-A83F712FBC4F}"/>
              </a:ext>
            </a:extLst>
          </p:cNvPr>
          <p:cNvSpPr>
            <a:spLocks noGrp="1"/>
          </p:cNvSpPr>
          <p:nvPr/>
        </p:nvSpPr>
        <p:spPr>
          <a:xfrm>
            <a:off x="4562475" y="5505450"/>
            <a:ext cx="3067050" cy="228600"/>
          </a:xfrm>
          <a:prstGeom prst="rect">
            <a:avLst/>
          </a:prstGeom>
          <a:noFill/>
          <a:ln w="0">
            <a:noFill/>
          </a:ln>
        </p:spPr>
        <p:txBody>
          <a:bodyPr lIns="0" tIns="0" rIns="0" bIns="0" anchor="ctr">
            <a:noAutofit/>
          </a:bodyPr>
          <a:lstStyle/>
          <a:p>
            <a:pPr algn="l">
              <a:defRPr sz="1125" b="1">
                <a:solidFill>
                  <a:srgbClr val="7DD6DD"/>
                </a:solidFill>
                <a:latin typeface="Nimbus Sans"/>
                <a:ea typeface="Nimbus Sans"/>
                <a:cs typeface="Nimbus Sans"/>
              </a:defRPr>
            </a:pPr>
            <a:r>
              <a:rPr sz="1125" b="1">
                <a:solidFill>
                  <a:srgbClr val="7DD6DD"/>
                </a:solidFill>
                <a:latin typeface="Nimbus Sans"/>
                <a:ea typeface="Nimbus Sans"/>
                <a:cs typeface="Nimbus Sans"/>
              </a:rPr>
              <a:t>DEV WORKING; PROD NEXT</a:t>
            </a:r>
          </a:p>
        </p:txBody>
      </p:sp>
      <p:sp>
        <p:nvSpPr>
          <p:cNvPr id="31" name="box">
            <a:extLst>
              <a:ext uri="{FF2B5EF4-FFF2-40B4-BE49-F238E27FC236}">
                <a16:creationId xmlns:a16="http://schemas.microsoft.com/office/drawing/2014/main" id="{00E73AAC-6C30-40A7-90E6-5E102594288B}"/>
              </a:ext>
            </a:extLst>
          </p:cNvPr>
          <p:cNvSpPr>
            <a:spLocks noGrp="1"/>
          </p:cNvSpPr>
          <p:nvPr/>
        </p:nvSpPr>
        <p:spPr>
          <a:xfrm>
            <a:off x="609600" y="4162425"/>
            <a:ext cx="3409950" cy="1685925"/>
          </a:xfrm>
          <a:prstGeom prst="roundRect">
            <a:avLst>
              <a:gd name="adj" fmla="val 4520"/>
            </a:avLst>
          </a:prstGeom>
          <a:solidFill>
            <a:srgbClr val="173F4B"/>
          </a:solidFill>
          <a:ln w="15240">
            <a:solidFill>
              <a:srgbClr val="7DD6DD"/>
            </a:solidFill>
          </a:ln>
        </p:spPr>
      </p:sp>
      <p:sp>
        <p:nvSpPr>
          <p:cNvPr id="32" name="text">
            <a:extLst>
              <a:ext uri="{FF2B5EF4-FFF2-40B4-BE49-F238E27FC236}">
                <a16:creationId xmlns:a16="http://schemas.microsoft.com/office/drawing/2014/main" id="{56FC1C71-E425-4526-8F5A-2AF157327AB7}"/>
              </a:ext>
            </a:extLst>
          </p:cNvPr>
          <p:cNvSpPr>
            <a:spLocks noGrp="1"/>
          </p:cNvSpPr>
          <p:nvPr/>
        </p:nvSpPr>
        <p:spPr>
          <a:xfrm>
            <a:off x="762000" y="4305300"/>
            <a:ext cx="323850" cy="371475"/>
          </a:xfrm>
          <a:prstGeom prst="rect">
            <a:avLst/>
          </a:prstGeom>
          <a:noFill/>
          <a:ln w="0">
            <a:noFill/>
          </a:ln>
        </p:spPr>
        <p:txBody>
          <a:bodyPr lIns="0" tIns="0" rIns="0" bIns="0" anchor="ctr">
            <a:noAutofit/>
          </a:bodyPr>
          <a:lstStyle/>
          <a:p>
            <a:pPr algn="l">
              <a:defRPr sz="2100" b="1">
                <a:solidFill>
                  <a:srgbClr val="7DD6DD"/>
                </a:solidFill>
                <a:latin typeface="Nimbus Sans"/>
                <a:ea typeface="Nimbus Sans"/>
                <a:cs typeface="Nimbus Sans"/>
              </a:defRPr>
            </a:pPr>
            <a:r>
              <a:rPr sz="2100" b="1">
                <a:solidFill>
                  <a:srgbClr val="7DD6DD"/>
                </a:solidFill>
                <a:latin typeface="Nimbus Sans"/>
                <a:ea typeface="Nimbus Sans"/>
                <a:cs typeface="Nimbus Sans"/>
              </a:rPr>
              <a:t>6</a:t>
            </a:r>
          </a:p>
        </p:txBody>
      </p:sp>
      <p:sp>
        <p:nvSpPr>
          <p:cNvPr id="33" name="text">
            <a:extLst>
              <a:ext uri="{FF2B5EF4-FFF2-40B4-BE49-F238E27FC236}">
                <a16:creationId xmlns:a16="http://schemas.microsoft.com/office/drawing/2014/main" id="{C8AD66EE-8021-4691-8AF5-C9786E9DFD9D}"/>
              </a:ext>
            </a:extLst>
          </p:cNvPr>
          <p:cNvSpPr>
            <a:spLocks noGrp="1"/>
          </p:cNvSpPr>
          <p:nvPr/>
        </p:nvSpPr>
        <p:spPr>
          <a:xfrm>
            <a:off x="1200150" y="4305300"/>
            <a:ext cx="2657475" cy="381000"/>
          </a:xfrm>
          <a:prstGeom prst="rect">
            <a:avLst/>
          </a:prstGeom>
          <a:noFill/>
          <a:ln w="0">
            <a:noFill/>
          </a:ln>
        </p:spPr>
        <p:txBody>
          <a:bodyPr lIns="0" tIns="0" rIns="0" bIns="0" anchor="ctr">
            <a:noAutofit/>
          </a:bodyPr>
          <a:lstStyle/>
          <a:p>
            <a:pPr algn="l">
              <a:defRPr sz="2025" b="1">
                <a:solidFill>
                  <a:srgbClr val="FFFFFF"/>
                </a:solidFill>
                <a:latin typeface="Nimbus Sans"/>
                <a:ea typeface="Nimbus Sans"/>
                <a:cs typeface="Nimbus Sans"/>
              </a:defRPr>
            </a:pPr>
            <a:r>
              <a:rPr sz="2025" b="1">
                <a:solidFill>
                  <a:srgbClr val="FFFFFF"/>
                </a:solidFill>
                <a:latin typeface="Nimbus Sans"/>
                <a:ea typeface="Nimbus Sans"/>
                <a:cs typeface="Nimbus Sans"/>
              </a:rPr>
              <a:t>Test &amp; inspect</a:t>
            </a:r>
          </a:p>
        </p:txBody>
      </p:sp>
      <p:sp>
        <p:nvSpPr>
          <p:cNvPr id="34" name="text">
            <a:extLst>
              <a:ext uri="{FF2B5EF4-FFF2-40B4-BE49-F238E27FC236}">
                <a16:creationId xmlns:a16="http://schemas.microsoft.com/office/drawing/2014/main" id="{6710D2AD-7DBD-4020-B348-566031A4A69B}"/>
              </a:ext>
            </a:extLst>
          </p:cNvPr>
          <p:cNvSpPr>
            <a:spLocks noGrp="1"/>
          </p:cNvSpPr>
          <p:nvPr/>
        </p:nvSpPr>
        <p:spPr>
          <a:xfrm>
            <a:off x="781050" y="4791075"/>
            <a:ext cx="3067050" cy="571500"/>
          </a:xfrm>
          <a:prstGeom prst="rect">
            <a:avLst/>
          </a:prstGeom>
          <a:noFill/>
          <a:ln w="0">
            <a:noFill/>
          </a:ln>
        </p:spPr>
        <p:txBody>
          <a:bodyPr lIns="0" tIns="0" rIns="0" bIns="0" anchor="ctr">
            <a:noAutofit/>
          </a:bodyPr>
          <a:lstStyle/>
          <a:p>
            <a:pPr algn="l">
              <a:defRPr sz="1725" b="0">
                <a:solidFill>
                  <a:srgbClr val="FFFFFF"/>
                </a:solidFill>
                <a:latin typeface="Nimbus Sans"/>
                <a:ea typeface="Nimbus Sans"/>
                <a:cs typeface="Nimbus Sans"/>
              </a:defRPr>
            </a:pPr>
            <a:r>
              <a:rPr sz="1725" b="0">
                <a:solidFill>
                  <a:srgbClr val="FFFFFF"/>
                </a:solidFill>
                <a:latin typeface="Nimbus Sans"/>
                <a:ea typeface="Nimbus Sans"/>
                <a:cs typeface="Nimbus Sans"/>
              </a:rPr>
              <a:t>Invoke the agent and review run history.</a:t>
            </a:r>
          </a:p>
        </p:txBody>
      </p:sp>
      <p:sp>
        <p:nvSpPr>
          <p:cNvPr id="35" name="text">
            <a:extLst>
              <a:ext uri="{FF2B5EF4-FFF2-40B4-BE49-F238E27FC236}">
                <a16:creationId xmlns:a16="http://schemas.microsoft.com/office/drawing/2014/main" id="{3C3EC720-94BF-4A33-8AE2-D3C3A26FD340}"/>
              </a:ext>
            </a:extLst>
          </p:cNvPr>
          <p:cNvSpPr>
            <a:spLocks noGrp="1"/>
          </p:cNvSpPr>
          <p:nvPr/>
        </p:nvSpPr>
        <p:spPr>
          <a:xfrm>
            <a:off x="781050" y="5505450"/>
            <a:ext cx="3067050" cy="228600"/>
          </a:xfrm>
          <a:prstGeom prst="rect">
            <a:avLst/>
          </a:prstGeom>
          <a:noFill/>
          <a:ln w="0">
            <a:noFill/>
          </a:ln>
        </p:spPr>
        <p:txBody>
          <a:bodyPr lIns="0" tIns="0" rIns="0" bIns="0" anchor="ctr">
            <a:noAutofit/>
          </a:bodyPr>
          <a:lstStyle/>
          <a:p>
            <a:pPr algn="l">
              <a:defRPr sz="1125" b="1">
                <a:solidFill>
                  <a:srgbClr val="7DD6DD"/>
                </a:solidFill>
                <a:latin typeface="Nimbus Sans"/>
                <a:ea typeface="Nimbus Sans"/>
                <a:cs typeface="Nimbus Sans"/>
              </a:defRPr>
            </a:pPr>
            <a:r>
              <a:rPr sz="1125" b="1">
                <a:solidFill>
                  <a:srgbClr val="7DD6DD"/>
                </a:solidFill>
                <a:latin typeface="Nimbus Sans"/>
                <a:ea typeface="Nimbus Sans"/>
                <a:cs typeface="Nimbus Sans"/>
              </a:rPr>
              <a:t>WORKING FOUNDATION</a:t>
            </a:r>
          </a:p>
        </p:txBody>
      </p:sp>
      <p:sp>
        <p:nvSpPr>
          <p:cNvPr id="36" name="glow arrow">
            <a:extLst>
              <a:ext uri="{FF2B5EF4-FFF2-40B4-BE49-F238E27FC236}">
                <a16:creationId xmlns:a16="http://schemas.microsoft.com/office/drawing/2014/main" id="{3F8B274A-4182-4655-BDDC-F82FEED4C7EE}"/>
              </a:ext>
            </a:extLst>
          </p:cNvPr>
          <p:cNvSpPr>
            <a:spLocks noGrp="1"/>
          </p:cNvSpPr>
          <p:nvPr/>
        </p:nvSpPr>
        <p:spPr>
          <a:xfrm>
            <a:off x="4114800" y="2886075"/>
            <a:ext cx="209550" cy="228600"/>
          </a:xfrm>
          <a:prstGeom prst="rightArrow">
            <a:avLst/>
          </a:prstGeom>
          <a:solidFill>
            <a:srgbClr val="34B7C2"/>
          </a:solidFill>
          <a:ln w="19050">
            <a:solidFill>
              <a:srgbClr val="7DD6DD"/>
            </a:solidFill>
          </a:ln>
        </p:spPr>
      </p:sp>
      <p:sp>
        <p:nvSpPr>
          <p:cNvPr id="37" name="glow arrow">
            <a:extLst>
              <a:ext uri="{FF2B5EF4-FFF2-40B4-BE49-F238E27FC236}">
                <a16:creationId xmlns:a16="http://schemas.microsoft.com/office/drawing/2014/main" id="{65D310C6-4FFA-4F5E-BA5F-F49EAC2AD60B}"/>
              </a:ext>
            </a:extLst>
          </p:cNvPr>
          <p:cNvSpPr>
            <a:spLocks noGrp="1"/>
          </p:cNvSpPr>
          <p:nvPr/>
        </p:nvSpPr>
        <p:spPr>
          <a:xfrm>
            <a:off x="7896225" y="2886075"/>
            <a:ext cx="209550" cy="228600"/>
          </a:xfrm>
          <a:prstGeom prst="rightArrow">
            <a:avLst/>
          </a:prstGeom>
          <a:solidFill>
            <a:srgbClr val="34B7C2"/>
          </a:solidFill>
          <a:ln w="19050">
            <a:solidFill>
              <a:srgbClr val="7DD6DD"/>
            </a:solidFill>
          </a:ln>
        </p:spPr>
      </p:sp>
      <p:sp>
        <p:nvSpPr>
          <p:cNvPr id="38" name="glow arrow">
            <a:extLst>
              <a:ext uri="{FF2B5EF4-FFF2-40B4-BE49-F238E27FC236}">
                <a16:creationId xmlns:a16="http://schemas.microsoft.com/office/drawing/2014/main" id="{F49CFF4C-21E8-4CB6-8ED3-D2EDC9C8B63B}"/>
              </a:ext>
            </a:extLst>
          </p:cNvPr>
          <p:cNvSpPr>
            <a:spLocks noGrp="1"/>
          </p:cNvSpPr>
          <p:nvPr/>
        </p:nvSpPr>
        <p:spPr>
          <a:xfrm>
            <a:off x="9772650" y="3943350"/>
            <a:ext cx="247650" cy="190500"/>
          </a:xfrm>
          <a:prstGeom prst="downArrow">
            <a:avLst/>
          </a:prstGeom>
          <a:solidFill>
            <a:srgbClr val="34B7C2"/>
          </a:solidFill>
          <a:ln w="19050">
            <a:solidFill>
              <a:srgbClr val="7DD6DD"/>
            </a:solidFill>
          </a:ln>
        </p:spPr>
      </p:sp>
      <p:sp>
        <p:nvSpPr>
          <p:cNvPr id="39" name="glow arrow">
            <a:extLst>
              <a:ext uri="{FF2B5EF4-FFF2-40B4-BE49-F238E27FC236}">
                <a16:creationId xmlns:a16="http://schemas.microsoft.com/office/drawing/2014/main" id="{891F9E95-A8E9-4426-8C56-FED7E7042883}"/>
              </a:ext>
            </a:extLst>
          </p:cNvPr>
          <p:cNvSpPr>
            <a:spLocks noGrp="1"/>
          </p:cNvSpPr>
          <p:nvPr/>
        </p:nvSpPr>
        <p:spPr>
          <a:xfrm>
            <a:off x="7896225" y="4848225"/>
            <a:ext cx="209550" cy="228600"/>
          </a:xfrm>
          <a:prstGeom prst="leftArrow">
            <a:avLst/>
          </a:prstGeom>
          <a:solidFill>
            <a:srgbClr val="34B7C2"/>
          </a:solidFill>
          <a:ln w="19050">
            <a:solidFill>
              <a:srgbClr val="7DD6DD"/>
            </a:solidFill>
          </a:ln>
        </p:spPr>
      </p:sp>
      <p:sp>
        <p:nvSpPr>
          <p:cNvPr id="40" name="glow arrow">
            <a:extLst>
              <a:ext uri="{FF2B5EF4-FFF2-40B4-BE49-F238E27FC236}">
                <a16:creationId xmlns:a16="http://schemas.microsoft.com/office/drawing/2014/main" id="{02CBC03C-FC4B-4A98-A9CA-05B70E6CC0EB}"/>
              </a:ext>
            </a:extLst>
          </p:cNvPr>
          <p:cNvSpPr>
            <a:spLocks noGrp="1"/>
          </p:cNvSpPr>
          <p:nvPr/>
        </p:nvSpPr>
        <p:spPr>
          <a:xfrm>
            <a:off x="4114800" y="4848225"/>
            <a:ext cx="209550" cy="228600"/>
          </a:xfrm>
          <a:prstGeom prst="leftArrow">
            <a:avLst/>
          </a:prstGeom>
          <a:solidFill>
            <a:srgbClr val="34B7C2"/>
          </a:solidFill>
          <a:ln w="19050">
            <a:solidFill>
              <a:srgbClr val="7DD6DD"/>
            </a:solidFill>
          </a:ln>
        </p:spPr>
      </p:sp>
      <p:sp>
        <p:nvSpPr>
          <p:cNvPr id="41" name="text">
            <a:extLst>
              <a:ext uri="{FF2B5EF4-FFF2-40B4-BE49-F238E27FC236}">
                <a16:creationId xmlns:a16="http://schemas.microsoft.com/office/drawing/2014/main" id="{872A155D-6417-4D3A-A5A3-2F8DDD65301C}"/>
              </a:ext>
            </a:extLst>
          </p:cNvPr>
          <p:cNvSpPr>
            <a:spLocks noGrp="1"/>
          </p:cNvSpPr>
          <p:nvPr/>
        </p:nvSpPr>
        <p:spPr>
          <a:xfrm>
            <a:off x="609600" y="6105525"/>
            <a:ext cx="10972800" cy="276225"/>
          </a:xfrm>
          <a:prstGeom prst="rect">
            <a:avLst/>
          </a:prstGeom>
          <a:noFill/>
          <a:ln w="0">
            <a:noFill/>
          </a:ln>
        </p:spPr>
        <p:txBody>
          <a:bodyPr lIns="0" tIns="0" rIns="0" bIns="0" anchor="ctr">
            <a:noAutofit/>
          </a:bodyPr>
          <a:lstStyle/>
          <a:p>
            <a:pPr algn="l">
              <a:defRPr sz="1500" b="0">
                <a:solidFill>
                  <a:srgbClr val="7DD6DD"/>
                </a:solidFill>
                <a:latin typeface="Nimbus Sans"/>
                <a:ea typeface="Nimbus Sans"/>
                <a:cs typeface="Nimbus Sans"/>
              </a:defRPr>
            </a:pPr>
            <a:r>
              <a:rPr sz="1500" b="0">
                <a:solidFill>
                  <a:srgbClr val="7DD6DD"/>
                </a:solidFill>
                <a:latin typeface="Nimbus Sans"/>
                <a:ea typeface="Nimbus Sans"/>
                <a:cs typeface="Nimbus Sans"/>
              </a:rPr>
              <a:t>Live-demo target: configure, deploy to development, invoke successfully, and inspect the run.</a:t>
            </a:r>
          </a:p>
        </p:txBody>
      </p:sp>
    </p:spTree>
    <p:extLst>
      <p:ext uri="{BB962C8B-B14F-4D97-AF65-F5344CB8AC3E}">
        <p14:creationId xmlns:p14="http://schemas.microsoft.com/office/powerpoint/2010/main" val="144173876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1156</Words>
  <Application>Microsoft Office PowerPoint</Application>
  <DocSecurity>0</DocSecurity>
  <PresentationFormat>Widescreen</PresentationFormat>
  <Paragraphs>139</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Calibri</vt:lpstr>
      <vt:lpstr>Nimbus Sans</vt:lpstr>
      <vt:lpstr>ChatGPT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srinivasa reddy</cp:lastModifiedBy>
  <cp:revision>2</cp:revision>
  <dcterms:created xsi:type="dcterms:W3CDTF">2026-09-23T12:39:53Z</dcterms:created>
  <dcterms:modified xsi:type="dcterms:W3CDTF">2026-09-23T14:33:47Z</dcterms:modified>
</cp:coreProperties>
</file>